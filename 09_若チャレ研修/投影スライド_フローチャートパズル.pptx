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9" r:id="rId4"/>
    <p:sldId id="260" r:id="rId5"/>
    <p:sldId id="259" r:id="rId6"/>
    <p:sldId id="290" r:id="rId7"/>
    <p:sldId id="261" r:id="rId8"/>
    <p:sldId id="262" r:id="rId9"/>
    <p:sldId id="288" r:id="rId10"/>
    <p:sldId id="291" r:id="rId11"/>
    <p:sldId id="292" r:id="rId12"/>
    <p:sldId id="293" r:id="rId13"/>
    <p:sldId id="294" r:id="rId14"/>
    <p:sldId id="295" r:id="rId15"/>
    <p:sldId id="265" r:id="rId16"/>
    <p:sldId id="266" r:id="rId17"/>
    <p:sldId id="267" r:id="rId18"/>
    <p:sldId id="269" r:id="rId19"/>
    <p:sldId id="268" r:id="rId20"/>
    <p:sldId id="297" r:id="rId21"/>
    <p:sldId id="296" r:id="rId22"/>
    <p:sldId id="315" r:id="rId23"/>
    <p:sldId id="298" r:id="rId24"/>
    <p:sldId id="299" r:id="rId25"/>
    <p:sldId id="300" r:id="rId26"/>
    <p:sldId id="301" r:id="rId27"/>
    <p:sldId id="316" r:id="rId28"/>
    <p:sldId id="302" r:id="rId29"/>
    <p:sldId id="310" r:id="rId30"/>
    <p:sldId id="312" r:id="rId31"/>
    <p:sldId id="311" r:id="rId32"/>
    <p:sldId id="303" r:id="rId33"/>
    <p:sldId id="313" r:id="rId34"/>
    <p:sldId id="304" r:id="rId35"/>
    <p:sldId id="314" r:id="rId36"/>
    <p:sldId id="317" r:id="rId37"/>
    <p:sldId id="306" r:id="rId38"/>
    <p:sldId id="307" r:id="rId39"/>
    <p:sldId id="318" r:id="rId40"/>
    <p:sldId id="308" r:id="rId41"/>
    <p:sldId id="319" r:id="rId42"/>
    <p:sldId id="321" r:id="rId43"/>
    <p:sldId id="320" r:id="rId44"/>
    <p:sldId id="282" r:id="rId45"/>
    <p:sldId id="283" r:id="rId46"/>
    <p:sldId id="284" r:id="rId47"/>
    <p:sldId id="285" r:id="rId48"/>
  </p:sldIdLst>
  <p:sldSz cx="9144000" cy="6858000" type="screen4x3"/>
  <p:notesSz cx="6797675" cy="99266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>
      <p:cViewPr varScale="1">
        <p:scale>
          <a:sx n="110" d="100"/>
          <a:sy n="110" d="100"/>
        </p:scale>
        <p:origin x="-11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2015/11/26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ltGray">
          <a:xfrm>
            <a:off x="330200" y="765175"/>
            <a:ext cx="8516938" cy="532765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7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2052" name="Rectangle 12"/>
          <p:cNvSpPr>
            <a:spLocks noChangeArrowheads="1"/>
          </p:cNvSpPr>
          <p:nvPr/>
        </p:nvSpPr>
        <p:spPr bwMode="auto">
          <a:xfrm>
            <a:off x="900113" y="2187575"/>
            <a:ext cx="7488237" cy="2482850"/>
          </a:xfrm>
          <a:prstGeom prst="rect">
            <a:avLst/>
          </a:prstGeom>
          <a:noFill/>
          <a:ln w="25400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4295" tIns="8890" rIns="74295" bIns="889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pic>
        <p:nvPicPr>
          <p:cNvPr id="205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708275"/>
            <a:ext cx="1655763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正方形/長方形 3"/>
          <p:cNvSpPr/>
          <p:nvPr/>
        </p:nvSpPr>
        <p:spPr>
          <a:xfrm>
            <a:off x="2843808" y="2859613"/>
            <a:ext cx="54726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4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ea typeface="ＭＳ Ｐゴシック" pitchFamily="50" charset="-128"/>
              </a:rPr>
              <a:t>フローチャートパズル</a:t>
            </a:r>
            <a:endParaRPr lang="en-US" altLang="ja-JP" sz="44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ea typeface="ＭＳ Ｐゴシック" pitchFamily="50" charset="-128"/>
            </a:endParaRPr>
          </a:p>
          <a:p>
            <a:pPr>
              <a:defRPr/>
            </a:pPr>
            <a:r>
              <a:rPr lang="ja-JP" altLang="en-US" sz="2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ea typeface="ＭＳ Ｐゴシック" pitchFamily="50" charset="-128"/>
              </a:rPr>
              <a:t>～プログラミングの概念を学ぼう～</a:t>
            </a:r>
          </a:p>
        </p:txBody>
      </p:sp>
    </p:spTree>
    <p:extLst>
      <p:ext uri="{BB962C8B-B14F-4D97-AF65-F5344CB8AC3E}">
        <p14:creationId xmlns:p14="http://schemas.microsoft.com/office/powerpoint/2010/main" val="129806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はじめに</a:t>
            </a:r>
          </a:p>
        </p:txBody>
      </p:sp>
      <p:sp>
        <p:nvSpPr>
          <p:cNvPr id="3078" name="テキスト ボックス 1"/>
          <p:cNvSpPr txBox="1">
            <a:spLocks noChangeArrowheads="1"/>
          </p:cNvSpPr>
          <p:nvPr/>
        </p:nvSpPr>
        <p:spPr bwMode="auto">
          <a:xfrm>
            <a:off x="611188" y="1773238"/>
            <a:ext cx="7921625" cy="354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ja-JP" sz="3400" dirty="0" smtClean="0">
                <a:latin typeface="HGP創英角ｺﾞｼｯｸUB" pitchFamily="50" charset="-128"/>
                <a:ea typeface="HGP創英角ｺﾞｼｯｸUB" pitchFamily="50" charset="-128"/>
              </a:rPr>
              <a:t>これから</a:t>
            </a: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こちらで指定した人と二人一組でペアを組み</a:t>
            </a:r>
            <a:r>
              <a:rPr lang="ja-JP" altLang="ja-JP" sz="3400" dirty="0" smtClean="0">
                <a:latin typeface="HGP創英角ｺﾞｼｯｸUB" pitchFamily="50" charset="-128"/>
                <a:ea typeface="HGP創英角ｺﾞｼｯｸUB" pitchFamily="50" charset="-128"/>
              </a:rPr>
              <a:t>、力</a:t>
            </a:r>
            <a:r>
              <a:rPr lang="ja-JP" altLang="ja-JP" sz="3400" dirty="0">
                <a:latin typeface="HGP創英角ｺﾞｼｯｸUB" pitchFamily="50" charset="-128"/>
                <a:ea typeface="HGP創英角ｺﾞｼｯｸUB" pitchFamily="50" charset="-128"/>
              </a:rPr>
              <a:t>を</a:t>
            </a:r>
            <a:r>
              <a:rPr lang="ja-JP" altLang="ja-JP" sz="3400" dirty="0" smtClean="0">
                <a:latin typeface="HGP創英角ｺﾞｼｯｸUB" pitchFamily="50" charset="-128"/>
                <a:ea typeface="HGP創英角ｺﾞｼｯｸUB" pitchFamily="50" charset="-128"/>
              </a:rPr>
              <a:t>合わせて</a:t>
            </a: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フローチャートパズル</a:t>
            </a:r>
            <a:r>
              <a:rPr lang="ja-JP" altLang="ja-JP" sz="3400" dirty="0" smtClean="0">
                <a:latin typeface="HGP創英角ｺﾞｼｯｸUB" pitchFamily="50" charset="-128"/>
                <a:ea typeface="HGP創英角ｺﾞｼｯｸUB" pitchFamily="50" charset="-128"/>
              </a:rPr>
              <a:t>に</a:t>
            </a:r>
            <a:r>
              <a:rPr lang="ja-JP" altLang="ja-JP" sz="3400" dirty="0">
                <a:latin typeface="HGP創英角ｺﾞｼｯｸUB" pitchFamily="50" charset="-128"/>
                <a:ea typeface="HGP創英角ｺﾞｼｯｸUB" pitchFamily="50" charset="-128"/>
              </a:rPr>
              <a:t>取り組んでいただきます</a:t>
            </a:r>
            <a:r>
              <a:rPr lang="ja-JP" altLang="ja-JP" sz="3400" dirty="0" smtClean="0">
                <a:latin typeface="HGP創英角ｺﾞｼｯｸUB" pitchFamily="50" charset="-128"/>
                <a:ea typeface="HGP創英角ｺﾞｼｯｸUB" pitchFamily="50" charset="-128"/>
              </a:rPr>
              <a:t>。</a:t>
            </a:r>
            <a:endParaRPr lang="en-US" altLang="ja-JP" sz="3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3400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400" dirty="0">
                <a:latin typeface="HGP創英角ｺﾞｼｯｸUB" pitchFamily="50" charset="-128"/>
                <a:ea typeface="HGP創英角ｺﾞｼｯｸUB" pitchFamily="50" charset="-128"/>
              </a:rPr>
              <a:t>課題</a:t>
            </a: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は全部で４題です。</a:t>
            </a:r>
            <a:endParaRPr lang="en-US" altLang="ja-JP" sz="3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ペアの組合わせは、問ごとに変更します。</a:t>
            </a:r>
            <a:endParaRPr lang="en-US" altLang="ja-JP" sz="3400" dirty="0" smtClean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683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3"/>
          <p:cNvSpPr>
            <a:spLocks noChangeArrowheads="1"/>
          </p:cNvSpPr>
          <p:nvPr/>
        </p:nvSpPr>
        <p:spPr bwMode="ltGray">
          <a:xfrm>
            <a:off x="204788" y="233362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はじめに</a:t>
            </a:r>
          </a:p>
        </p:txBody>
      </p:sp>
      <p:sp>
        <p:nvSpPr>
          <p:cNvPr id="3078" name="テキスト ボックス 1"/>
          <p:cNvSpPr txBox="1">
            <a:spLocks noChangeArrowheads="1"/>
          </p:cNvSpPr>
          <p:nvPr/>
        </p:nvSpPr>
        <p:spPr bwMode="auto">
          <a:xfrm>
            <a:off x="611188" y="1773238"/>
            <a:ext cx="7921625" cy="239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開始する前に、隣の席の人と簡単な雑談をしましょう。</a:t>
            </a:r>
            <a:endParaRPr lang="en-US" altLang="ja-JP" sz="3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3400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400" dirty="0" smtClean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学生生活の思い出</a:t>
            </a:r>
            <a:endParaRPr lang="en-US" altLang="ja-JP" sz="3400" dirty="0" smtClean="0">
              <a:solidFill>
                <a:srgbClr val="0070C0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829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１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配布物の確認</a:t>
            </a:r>
          </a:p>
        </p:txBody>
      </p:sp>
      <p:sp>
        <p:nvSpPr>
          <p:cNvPr id="5126" name="テキスト ボックス 1"/>
          <p:cNvSpPr txBox="1">
            <a:spLocks noChangeArrowheads="1"/>
          </p:cNvSpPr>
          <p:nvPr/>
        </p:nvSpPr>
        <p:spPr bwMode="auto">
          <a:xfrm>
            <a:off x="885824" y="1341438"/>
            <a:ext cx="735858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dirty="0" smtClean="0">
                <a:latin typeface="HG創英角ｺﾞｼｯｸUB" pitchFamily="49" charset="-128"/>
                <a:ea typeface="HG創英角ｺﾞｼｯｸUB" pitchFamily="49" charset="-128"/>
              </a:rPr>
              <a:t>●フローチャートパズルのピース</a:t>
            </a:r>
            <a:endParaRPr lang="en-US" altLang="ja-JP" sz="2000" dirty="0" smtClean="0">
              <a:latin typeface="HG創英角ｺﾞｼｯｸUB" pitchFamily="49" charset="-128"/>
              <a:ea typeface="HG創英角ｺﾞｼｯｸUB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dirty="0">
                <a:latin typeface="HG創英角ｺﾞｼｯｸUB" pitchFamily="49" charset="-128"/>
                <a:ea typeface="HG創英角ｺﾞｼｯｸUB" pitchFamily="49" charset="-128"/>
              </a:rPr>
              <a:t>「開始</a:t>
            </a:r>
            <a:r>
              <a:rPr lang="en-US" altLang="ja-JP" sz="2000" dirty="0">
                <a:latin typeface="HG創英角ｺﾞｼｯｸUB" pitchFamily="49" charset="-128"/>
                <a:ea typeface="HG創英角ｺﾞｼｯｸUB" pitchFamily="49" charset="-128"/>
              </a:rPr>
              <a:t>/</a:t>
            </a:r>
            <a:r>
              <a:rPr lang="ja-JP" altLang="en-US" sz="2000" dirty="0">
                <a:latin typeface="HG創英角ｺﾞｼｯｸUB" pitchFamily="49" charset="-128"/>
                <a:ea typeface="HG創英角ｺﾞｼｯｸUB" pitchFamily="49" charset="-128"/>
              </a:rPr>
              <a:t>終了」「数値」「変数」「演算子」「表示文字」「出力命令」「条件分岐」「繰返し」</a:t>
            </a:r>
          </a:p>
        </p:txBody>
      </p:sp>
      <p:sp>
        <p:nvSpPr>
          <p:cNvPr id="5132" name="テキスト ボックス 1"/>
          <p:cNvSpPr txBox="1">
            <a:spLocks noChangeArrowheads="1"/>
          </p:cNvSpPr>
          <p:nvPr/>
        </p:nvSpPr>
        <p:spPr bwMode="auto">
          <a:xfrm>
            <a:off x="885824" y="3789363"/>
            <a:ext cx="383019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dirty="0" smtClean="0">
                <a:latin typeface="HG創英角ｺﾞｼｯｸUB" pitchFamily="49" charset="-128"/>
                <a:ea typeface="HG創英角ｺﾞｼｯｸUB" pitchFamily="49" charset="-128"/>
              </a:rPr>
              <a:t>●正答数、使用枚数メモ</a:t>
            </a:r>
            <a:endParaRPr lang="en-US" altLang="ja-JP" sz="2000" dirty="0" smtClean="0">
              <a:latin typeface="HG創英角ｺﾞｼｯｸUB" pitchFamily="49" charset="-128"/>
              <a:ea typeface="HG創英角ｺﾞｼｯｸUB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dirty="0" smtClean="0">
                <a:latin typeface="HG創英角ｺﾞｼｯｸUB" pitchFamily="49" charset="-128"/>
                <a:ea typeface="HG創英角ｺﾞｼｯｸUB" pitchFamily="49" charset="-128"/>
              </a:rPr>
              <a:t>ひとり一枚</a:t>
            </a:r>
            <a:endParaRPr lang="ja-JP" altLang="en-US" sz="2000" dirty="0">
              <a:latin typeface="HG創英角ｺﾞｼｯｸUB" pitchFamily="49" charset="-128"/>
              <a:ea typeface="HG創英角ｺﾞｼｯｸUB" pitchFamily="49" charset="-128"/>
            </a:endParaRPr>
          </a:p>
        </p:txBody>
      </p:sp>
      <p:sp>
        <p:nvSpPr>
          <p:cNvPr id="6" name="テキスト ボックス 1"/>
          <p:cNvSpPr txBox="1">
            <a:spLocks noChangeArrowheads="1"/>
          </p:cNvSpPr>
          <p:nvPr/>
        </p:nvSpPr>
        <p:spPr bwMode="auto">
          <a:xfrm>
            <a:off x="4711747" y="3789363"/>
            <a:ext cx="383019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dirty="0" smtClean="0">
                <a:latin typeface="HG創英角ｺﾞｼｯｸUB" pitchFamily="49" charset="-128"/>
                <a:ea typeface="HG創英角ｺﾞｼｯｸUB" pitchFamily="49" charset="-128"/>
              </a:rPr>
              <a:t>●サンプル問題</a:t>
            </a:r>
            <a:endParaRPr lang="en-US" altLang="ja-JP" sz="2000" dirty="0" smtClean="0">
              <a:latin typeface="HG創英角ｺﾞｼｯｸUB" pitchFamily="49" charset="-128"/>
              <a:ea typeface="HG創英角ｺﾞｼｯｸUB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dirty="0" smtClean="0">
                <a:latin typeface="HG創英角ｺﾞｼｯｸUB" pitchFamily="49" charset="-128"/>
                <a:ea typeface="HG創英角ｺﾞｼｯｸUB" pitchFamily="49" charset="-128"/>
              </a:rPr>
              <a:t>各テーブル一枚</a:t>
            </a:r>
            <a:endParaRPr lang="ja-JP" altLang="en-US" sz="2000" dirty="0">
              <a:latin typeface="HG創英角ｺﾞｼｯｸUB" pitchFamily="49" charset="-128"/>
              <a:ea typeface="HG創英角ｺﾞｼｯｸUB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004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２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フローチャートとは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102" name="テキスト ボックス 1"/>
          <p:cNvSpPr txBox="1">
            <a:spLocks noChangeArrowheads="1"/>
          </p:cNvSpPr>
          <p:nvPr/>
        </p:nvSpPr>
        <p:spPr bwMode="auto">
          <a:xfrm>
            <a:off x="611188" y="1412875"/>
            <a:ext cx="7921625" cy="239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フローチャートとは</a:t>
            </a:r>
            <a:endParaRPr lang="en-US" altLang="ja-JP" sz="3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3400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処理手順や工程など、一連の流れを図式化したもの。</a:t>
            </a:r>
            <a:endParaRPr lang="ja-JP" altLang="ja-JP" sz="34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403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3"/>
          <p:cNvSpPr>
            <a:spLocks noChangeArrowheads="1"/>
          </p:cNvSpPr>
          <p:nvPr/>
        </p:nvSpPr>
        <p:spPr bwMode="ltGray">
          <a:xfrm>
            <a:off x="189996" y="213979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２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フローチャートとは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102" name="テキスト ボックス 1"/>
          <p:cNvSpPr txBox="1">
            <a:spLocks noChangeArrowheads="1"/>
          </p:cNvSpPr>
          <p:nvPr/>
        </p:nvSpPr>
        <p:spPr bwMode="auto">
          <a:xfrm>
            <a:off x="611188" y="1412875"/>
            <a:ext cx="792162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フローチャートの例）</a:t>
            </a:r>
            <a:endParaRPr lang="ja-JP" altLang="ja-JP" sz="34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  <p:sp>
        <p:nvSpPr>
          <p:cNvPr id="5" name="フローチャート : 抜出し 4"/>
          <p:cNvSpPr/>
          <p:nvPr/>
        </p:nvSpPr>
        <p:spPr>
          <a:xfrm rot="10800000">
            <a:off x="3591037" y="1988840"/>
            <a:ext cx="1296144" cy="536478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 dirty="0"/>
          </a:p>
        </p:txBody>
      </p:sp>
      <p:sp>
        <p:nvSpPr>
          <p:cNvPr id="8" name="テキスト ボックス 779"/>
          <p:cNvSpPr txBox="1"/>
          <p:nvPr/>
        </p:nvSpPr>
        <p:spPr>
          <a:xfrm>
            <a:off x="3807587" y="1997330"/>
            <a:ext cx="864095" cy="38633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SATRT</a:t>
            </a:r>
            <a:endParaRPr kumimoji="1"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フローチャート : 抜出し 8"/>
          <p:cNvSpPr/>
          <p:nvPr/>
        </p:nvSpPr>
        <p:spPr>
          <a:xfrm>
            <a:off x="3591037" y="5909694"/>
            <a:ext cx="1296144" cy="471371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10" name="テキスト ボックス 780"/>
          <p:cNvSpPr txBox="1"/>
          <p:nvPr/>
        </p:nvSpPr>
        <p:spPr>
          <a:xfrm>
            <a:off x="3782347" y="6129037"/>
            <a:ext cx="913524" cy="2127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  <a:endParaRPr kumimoji="1"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フローチャート : 判断 1"/>
          <p:cNvSpPr/>
          <p:nvPr/>
        </p:nvSpPr>
        <p:spPr>
          <a:xfrm>
            <a:off x="2834953" y="2718632"/>
            <a:ext cx="2808312" cy="1030822"/>
          </a:xfrm>
          <a:prstGeom prst="flowChartDecision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ctr"/>
          <a:lstStyle/>
          <a:p>
            <a:pPr algn="ctr"/>
            <a:r>
              <a:rPr lang="ja-JP" altLang="en-US" sz="12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プログラムの基礎は身についてる？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494070" y="4037486"/>
            <a:ext cx="1490078" cy="57606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プログラムの</a:t>
            </a:r>
            <a:endParaRPr kumimoji="1" lang="en-US" altLang="ja-JP" sz="1400" b="1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基礎を学ぶ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3494070" y="4973590"/>
            <a:ext cx="1490078" cy="57606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</a:t>
            </a:r>
            <a:r>
              <a:rPr kumimoji="1"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アプリを</a:t>
            </a:r>
            <a:endParaRPr kumimoji="1" lang="en-US" altLang="ja-JP" sz="1400" b="1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開発する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18" name="直線矢印コネクタ 17"/>
          <p:cNvCxnSpPr>
            <a:stCxn id="5" idx="0"/>
            <a:endCxn id="2" idx="0"/>
          </p:cNvCxnSpPr>
          <p:nvPr/>
        </p:nvCxnSpPr>
        <p:spPr>
          <a:xfrm>
            <a:off x="4239109" y="2525318"/>
            <a:ext cx="0" cy="193314"/>
          </a:xfrm>
          <a:prstGeom prst="straightConnector1">
            <a:avLst/>
          </a:prstGeom>
          <a:ln w="254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stCxn id="2" idx="2"/>
            <a:endCxn id="4" idx="0"/>
          </p:cNvCxnSpPr>
          <p:nvPr/>
        </p:nvCxnSpPr>
        <p:spPr>
          <a:xfrm>
            <a:off x="4239109" y="3749454"/>
            <a:ext cx="0" cy="288032"/>
          </a:xfrm>
          <a:prstGeom prst="straightConnector1">
            <a:avLst/>
          </a:prstGeom>
          <a:ln w="254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>
            <a:endCxn id="14" idx="0"/>
          </p:cNvCxnSpPr>
          <p:nvPr/>
        </p:nvCxnSpPr>
        <p:spPr>
          <a:xfrm>
            <a:off x="4239108" y="4613550"/>
            <a:ext cx="1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>
            <a:stCxn id="14" idx="2"/>
            <a:endCxn id="9" idx="0"/>
          </p:cNvCxnSpPr>
          <p:nvPr/>
        </p:nvCxnSpPr>
        <p:spPr>
          <a:xfrm>
            <a:off x="4239109" y="5549654"/>
            <a:ext cx="0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6" name="カギ線コネクタ 4095"/>
          <p:cNvCxnSpPr>
            <a:stCxn id="2" idx="3"/>
            <a:endCxn id="14" idx="0"/>
          </p:cNvCxnSpPr>
          <p:nvPr/>
        </p:nvCxnSpPr>
        <p:spPr>
          <a:xfrm flipH="1">
            <a:off x="4239109" y="3234043"/>
            <a:ext cx="1404156" cy="1739547"/>
          </a:xfrm>
          <a:prstGeom prst="bentConnector4">
            <a:avLst>
              <a:gd name="adj1" fmla="val -16280"/>
              <a:gd name="adj2" fmla="val 88122"/>
            </a:avLst>
          </a:prstGeom>
          <a:ln w="254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779"/>
          <p:cNvSpPr txBox="1"/>
          <p:nvPr/>
        </p:nvSpPr>
        <p:spPr>
          <a:xfrm>
            <a:off x="5868145" y="3697082"/>
            <a:ext cx="864095" cy="38633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はい</a:t>
            </a:r>
            <a:endParaRPr kumimoji="1" lang="ja-JP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4" name="テキスト ボックス 779"/>
          <p:cNvSpPr txBox="1"/>
          <p:nvPr/>
        </p:nvSpPr>
        <p:spPr>
          <a:xfrm>
            <a:off x="4283969" y="3697082"/>
            <a:ext cx="864095" cy="38633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いいえ</a:t>
            </a:r>
            <a:endParaRPr kumimoji="1" lang="ja-JP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125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3"/>
          <p:cNvSpPr>
            <a:spLocks noChangeArrowheads="1"/>
          </p:cNvSpPr>
          <p:nvPr/>
        </p:nvSpPr>
        <p:spPr bwMode="ltGray">
          <a:xfrm>
            <a:off x="204787" y="233362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147" name="テキスト ボックス 1"/>
          <p:cNvSpPr txBox="1">
            <a:spLocks noChangeArrowheads="1"/>
          </p:cNvSpPr>
          <p:nvPr/>
        </p:nvSpPr>
        <p:spPr bwMode="auto">
          <a:xfrm>
            <a:off x="350042" y="1433424"/>
            <a:ext cx="8423275" cy="344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●まず、こちらからフローチャートで表現してほしい処理の流れを提示します。</a:t>
            </a:r>
            <a:endParaRPr lang="en-US" altLang="ja-JP" sz="3400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endParaRPr lang="en-US" altLang="ja-JP" sz="3400" dirty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●手元に配られたフローチャートパズルのピースを組み立てて、フローチャートを完成させてください。</a:t>
            </a:r>
            <a:endParaRPr lang="en-US" altLang="ja-JP" sz="34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３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ゲームの進め方</a:t>
            </a:r>
            <a:endParaRPr lang="ja-JP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8549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7171" name="テキスト ボックス 1"/>
          <p:cNvSpPr txBox="1">
            <a:spLocks noChangeArrowheads="1"/>
          </p:cNvSpPr>
          <p:nvPr/>
        </p:nvSpPr>
        <p:spPr bwMode="auto">
          <a:xfrm>
            <a:off x="395288" y="1484784"/>
            <a:ext cx="85677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●開始と終了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カードの説明１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7" name="フローチャート : 抜出し 6"/>
          <p:cNvSpPr/>
          <p:nvPr/>
        </p:nvSpPr>
        <p:spPr>
          <a:xfrm>
            <a:off x="3316337" y="2763763"/>
            <a:ext cx="2139950" cy="1457325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9" name="フローチャート : 抜出し 8"/>
          <p:cNvSpPr/>
          <p:nvPr/>
        </p:nvSpPr>
        <p:spPr>
          <a:xfrm rot="10800000">
            <a:off x="744587" y="2754238"/>
            <a:ext cx="2141538" cy="1455737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10" name="テキスト ボックス 776"/>
          <p:cNvSpPr txBox="1"/>
          <p:nvPr/>
        </p:nvSpPr>
        <p:spPr>
          <a:xfrm>
            <a:off x="565200" y="2204963"/>
            <a:ext cx="2432050" cy="4826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開始</a:t>
            </a:r>
          </a:p>
        </p:txBody>
      </p:sp>
      <p:sp>
        <p:nvSpPr>
          <p:cNvPr id="11" name="テキスト ボックス 777"/>
          <p:cNvSpPr txBox="1"/>
          <p:nvPr/>
        </p:nvSpPr>
        <p:spPr>
          <a:xfrm>
            <a:off x="3136950" y="2217663"/>
            <a:ext cx="2432050" cy="4810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終了</a:t>
            </a:r>
          </a:p>
        </p:txBody>
      </p:sp>
      <p:sp>
        <p:nvSpPr>
          <p:cNvPr id="12" name="テキスト ボックス 779"/>
          <p:cNvSpPr txBox="1"/>
          <p:nvPr/>
        </p:nvSpPr>
        <p:spPr>
          <a:xfrm>
            <a:off x="576312" y="2909813"/>
            <a:ext cx="2432050" cy="4810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SATRT</a:t>
            </a:r>
            <a:endParaRPr kumimoji="1" lang="ja-JP" altLang="en-US" sz="2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テキスト ボックス 780"/>
          <p:cNvSpPr txBox="1"/>
          <p:nvPr/>
        </p:nvSpPr>
        <p:spPr>
          <a:xfrm>
            <a:off x="3148062" y="3568625"/>
            <a:ext cx="2432050" cy="4810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  <a:endParaRPr kumimoji="1" lang="ja-JP" altLang="en-US" sz="24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11560" y="2204963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3187911" y="2220015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"/>
          <p:cNvSpPr txBox="1">
            <a:spLocks noChangeArrowheads="1"/>
          </p:cNvSpPr>
          <p:nvPr/>
        </p:nvSpPr>
        <p:spPr bwMode="auto">
          <a:xfrm>
            <a:off x="204788" y="4653136"/>
            <a:ext cx="8831708" cy="166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処理の開始と終了を表します。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>
                <a:latin typeface="HGS創英角ｺﾞｼｯｸUB" pitchFamily="50" charset="-128"/>
                <a:ea typeface="HGS創英角ｺﾞｼｯｸUB" pitchFamily="50" charset="-128"/>
              </a:rPr>
              <a:t>すべて</a:t>
            </a: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のフローチャートは、必ず「開始」から始まり「終了」で終わります。</a:t>
            </a:r>
            <a:endParaRPr lang="ja-JP" altLang="ja-JP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3780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3"/>
          <p:cNvSpPr>
            <a:spLocks noChangeArrowheads="1"/>
          </p:cNvSpPr>
          <p:nvPr/>
        </p:nvSpPr>
        <p:spPr bwMode="ltGray">
          <a:xfrm>
            <a:off x="204788" y="225284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7171" name="テキスト ボックス 1"/>
          <p:cNvSpPr txBox="1">
            <a:spLocks noChangeArrowheads="1"/>
          </p:cNvSpPr>
          <p:nvPr/>
        </p:nvSpPr>
        <p:spPr bwMode="auto">
          <a:xfrm>
            <a:off x="395288" y="1412776"/>
            <a:ext cx="85677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●数値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カードの説明２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" name="テキスト ボックス 776"/>
          <p:cNvSpPr txBox="1"/>
          <p:nvPr/>
        </p:nvSpPr>
        <p:spPr>
          <a:xfrm>
            <a:off x="565200" y="2204963"/>
            <a:ext cx="2432050" cy="4826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11560" y="2204963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"/>
          <p:cNvSpPr txBox="1">
            <a:spLocks noChangeArrowheads="1"/>
          </p:cNvSpPr>
          <p:nvPr/>
        </p:nvSpPr>
        <p:spPr bwMode="auto">
          <a:xfrm>
            <a:off x="395287" y="4500409"/>
            <a:ext cx="84251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数値です。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885098" y="2736014"/>
            <a:ext cx="1849725" cy="135898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4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2400" b="1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24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</p:spTree>
    <p:extLst>
      <p:ext uri="{BB962C8B-B14F-4D97-AF65-F5344CB8AC3E}">
        <p14:creationId xmlns:p14="http://schemas.microsoft.com/office/powerpoint/2010/main" val="1033622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7171" name="テキスト ボックス 1"/>
          <p:cNvSpPr txBox="1">
            <a:spLocks noChangeArrowheads="1"/>
          </p:cNvSpPr>
          <p:nvPr/>
        </p:nvSpPr>
        <p:spPr bwMode="auto">
          <a:xfrm>
            <a:off x="395288" y="1412776"/>
            <a:ext cx="85677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●変数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カードの説明３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" name="テキスト ボックス 776"/>
          <p:cNvSpPr txBox="1"/>
          <p:nvPr/>
        </p:nvSpPr>
        <p:spPr>
          <a:xfrm>
            <a:off x="565200" y="2204963"/>
            <a:ext cx="2432050" cy="4826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テキスト ボックス 780"/>
          <p:cNvSpPr txBox="1"/>
          <p:nvPr/>
        </p:nvSpPr>
        <p:spPr>
          <a:xfrm>
            <a:off x="3148062" y="3568625"/>
            <a:ext cx="2432050" cy="4810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  <a:endParaRPr kumimoji="1" lang="ja-JP" altLang="en-US" sz="24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11560" y="2204963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"/>
          <p:cNvSpPr txBox="1">
            <a:spLocks noChangeArrowheads="1"/>
          </p:cNvSpPr>
          <p:nvPr/>
        </p:nvSpPr>
        <p:spPr bwMode="auto">
          <a:xfrm>
            <a:off x="395287" y="4293096"/>
            <a:ext cx="8425185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「箱」をイメージしてください。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「箱」の中には、「数値」を入れることができます。一度入れた箱の中身は、使いまわすことができます。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25" y="2421612"/>
            <a:ext cx="1905000" cy="1905000"/>
          </a:xfrm>
          <a:prstGeom prst="rect">
            <a:avLst/>
          </a:prstGeom>
        </p:spPr>
      </p:pic>
      <p:sp>
        <p:nvSpPr>
          <p:cNvPr id="17" name="テキスト ボックス 1"/>
          <p:cNvSpPr txBox="1">
            <a:spLocks noChangeArrowheads="1"/>
          </p:cNvSpPr>
          <p:nvPr/>
        </p:nvSpPr>
        <p:spPr bwMode="auto">
          <a:xfrm>
            <a:off x="3275856" y="2132856"/>
            <a:ext cx="5184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使用例）箱に数値を入れる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19" name="円/楕円 18"/>
          <p:cNvSpPr/>
          <p:nvPr/>
        </p:nvSpPr>
        <p:spPr>
          <a:xfrm>
            <a:off x="5004048" y="2944323"/>
            <a:ext cx="1017623" cy="101762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600" b="1" dirty="0"/>
              <a:t>＝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6430594" y="3007192"/>
            <a:ext cx="1309757" cy="89188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6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endParaRPr kumimoji="1" lang="ja-JP" altLang="en-US" sz="6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21" name="図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604" y="2588620"/>
            <a:ext cx="1693733" cy="169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71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テキスト ボックス 1"/>
          <p:cNvSpPr txBox="1">
            <a:spLocks noChangeArrowheads="1"/>
          </p:cNvSpPr>
          <p:nvPr/>
        </p:nvSpPr>
        <p:spPr bwMode="auto">
          <a:xfrm>
            <a:off x="395288" y="1412776"/>
            <a:ext cx="85677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</a:t>
            </a:r>
            <a:r>
              <a:rPr lang="ja-JP" altLang="en-US" sz="3400" dirty="0">
                <a:latin typeface="HGS創英角ｺﾞｼｯｸUB" pitchFamily="50" charset="-128"/>
                <a:ea typeface="HGS創英角ｺﾞｼｯｸUB" pitchFamily="50" charset="-128"/>
              </a:rPr>
              <a:t>演算子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カードの説明４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" name="テキスト ボックス 776"/>
          <p:cNvSpPr txBox="1"/>
          <p:nvPr/>
        </p:nvSpPr>
        <p:spPr>
          <a:xfrm>
            <a:off x="565200" y="2204963"/>
            <a:ext cx="2432050" cy="4826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演算子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11560" y="2204963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"/>
          <p:cNvSpPr txBox="1">
            <a:spLocks noChangeArrowheads="1"/>
          </p:cNvSpPr>
          <p:nvPr/>
        </p:nvSpPr>
        <p:spPr bwMode="auto">
          <a:xfrm>
            <a:off x="349087" y="4749334"/>
            <a:ext cx="84251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演算を表す記号です。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19" name="円/楕円 18"/>
          <p:cNvSpPr/>
          <p:nvPr/>
        </p:nvSpPr>
        <p:spPr>
          <a:xfrm>
            <a:off x="1025352" y="2632559"/>
            <a:ext cx="1480871" cy="148087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600" b="1" dirty="0"/>
              <a:t>＝</a:t>
            </a:r>
          </a:p>
        </p:txBody>
      </p:sp>
    </p:spTree>
    <p:extLst>
      <p:ext uri="{BB962C8B-B14F-4D97-AF65-F5344CB8AC3E}">
        <p14:creationId xmlns:p14="http://schemas.microsoft.com/office/powerpoint/2010/main" val="829961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7171" name="テキスト ボックス 1"/>
          <p:cNvSpPr txBox="1">
            <a:spLocks noChangeArrowheads="1"/>
          </p:cNvSpPr>
          <p:nvPr/>
        </p:nvSpPr>
        <p:spPr bwMode="auto">
          <a:xfrm>
            <a:off x="395288" y="1484784"/>
            <a:ext cx="85677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3400" dirty="0">
                <a:latin typeface="HGS創英角ｺﾞｼｯｸUB" pitchFamily="50" charset="-128"/>
                <a:ea typeface="HGS創英角ｺﾞｼｯｸUB" pitchFamily="50" charset="-128"/>
              </a:rPr>
              <a:t>●表示</a:t>
            </a: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文字</a:t>
            </a:r>
            <a:r>
              <a:rPr lang="ja-JP" altLang="en-US" sz="3600" dirty="0" smtClean="0">
                <a:latin typeface="HGS創英角ｺﾞｼｯｸUB" pitchFamily="50" charset="-128"/>
                <a:ea typeface="HGS創英角ｺﾞｼｯｸUB" pitchFamily="50" charset="-128"/>
              </a:rPr>
              <a:t>と</a:t>
            </a: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出力命令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カードの説明５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" name="テキスト ボックス 776"/>
          <p:cNvSpPr txBox="1"/>
          <p:nvPr/>
        </p:nvSpPr>
        <p:spPr>
          <a:xfrm>
            <a:off x="565200" y="2204963"/>
            <a:ext cx="2432050" cy="4826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表示文字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" name="テキスト ボックス 777"/>
          <p:cNvSpPr txBox="1"/>
          <p:nvPr/>
        </p:nvSpPr>
        <p:spPr>
          <a:xfrm>
            <a:off x="3136950" y="2217663"/>
            <a:ext cx="2432050" cy="4810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出力命令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11560" y="2204963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3187911" y="2220015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"/>
          <p:cNvSpPr txBox="1">
            <a:spLocks noChangeArrowheads="1"/>
          </p:cNvSpPr>
          <p:nvPr/>
        </p:nvSpPr>
        <p:spPr bwMode="auto">
          <a:xfrm>
            <a:off x="395287" y="4653136"/>
            <a:ext cx="8425185" cy="166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表示したい文字と、出力命令です。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>
                <a:latin typeface="HGS創英角ｺﾞｼｯｸUB" pitchFamily="50" charset="-128"/>
                <a:ea typeface="HGS創英角ｺﾞｼｯｸUB" pitchFamily="50" charset="-128"/>
              </a:rPr>
              <a:t>二つ</a:t>
            </a: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を組み合わせることで、表示文字を出力することができます。</a:t>
            </a:r>
            <a:endParaRPr lang="ja-JP" altLang="ja-JP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14" name="円形吹き出し 13"/>
          <p:cNvSpPr/>
          <p:nvPr/>
        </p:nvSpPr>
        <p:spPr>
          <a:xfrm>
            <a:off x="683568" y="2852936"/>
            <a:ext cx="2255959" cy="1080120"/>
          </a:xfrm>
          <a:prstGeom prst="wedgeEllipseCallout">
            <a:avLst>
              <a:gd name="adj1" fmla="val 47647"/>
              <a:gd name="adj2" fmla="val 40745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kumimoji="1"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ではありません</a:t>
            </a:r>
          </a:p>
        </p:txBody>
      </p:sp>
      <p:sp>
        <p:nvSpPr>
          <p:cNvPr id="17" name="二等辺三角形 16"/>
          <p:cNvSpPr/>
          <p:nvPr/>
        </p:nvSpPr>
        <p:spPr>
          <a:xfrm rot="5400000">
            <a:off x="3667310" y="2717094"/>
            <a:ext cx="1482397" cy="1445560"/>
          </a:xfrm>
          <a:prstGeom prst="triangle">
            <a:avLst/>
          </a:prstGeom>
          <a:scene3d>
            <a:camera prst="orthographicFront">
              <a:rot lat="0" lon="0" rev="0"/>
            </a:camera>
            <a:lightRig rig="harsh" dir="t"/>
          </a:scene3d>
          <a:sp3d>
            <a:bevelT w="127000" h="5080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8" name="テキスト ボックス 1006"/>
          <p:cNvSpPr txBox="1"/>
          <p:nvPr/>
        </p:nvSpPr>
        <p:spPr>
          <a:xfrm>
            <a:off x="3259909" y="3281379"/>
            <a:ext cx="1718208" cy="4351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を表示</a:t>
            </a:r>
          </a:p>
        </p:txBody>
      </p:sp>
    </p:spTree>
    <p:extLst>
      <p:ext uri="{BB962C8B-B14F-4D97-AF65-F5344CB8AC3E}">
        <p14:creationId xmlns:p14="http://schemas.microsoft.com/office/powerpoint/2010/main" val="884188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7171" name="テキスト ボックス 1"/>
          <p:cNvSpPr txBox="1">
            <a:spLocks noChangeArrowheads="1"/>
          </p:cNvSpPr>
          <p:nvPr/>
        </p:nvSpPr>
        <p:spPr bwMode="auto">
          <a:xfrm>
            <a:off x="395288" y="1412776"/>
            <a:ext cx="85677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●条件分岐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カードの説明６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" name="テキスト ボックス 776"/>
          <p:cNvSpPr txBox="1"/>
          <p:nvPr/>
        </p:nvSpPr>
        <p:spPr>
          <a:xfrm>
            <a:off x="565200" y="2132856"/>
            <a:ext cx="2432050" cy="4826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条件分岐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11560" y="2132856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"/>
          <p:cNvSpPr txBox="1">
            <a:spLocks noChangeArrowheads="1"/>
          </p:cNvSpPr>
          <p:nvPr/>
        </p:nvSpPr>
        <p:spPr bwMode="auto">
          <a:xfrm>
            <a:off x="462617" y="4293096"/>
            <a:ext cx="8425185" cy="225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「○○の場合」と読み替えてください。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○○に入る部分は、式を後ろにつなげます。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「</a:t>
            </a:r>
            <a:r>
              <a:rPr lang="en-US" altLang="ja-JP" dirty="0" smtClean="0">
                <a:latin typeface="HGS創英角ｺﾞｼｯｸUB" pitchFamily="50" charset="-128"/>
                <a:ea typeface="HGS創英角ｺﾞｼｯｸUB" pitchFamily="50" charset="-128"/>
              </a:rPr>
              <a:t>YES</a:t>
            </a: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」のピースか「</a:t>
            </a:r>
            <a:r>
              <a:rPr lang="en-US" altLang="ja-JP" dirty="0" smtClean="0">
                <a:latin typeface="HGS創英角ｺﾞｼｯｸUB" pitchFamily="50" charset="-128"/>
                <a:ea typeface="HGS創英角ｺﾞｼｯｸUB" pitchFamily="50" charset="-128"/>
              </a:rPr>
              <a:t>NO</a:t>
            </a: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」のピースに分岐します。</a:t>
            </a:r>
            <a:endParaRPr lang="ja-JP" altLang="ja-JP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22" name="テキスト ボックス 912"/>
          <p:cNvSpPr txBox="1"/>
          <p:nvPr/>
        </p:nvSpPr>
        <p:spPr>
          <a:xfrm>
            <a:off x="8523288" y="29976763"/>
            <a:ext cx="2432050" cy="42545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条件分岐</a:t>
            </a:r>
          </a:p>
        </p:txBody>
      </p:sp>
      <p:cxnSp>
        <p:nvCxnSpPr>
          <p:cNvPr id="23" name="曲線コネクタ 22"/>
          <p:cNvCxnSpPr/>
          <p:nvPr/>
        </p:nvCxnSpPr>
        <p:spPr>
          <a:xfrm rot="5400000">
            <a:off x="8759825" y="30586363"/>
            <a:ext cx="1165225" cy="795337"/>
          </a:xfrm>
          <a:prstGeom prst="curvedConnector3">
            <a:avLst>
              <a:gd name="adj1" fmla="val 50000"/>
            </a:avLst>
          </a:prstGeom>
          <a:ln w="479425">
            <a:headEnd type="none" w="med" len="med"/>
            <a:tailEnd type="none" w="sm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二等辺三角形 23"/>
          <p:cNvSpPr/>
          <p:nvPr/>
        </p:nvSpPr>
        <p:spPr>
          <a:xfrm rot="10800000">
            <a:off x="8580438" y="31562675"/>
            <a:ext cx="728662" cy="403225"/>
          </a:xfrm>
          <a:prstGeom prst="triangle">
            <a:avLst/>
          </a:prstGeom>
          <a:ln>
            <a:noFill/>
          </a:ln>
          <a:effectLst>
            <a:outerShdw blurRad="40005" dist="22860" dir="5400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cxnSp>
        <p:nvCxnSpPr>
          <p:cNvPr id="25" name="曲線コネクタ 24"/>
          <p:cNvCxnSpPr/>
          <p:nvPr/>
        </p:nvCxnSpPr>
        <p:spPr>
          <a:xfrm rot="16200000" flipH="1">
            <a:off x="9564688" y="30575250"/>
            <a:ext cx="1154112" cy="806450"/>
          </a:xfrm>
          <a:prstGeom prst="curvedConnector3">
            <a:avLst>
              <a:gd name="adj1" fmla="val 50000"/>
            </a:avLst>
          </a:prstGeom>
          <a:ln w="479425">
            <a:headEnd type="none" w="med" len="med"/>
            <a:tailEnd type="none" w="sm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二等辺三角形 25"/>
          <p:cNvSpPr/>
          <p:nvPr/>
        </p:nvSpPr>
        <p:spPr>
          <a:xfrm rot="10800000">
            <a:off x="10179050" y="31551563"/>
            <a:ext cx="728663" cy="403225"/>
          </a:xfrm>
          <a:prstGeom prst="triangle">
            <a:avLst/>
          </a:prstGeom>
          <a:ln>
            <a:noFill/>
          </a:ln>
          <a:effectLst>
            <a:outerShdw blurRad="40005" dist="22860" dir="5400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27" name="テキスト ボックス 2067"/>
          <p:cNvSpPr txBox="1"/>
          <p:nvPr/>
        </p:nvSpPr>
        <p:spPr>
          <a:xfrm>
            <a:off x="8512175" y="30657800"/>
            <a:ext cx="2454275" cy="51593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「○○」の場合</a:t>
            </a:r>
          </a:p>
        </p:txBody>
      </p:sp>
      <p:grpSp>
        <p:nvGrpSpPr>
          <p:cNvPr id="3" name="グループ化 2"/>
          <p:cNvGrpSpPr/>
          <p:nvPr/>
        </p:nvGrpSpPr>
        <p:grpSpPr>
          <a:xfrm>
            <a:off x="582916" y="2564805"/>
            <a:ext cx="2454089" cy="1568823"/>
            <a:chOff x="582916" y="2636912"/>
            <a:chExt cx="2454089" cy="1568823"/>
          </a:xfrm>
        </p:grpSpPr>
        <p:cxnSp>
          <p:nvCxnSpPr>
            <p:cNvPr id="29" name="曲線コネクタ 28"/>
            <p:cNvCxnSpPr>
              <a:endCxn id="30" idx="3"/>
            </p:cNvCxnSpPr>
            <p:nvPr/>
          </p:nvCxnSpPr>
          <p:spPr>
            <a:xfrm rot="5400000">
              <a:off x="829447" y="2821807"/>
              <a:ext cx="1165411" cy="795622"/>
            </a:xfrm>
            <a:prstGeom prst="curvedConnector3">
              <a:avLst>
                <a:gd name="adj1" fmla="val 50000"/>
              </a:avLst>
            </a:prstGeom>
            <a:ln w="479425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0" name="二等辺三角形 29"/>
            <p:cNvSpPr/>
            <p:nvPr/>
          </p:nvSpPr>
          <p:spPr>
            <a:xfrm rot="10800000">
              <a:off x="650151" y="3802324"/>
              <a:ext cx="728381" cy="403411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31" name="曲線コネクタ 30"/>
            <p:cNvCxnSpPr>
              <a:endCxn id="32" idx="3"/>
            </p:cNvCxnSpPr>
            <p:nvPr/>
          </p:nvCxnSpPr>
          <p:spPr>
            <a:xfrm rot="16200000" flipH="1">
              <a:off x="1636270" y="2810606"/>
              <a:ext cx="1154207" cy="806820"/>
            </a:xfrm>
            <a:prstGeom prst="curvedConnector3">
              <a:avLst>
                <a:gd name="adj1" fmla="val 50000"/>
              </a:avLst>
            </a:prstGeom>
            <a:ln w="479425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二等辺三角形 31"/>
            <p:cNvSpPr/>
            <p:nvPr/>
          </p:nvSpPr>
          <p:spPr>
            <a:xfrm rot="10800000">
              <a:off x="2252593" y="3791120"/>
              <a:ext cx="728381" cy="403411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33" name="テキスト ボックス 2067"/>
            <p:cNvSpPr txBox="1"/>
            <p:nvPr/>
          </p:nvSpPr>
          <p:spPr>
            <a:xfrm>
              <a:off x="582916" y="2894649"/>
              <a:ext cx="2454089" cy="515471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400" b="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「○○」の場合</a:t>
              </a:r>
            </a:p>
          </p:txBody>
        </p:sp>
      </p:grpSp>
      <p:sp>
        <p:nvSpPr>
          <p:cNvPr id="37" name="テキスト ボックス 1"/>
          <p:cNvSpPr txBox="1">
            <a:spLocks noChangeArrowheads="1"/>
          </p:cNvSpPr>
          <p:nvPr/>
        </p:nvSpPr>
        <p:spPr bwMode="auto">
          <a:xfrm>
            <a:off x="3203848" y="2071591"/>
            <a:ext cx="5184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使用例）変数</a:t>
            </a:r>
            <a:r>
              <a:rPr lang="en-US" altLang="ja-JP" sz="2800" dirty="0" smtClean="0">
                <a:latin typeface="HGS創英角ｺﾞｼｯｸUB" pitchFamily="50" charset="-128"/>
                <a:ea typeface="HGS創英角ｺﾞｼｯｸUB" pitchFamily="50" charset="-128"/>
              </a:rPr>
              <a:t>a</a:t>
            </a: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が</a:t>
            </a:r>
            <a:r>
              <a:rPr lang="en-US" altLang="ja-JP" sz="2800" dirty="0" smtClean="0">
                <a:latin typeface="HGS創英角ｺﾞｼｯｸUB" pitchFamily="50" charset="-128"/>
                <a:ea typeface="HGS創英角ｺﾞｼｯｸUB" pitchFamily="50" charset="-128"/>
              </a:rPr>
              <a:t>1</a:t>
            </a:r>
            <a:r>
              <a:rPr lang="ja-JP" altLang="en-US" sz="2800" dirty="0">
                <a:latin typeface="HGS創英角ｺﾞｼｯｸUB" pitchFamily="50" charset="-128"/>
                <a:ea typeface="HGS創英角ｺﾞｼｯｸUB" pitchFamily="50" charset="-128"/>
              </a:rPr>
              <a:t>である</a:t>
            </a: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場合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43" name="円/楕円 42"/>
          <p:cNvSpPr/>
          <p:nvPr/>
        </p:nvSpPr>
        <p:spPr>
          <a:xfrm>
            <a:off x="6372200" y="2945929"/>
            <a:ext cx="854584" cy="89188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5400" b="1" dirty="0"/>
              <a:t>＝</a:t>
            </a:r>
          </a:p>
        </p:txBody>
      </p:sp>
      <p:sp>
        <p:nvSpPr>
          <p:cNvPr id="44" name="正方形/長方形 43"/>
          <p:cNvSpPr/>
          <p:nvPr/>
        </p:nvSpPr>
        <p:spPr>
          <a:xfrm>
            <a:off x="7438707" y="2945927"/>
            <a:ext cx="1309757" cy="89188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47" name="図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626018"/>
            <a:ext cx="1496408" cy="1496408"/>
          </a:xfrm>
          <a:prstGeom prst="rect">
            <a:avLst/>
          </a:prstGeom>
        </p:spPr>
      </p:pic>
      <p:cxnSp>
        <p:nvCxnSpPr>
          <p:cNvPr id="50" name="曲線コネクタ 49"/>
          <p:cNvCxnSpPr>
            <a:endCxn id="51" idx="3"/>
          </p:cNvCxnSpPr>
          <p:nvPr/>
        </p:nvCxnSpPr>
        <p:spPr>
          <a:xfrm rot="5400000">
            <a:off x="3284043" y="2919692"/>
            <a:ext cx="899782" cy="582963"/>
          </a:xfrm>
          <a:prstGeom prst="curvedConnector3">
            <a:avLst>
              <a:gd name="adj1" fmla="val 50000"/>
            </a:avLst>
          </a:prstGeom>
          <a:ln w="381000">
            <a:headEnd type="none" w="med" len="med"/>
            <a:tailEnd type="none" w="sm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1" name="二等辺三角形 50"/>
          <p:cNvSpPr/>
          <p:nvPr/>
        </p:nvSpPr>
        <p:spPr>
          <a:xfrm rot="10800000">
            <a:off x="3199604" y="3661064"/>
            <a:ext cx="485697" cy="295579"/>
          </a:xfrm>
          <a:prstGeom prst="triangle">
            <a:avLst/>
          </a:prstGeom>
          <a:ln>
            <a:noFill/>
          </a:ln>
          <a:effectLst>
            <a:outerShdw blurRad="40005" dist="22860" dir="5400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cxnSp>
        <p:nvCxnSpPr>
          <p:cNvPr id="52" name="曲線コネクタ 51"/>
          <p:cNvCxnSpPr>
            <a:endCxn id="54" idx="3"/>
          </p:cNvCxnSpPr>
          <p:nvPr/>
        </p:nvCxnSpPr>
        <p:spPr>
          <a:xfrm rot="16200000" flipH="1">
            <a:off x="3925069" y="2911997"/>
            <a:ext cx="892229" cy="590809"/>
          </a:xfrm>
          <a:prstGeom prst="curvedConnector3">
            <a:avLst>
              <a:gd name="adj1" fmla="val 50000"/>
            </a:avLst>
          </a:prstGeom>
          <a:ln w="381000">
            <a:headEnd type="none" w="med" len="med"/>
            <a:tailEnd type="none" w="sm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3" name="テキスト ボックス 2067"/>
          <p:cNvSpPr txBox="1"/>
          <p:nvPr/>
        </p:nvSpPr>
        <p:spPr>
          <a:xfrm>
            <a:off x="3522907" y="3038416"/>
            <a:ext cx="1038774" cy="21819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b="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「○○」の場合</a:t>
            </a:r>
          </a:p>
        </p:txBody>
      </p:sp>
      <p:sp>
        <p:nvSpPr>
          <p:cNvPr id="54" name="二等辺三角形 53"/>
          <p:cNvSpPr/>
          <p:nvPr/>
        </p:nvSpPr>
        <p:spPr>
          <a:xfrm rot="10800000">
            <a:off x="4423740" y="3653517"/>
            <a:ext cx="485697" cy="295579"/>
          </a:xfrm>
          <a:prstGeom prst="triangle">
            <a:avLst/>
          </a:prstGeom>
          <a:ln>
            <a:noFill/>
          </a:ln>
          <a:effectLst>
            <a:outerShdw blurRad="40005" dist="22860" dir="5400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1993961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7171" name="テキスト ボックス 1"/>
          <p:cNvSpPr txBox="1">
            <a:spLocks noChangeArrowheads="1"/>
          </p:cNvSpPr>
          <p:nvPr/>
        </p:nvSpPr>
        <p:spPr bwMode="auto">
          <a:xfrm>
            <a:off x="395288" y="1484784"/>
            <a:ext cx="85677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●繰返し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カードの説明７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0" name="テキスト ボックス 776"/>
          <p:cNvSpPr txBox="1"/>
          <p:nvPr/>
        </p:nvSpPr>
        <p:spPr>
          <a:xfrm>
            <a:off x="565200" y="2204963"/>
            <a:ext cx="2432050" cy="4826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繰返し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" name="テキスト ボックス 777"/>
          <p:cNvSpPr txBox="1"/>
          <p:nvPr/>
        </p:nvSpPr>
        <p:spPr>
          <a:xfrm>
            <a:off x="3136950" y="2217663"/>
            <a:ext cx="2432050" cy="4810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繰返し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11560" y="2204963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3187911" y="2220015"/>
            <a:ext cx="2396802" cy="2088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"/>
          <p:cNvSpPr txBox="1">
            <a:spLocks noChangeArrowheads="1"/>
          </p:cNvSpPr>
          <p:nvPr/>
        </p:nvSpPr>
        <p:spPr bwMode="auto">
          <a:xfrm>
            <a:off x="395287" y="4653136"/>
            <a:ext cx="842518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繰返しの「</a:t>
            </a:r>
            <a:r>
              <a:rPr lang="en-US" altLang="ja-JP" dirty="0" smtClean="0">
                <a:latin typeface="HGS創英角ｺﾞｼｯｸUB" pitchFamily="50" charset="-128"/>
                <a:ea typeface="HGS創英角ｺﾞｼｯｸUB" pitchFamily="50" charset="-128"/>
              </a:rPr>
              <a:t>START</a:t>
            </a: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」から「</a:t>
            </a:r>
            <a:r>
              <a:rPr lang="en-US" altLang="ja-JP" dirty="0" smtClean="0">
                <a:latin typeface="HGS創英角ｺﾞｼｯｸUB" pitchFamily="50" charset="-128"/>
                <a:ea typeface="HGS創英角ｺﾞｼｯｸUB" pitchFamily="50" charset="-128"/>
              </a:rPr>
              <a:t>END</a:t>
            </a: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」までの間の処理が繰り返されます。</a:t>
            </a:r>
            <a:endParaRPr lang="ja-JP" altLang="ja-JP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13" name="円/楕円 12"/>
          <p:cNvSpPr/>
          <p:nvPr/>
        </p:nvSpPr>
        <p:spPr>
          <a:xfrm>
            <a:off x="972540" y="2646125"/>
            <a:ext cx="1674842" cy="152258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000" b="1">
                <a:latin typeface="+mn-ea"/>
                <a:ea typeface="+mn-ea"/>
              </a:rPr>
              <a:t>START</a:t>
            </a:r>
            <a:endParaRPr kumimoji="1" lang="ja-JP" altLang="en-US" sz="2000" b="1">
              <a:latin typeface="+mn-ea"/>
              <a:ea typeface="+mn-ea"/>
            </a:endParaRPr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247" y="2758183"/>
            <a:ext cx="1055657" cy="487227"/>
          </a:xfrm>
          <a:prstGeom prst="rect">
            <a:avLst/>
          </a:prstGeom>
        </p:spPr>
      </p:pic>
      <p:pic>
        <p:nvPicPr>
          <p:cNvPr id="20" name="図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76804" y="3688270"/>
            <a:ext cx="1055657" cy="456775"/>
          </a:xfrm>
          <a:prstGeom prst="rect">
            <a:avLst/>
          </a:prstGeom>
        </p:spPr>
      </p:pic>
      <p:sp>
        <p:nvSpPr>
          <p:cNvPr id="21" name="円/楕円 20"/>
          <p:cNvSpPr/>
          <p:nvPr/>
        </p:nvSpPr>
        <p:spPr>
          <a:xfrm>
            <a:off x="3502448" y="2622296"/>
            <a:ext cx="1701054" cy="154641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000" b="1">
                <a:latin typeface="+mn-ea"/>
                <a:ea typeface="+mn-ea"/>
              </a:rPr>
              <a:t>END</a:t>
            </a:r>
            <a:endParaRPr kumimoji="1" lang="ja-JP" altLang="en-US" sz="2000" b="1">
              <a:latin typeface="+mn-ea"/>
              <a:ea typeface="+mn-ea"/>
            </a:endParaRPr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155" y="2734354"/>
            <a:ext cx="1072180" cy="494853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006712" y="3664442"/>
            <a:ext cx="1072180" cy="46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9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10243" name="テキスト ボックス 1"/>
          <p:cNvSpPr txBox="1">
            <a:spLocks noChangeArrowheads="1"/>
          </p:cNvSpPr>
          <p:nvPr/>
        </p:nvSpPr>
        <p:spPr bwMode="auto">
          <a:xfrm>
            <a:off x="323528" y="1700808"/>
            <a:ext cx="8424936" cy="3083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600" dirty="0" smtClean="0">
                <a:latin typeface="HGS創英角ｺﾞｼｯｸUB" pitchFamily="50" charset="-128"/>
                <a:ea typeface="HGS創英角ｺﾞｼｯｸUB" pitchFamily="50" charset="-128"/>
              </a:rPr>
              <a:t>入力</a:t>
            </a:r>
            <a:r>
              <a:rPr lang="ja-JP" altLang="en-US" sz="3600" dirty="0">
                <a:latin typeface="HGS創英角ｺﾞｼｯｸUB" pitchFamily="50" charset="-128"/>
                <a:ea typeface="HGS創英角ｺﾞｼｯｸUB" pitchFamily="50" charset="-128"/>
              </a:rPr>
              <a:t>された数値</a:t>
            </a:r>
            <a:r>
              <a:rPr lang="ja-JP" altLang="en-US" sz="3600" dirty="0" smtClean="0">
                <a:latin typeface="HGS創英角ｺﾞｼｯｸUB" pitchFamily="50" charset="-128"/>
                <a:ea typeface="HGS創英角ｺﾞｼｯｸUB" pitchFamily="50" charset="-128"/>
              </a:rPr>
              <a:t>が</a:t>
            </a:r>
            <a:r>
              <a:rPr lang="ja-JP" altLang="en-US" sz="3600" dirty="0">
                <a:latin typeface="HGS創英角ｺﾞｼｯｸUB" pitchFamily="50" charset="-128"/>
                <a:ea typeface="HGS創英角ｺﾞｼｯｸUB" pitchFamily="50" charset="-128"/>
              </a:rPr>
              <a:t>１</a:t>
            </a:r>
            <a:r>
              <a:rPr lang="ja-JP" altLang="en-US" sz="3600" dirty="0" smtClean="0">
                <a:latin typeface="HGS創英角ｺﾞｼｯｸUB" pitchFamily="50" charset="-128"/>
                <a:ea typeface="HGS創英角ｺﾞｼｯｸUB" pitchFamily="50" charset="-128"/>
              </a:rPr>
              <a:t>の</a:t>
            </a:r>
            <a:r>
              <a:rPr lang="ja-JP" altLang="en-US" sz="3600" dirty="0">
                <a:latin typeface="HGS創英角ｺﾞｼｯｸUB" pitchFamily="50" charset="-128"/>
                <a:ea typeface="HGS創英角ｺﾞｼｯｸUB" pitchFamily="50" charset="-128"/>
              </a:rPr>
              <a:t>場合</a:t>
            </a:r>
            <a:r>
              <a:rPr lang="ja-JP" altLang="en-US" sz="3600" dirty="0" smtClean="0">
                <a:latin typeface="HGS創英角ｺﾞｼｯｸUB" pitchFamily="50" charset="-128"/>
                <a:ea typeface="HGS創英角ｺﾞｼｯｸUB" pitchFamily="50" charset="-128"/>
              </a:rPr>
              <a:t>は「１です</a:t>
            </a:r>
            <a:r>
              <a:rPr lang="ja-JP" altLang="en-US" sz="3600" dirty="0">
                <a:latin typeface="HGS創英角ｺﾞｼｯｸUB" pitchFamily="50" charset="-128"/>
                <a:ea typeface="HGS創英角ｺﾞｼｯｸUB" pitchFamily="50" charset="-128"/>
              </a:rPr>
              <a:t>」と表示し</a:t>
            </a:r>
            <a:r>
              <a:rPr lang="ja-JP" altLang="en-US" sz="3600" dirty="0" smtClean="0">
                <a:latin typeface="HGS創英角ｺﾞｼｯｸUB" pitchFamily="50" charset="-128"/>
                <a:ea typeface="HGS創英角ｺﾞｼｯｸUB" pitchFamily="50" charset="-128"/>
              </a:rPr>
              <a:t>、そうでない場合には</a:t>
            </a:r>
            <a:endParaRPr lang="en-US" altLang="ja-JP" sz="3600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600" dirty="0" smtClean="0">
                <a:latin typeface="HGS創英角ｺﾞｼｯｸUB" pitchFamily="50" charset="-128"/>
                <a:ea typeface="HGS創英角ｺﾞｼｯｸUB" pitchFamily="50" charset="-128"/>
              </a:rPr>
              <a:t>「１ではありません」と表示する</a:t>
            </a:r>
            <a:endParaRPr lang="en-US" altLang="ja-JP" sz="3600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600" dirty="0" smtClean="0">
                <a:latin typeface="HGS創英角ｺﾞｼｯｸUB" pitchFamily="50" charset="-128"/>
                <a:ea typeface="HGS創英角ｺﾞｼｯｸUB" pitchFamily="50" charset="-128"/>
              </a:rPr>
              <a:t>フローチャートパズルを完成させましょう。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５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サンプル問題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709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 dirty="0">
              <a:latin typeface="Arial" charset="0"/>
            </a:endParaRPr>
          </a:p>
        </p:txBody>
      </p:sp>
      <p:sp>
        <p:nvSpPr>
          <p:cNvPr id="5" name="フローチャート : 抜出し 4"/>
          <p:cNvSpPr/>
          <p:nvPr/>
        </p:nvSpPr>
        <p:spPr>
          <a:xfrm rot="10800000">
            <a:off x="400582" y="332656"/>
            <a:ext cx="1624025" cy="796716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6" name="テキスト ボックス 779"/>
          <p:cNvSpPr txBox="1"/>
          <p:nvPr/>
        </p:nvSpPr>
        <p:spPr>
          <a:xfrm>
            <a:off x="323528" y="403715"/>
            <a:ext cx="1845097" cy="3656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SATRT</a:t>
            </a:r>
            <a:endParaRPr kumimoji="1" lang="ja-JP" altLang="en-US" sz="18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54" y="1201380"/>
            <a:ext cx="1476482" cy="1476482"/>
          </a:xfrm>
          <a:prstGeom prst="rect">
            <a:avLst/>
          </a:prstGeom>
        </p:spPr>
      </p:pic>
      <p:sp>
        <p:nvSpPr>
          <p:cNvPr id="9" name="円/楕円 8"/>
          <p:cNvSpPr/>
          <p:nvPr/>
        </p:nvSpPr>
        <p:spPr>
          <a:xfrm>
            <a:off x="1979712" y="1489412"/>
            <a:ext cx="936104" cy="93610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600" b="1" dirty="0"/>
              <a:t>＝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3178406" y="1440851"/>
            <a:ext cx="1440160" cy="99691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  <p:grpSp>
        <p:nvGrpSpPr>
          <p:cNvPr id="3" name="グループ化 2"/>
          <p:cNvGrpSpPr/>
          <p:nvPr/>
        </p:nvGrpSpPr>
        <p:grpSpPr>
          <a:xfrm>
            <a:off x="386784" y="2677863"/>
            <a:ext cx="1709833" cy="1195360"/>
            <a:chOff x="386784" y="2677863"/>
            <a:chExt cx="1709833" cy="1195360"/>
          </a:xfrm>
        </p:grpSpPr>
        <p:cxnSp>
          <p:nvCxnSpPr>
            <p:cNvPr id="11" name="曲線コネクタ 10"/>
            <p:cNvCxnSpPr>
              <a:stCxn id="7" idx="2"/>
              <a:endCxn id="12" idx="3"/>
            </p:cNvCxnSpPr>
            <p:nvPr/>
          </p:nvCxnSpPr>
          <p:spPr>
            <a:xfrm rot="5400000">
              <a:off x="471223" y="2836272"/>
              <a:ext cx="899782" cy="582963"/>
            </a:xfrm>
            <a:prstGeom prst="curvedConnector3">
              <a:avLst>
                <a:gd name="adj1" fmla="val 50000"/>
              </a:avLst>
            </a:prstGeom>
            <a:ln w="3810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二等辺三角形 11"/>
            <p:cNvSpPr/>
            <p:nvPr/>
          </p:nvSpPr>
          <p:spPr>
            <a:xfrm rot="10800000">
              <a:off x="386784" y="3577644"/>
              <a:ext cx="485697" cy="295579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13" name="曲線コネクタ 12"/>
            <p:cNvCxnSpPr/>
            <p:nvPr/>
          </p:nvCxnSpPr>
          <p:spPr>
            <a:xfrm rot="16200000" flipH="1">
              <a:off x="1112249" y="2828577"/>
              <a:ext cx="892229" cy="590809"/>
            </a:xfrm>
            <a:prstGeom prst="curvedConnector3">
              <a:avLst>
                <a:gd name="adj1" fmla="val 50000"/>
              </a:avLst>
            </a:prstGeom>
            <a:ln w="3810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テキスト ボックス 2067"/>
            <p:cNvSpPr txBox="1"/>
            <p:nvPr/>
          </p:nvSpPr>
          <p:spPr>
            <a:xfrm>
              <a:off x="710087" y="2954996"/>
              <a:ext cx="1038774" cy="21819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400" b="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「○○」の場合</a:t>
              </a:r>
            </a:p>
          </p:txBody>
        </p:sp>
        <p:sp>
          <p:nvSpPr>
            <p:cNvPr id="17" name="二等辺三角形 16"/>
            <p:cNvSpPr/>
            <p:nvPr/>
          </p:nvSpPr>
          <p:spPr>
            <a:xfrm rot="10800000">
              <a:off x="1610920" y="3570097"/>
              <a:ext cx="485697" cy="295579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</p:grpSp>
      <p:pic>
        <p:nvPicPr>
          <p:cNvPr id="27" name="図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056" y="2600590"/>
            <a:ext cx="1476482" cy="1476482"/>
          </a:xfrm>
          <a:prstGeom prst="rect">
            <a:avLst/>
          </a:prstGeom>
        </p:spPr>
      </p:pic>
      <p:sp>
        <p:nvSpPr>
          <p:cNvPr id="28" name="円/楕円 27"/>
          <p:cNvSpPr/>
          <p:nvPr/>
        </p:nvSpPr>
        <p:spPr>
          <a:xfrm>
            <a:off x="3645311" y="2852936"/>
            <a:ext cx="936104" cy="93610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600" b="1" dirty="0"/>
              <a:t>＝</a:t>
            </a:r>
          </a:p>
        </p:txBody>
      </p:sp>
      <p:sp>
        <p:nvSpPr>
          <p:cNvPr id="29" name="正方形/長方形 28"/>
          <p:cNvSpPr/>
          <p:nvPr/>
        </p:nvSpPr>
        <p:spPr>
          <a:xfrm>
            <a:off x="4832921" y="2814293"/>
            <a:ext cx="1431445" cy="9747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0" name="ストライプ矢印 29"/>
          <p:cNvSpPr/>
          <p:nvPr/>
        </p:nvSpPr>
        <p:spPr>
          <a:xfrm>
            <a:off x="395537" y="4077072"/>
            <a:ext cx="1215384" cy="1129373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/>
              <a:t>YES</a:t>
            </a:r>
            <a:endParaRPr kumimoji="1" lang="ja-JP" altLang="en-US" sz="2800" b="1" dirty="0"/>
          </a:p>
        </p:txBody>
      </p:sp>
      <p:cxnSp>
        <p:nvCxnSpPr>
          <p:cNvPr id="26" name="直線コネクタ 25"/>
          <p:cNvCxnSpPr/>
          <p:nvPr/>
        </p:nvCxnSpPr>
        <p:spPr>
          <a:xfrm>
            <a:off x="548588" y="2564904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>
            <a:off x="548588" y="4005064"/>
            <a:ext cx="810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円形吹き出し 33"/>
          <p:cNvSpPr/>
          <p:nvPr/>
        </p:nvSpPr>
        <p:spPr>
          <a:xfrm>
            <a:off x="1691680" y="4149080"/>
            <a:ext cx="1368152" cy="1007327"/>
          </a:xfrm>
          <a:prstGeom prst="wedgeEllipseCallout">
            <a:avLst>
              <a:gd name="adj1" fmla="val 49019"/>
              <a:gd name="adj2" fmla="val 44832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kumimoji="1"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です</a:t>
            </a:r>
          </a:p>
        </p:txBody>
      </p:sp>
      <p:grpSp>
        <p:nvGrpSpPr>
          <p:cNvPr id="4" name="グループ化 3"/>
          <p:cNvGrpSpPr/>
          <p:nvPr/>
        </p:nvGrpSpPr>
        <p:grpSpPr>
          <a:xfrm>
            <a:off x="2843808" y="4077072"/>
            <a:ext cx="1420542" cy="1180872"/>
            <a:chOff x="2843808" y="4077072"/>
            <a:chExt cx="1420542" cy="1180872"/>
          </a:xfrm>
        </p:grpSpPr>
        <p:sp>
          <p:nvSpPr>
            <p:cNvPr id="35" name="二等辺三角形 34"/>
            <p:cNvSpPr/>
            <p:nvPr/>
          </p:nvSpPr>
          <p:spPr>
            <a:xfrm rot="5400000">
              <a:off x="3107659" y="4101253"/>
              <a:ext cx="1180872" cy="1132510"/>
            </a:xfrm>
            <a:prstGeom prst="triangle">
              <a:avLst/>
            </a:prstGeom>
            <a:scene3d>
              <a:camera prst="orthographicFront">
                <a:rot lat="0" lon="0" rev="0"/>
              </a:camera>
              <a:lightRig rig="harsh" dir="t"/>
            </a:scene3d>
            <a:sp3d>
              <a:bevelT w="127000" h="50800"/>
              <a:contourClr>
                <a:schemeClr val="tx1">
                  <a:lumMod val="65000"/>
                  <a:lumOff val="35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36" name="テキスト ボックス 1011"/>
            <p:cNvSpPr txBox="1"/>
            <p:nvPr/>
          </p:nvSpPr>
          <p:spPr>
            <a:xfrm>
              <a:off x="2843808" y="4494206"/>
              <a:ext cx="1346114" cy="34660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を表示</a:t>
              </a:r>
            </a:p>
          </p:txBody>
        </p:sp>
      </p:grpSp>
      <p:sp>
        <p:nvSpPr>
          <p:cNvPr id="37" name="ストライプ矢印 36"/>
          <p:cNvSpPr/>
          <p:nvPr/>
        </p:nvSpPr>
        <p:spPr>
          <a:xfrm>
            <a:off x="4355976" y="4110243"/>
            <a:ext cx="1224136" cy="1114529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/>
              <a:t>NO</a:t>
            </a:r>
            <a:endParaRPr kumimoji="1" lang="ja-JP" altLang="en-US" sz="2800" b="1" dirty="0"/>
          </a:p>
        </p:txBody>
      </p:sp>
      <p:sp>
        <p:nvSpPr>
          <p:cNvPr id="38" name="円形吹き出し 37"/>
          <p:cNvSpPr/>
          <p:nvPr/>
        </p:nvSpPr>
        <p:spPr>
          <a:xfrm>
            <a:off x="5652120" y="4110336"/>
            <a:ext cx="1708895" cy="1062844"/>
          </a:xfrm>
          <a:prstGeom prst="wedgeEllipseCallout">
            <a:avLst>
              <a:gd name="adj1" fmla="val 41130"/>
              <a:gd name="adj2" fmla="val 44745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kumimoji="1"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</a:t>
            </a:r>
            <a:r>
              <a:rPr kumimoji="1" lang="ja-JP" altLang="en-US" sz="16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</a:t>
            </a:r>
            <a:endParaRPr kumimoji="1" lang="en-US" altLang="ja-JP" sz="1600" b="1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6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ありません</a:t>
            </a:r>
            <a:endParaRPr kumimoji="1" lang="ja-JP" altLang="en-US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8" name="グループ化 7"/>
          <p:cNvGrpSpPr/>
          <p:nvPr/>
        </p:nvGrpSpPr>
        <p:grpSpPr>
          <a:xfrm>
            <a:off x="7164288" y="4051322"/>
            <a:ext cx="1426111" cy="1180872"/>
            <a:chOff x="7164288" y="4051322"/>
            <a:chExt cx="1426111" cy="1180872"/>
          </a:xfrm>
        </p:grpSpPr>
        <p:sp>
          <p:nvSpPr>
            <p:cNvPr id="39" name="二等辺三角形 38"/>
            <p:cNvSpPr/>
            <p:nvPr/>
          </p:nvSpPr>
          <p:spPr>
            <a:xfrm rot="5400000">
              <a:off x="7433708" y="4075503"/>
              <a:ext cx="1180872" cy="1132510"/>
            </a:xfrm>
            <a:prstGeom prst="triangle">
              <a:avLst/>
            </a:prstGeom>
            <a:scene3d>
              <a:camera prst="orthographicFront">
                <a:rot lat="0" lon="0" rev="0"/>
              </a:camera>
              <a:lightRig rig="harsh" dir="t"/>
            </a:scene3d>
            <a:sp3d>
              <a:bevelT w="127000" h="50800"/>
              <a:contourClr>
                <a:schemeClr val="tx1">
                  <a:lumMod val="65000"/>
                  <a:lumOff val="35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40" name="テキスト ボックス 1011"/>
            <p:cNvSpPr txBox="1"/>
            <p:nvPr/>
          </p:nvSpPr>
          <p:spPr>
            <a:xfrm>
              <a:off x="7164288" y="4468456"/>
              <a:ext cx="1346114" cy="34660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を表示</a:t>
              </a:r>
            </a:p>
          </p:txBody>
        </p:sp>
      </p:grpSp>
      <p:grpSp>
        <p:nvGrpSpPr>
          <p:cNvPr id="14" name="グループ化 13"/>
          <p:cNvGrpSpPr/>
          <p:nvPr/>
        </p:nvGrpSpPr>
        <p:grpSpPr>
          <a:xfrm>
            <a:off x="315358" y="5589240"/>
            <a:ext cx="2024394" cy="880699"/>
            <a:chOff x="315358" y="5589240"/>
            <a:chExt cx="2024394" cy="880699"/>
          </a:xfrm>
        </p:grpSpPr>
        <p:sp>
          <p:nvSpPr>
            <p:cNvPr id="43" name="フローチャート : 抜出し 42"/>
            <p:cNvSpPr/>
            <p:nvPr/>
          </p:nvSpPr>
          <p:spPr>
            <a:xfrm>
              <a:off x="400581" y="5589240"/>
              <a:ext cx="1781841" cy="880699"/>
            </a:xfrm>
            <a:prstGeom prst="flowChartExtract">
              <a:avLst/>
            </a:pr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80000">
                  <a:schemeClr val="dk1">
                    <a:shade val="93000"/>
                    <a:satMod val="130000"/>
                  </a:schemeClr>
                </a:gs>
                <a:gs pos="100000">
                  <a:schemeClr val="dk1">
                    <a:shade val="94000"/>
                    <a:satMod val="135000"/>
                  </a:schemeClr>
                </a:gs>
              </a:gsLst>
            </a:gradFill>
            <a:scene3d>
              <a:camera prst="orthographicFront">
                <a:rot lat="0" lon="0" rev="0"/>
              </a:camera>
              <a:lightRig rig="threePt" dir="t"/>
            </a:scene3d>
            <a:sp3d>
              <a:bevelT w="101600" h="4445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 b="1"/>
            </a:p>
          </p:txBody>
        </p:sp>
        <p:sp>
          <p:nvSpPr>
            <p:cNvPr id="44" name="テキスト ボックス 780"/>
            <p:cNvSpPr txBox="1"/>
            <p:nvPr/>
          </p:nvSpPr>
          <p:spPr>
            <a:xfrm>
              <a:off x="315358" y="6021288"/>
              <a:ext cx="2024394" cy="40114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END</a:t>
              </a:r>
              <a:endParaRPr kumimoji="1"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cxnSp>
        <p:nvCxnSpPr>
          <p:cNvPr id="45" name="直線コネクタ 44"/>
          <p:cNvCxnSpPr/>
          <p:nvPr/>
        </p:nvCxnSpPr>
        <p:spPr>
          <a:xfrm>
            <a:off x="548588" y="5445224"/>
            <a:ext cx="810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>
            <a:off x="548588" y="1201381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72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8" grpId="0" animBg="1"/>
      <p:bldP spid="29" grpId="0" animBg="1"/>
      <p:bldP spid="30" grpId="0" animBg="1"/>
      <p:bldP spid="34" grpId="0" animBg="1"/>
      <p:bldP spid="37" grpId="0" animBg="1"/>
      <p:bldP spid="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グループワーク説明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６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流れとルール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2294" name="テキスト ボックス 1"/>
          <p:cNvSpPr txBox="1">
            <a:spLocks noChangeArrowheads="1"/>
          </p:cNvSpPr>
          <p:nvPr/>
        </p:nvSpPr>
        <p:spPr bwMode="auto">
          <a:xfrm>
            <a:off x="467545" y="1340768"/>
            <a:ext cx="8208144" cy="5053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①問題説明</a:t>
            </a: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②フローチャートパズル開始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(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制限時間あり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)</a:t>
            </a: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③発表</a:t>
            </a: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④解説</a:t>
            </a: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創英角ｺﾞｼｯｸUB" pitchFamily="49" charset="-128"/>
                <a:ea typeface="HG創英角ｺﾞｼｯｸUB" pitchFamily="49" charset="-128"/>
              </a:rPr>
              <a:t>⑤</a:t>
            </a:r>
            <a:r>
              <a:rPr lang="en-US" altLang="ja-JP" dirty="0" smtClean="0">
                <a:latin typeface="HG創英角ｺﾞｼｯｸUB" pitchFamily="49" charset="-128"/>
                <a:ea typeface="HG創英角ｺﾞｼｯｸUB" pitchFamily="49" charset="-128"/>
              </a:rPr>
              <a:t>【</a:t>
            </a:r>
            <a:r>
              <a:rPr lang="ja-JP" altLang="en-US" dirty="0" smtClean="0">
                <a:latin typeface="HG創英角ｺﾞｼｯｸUB" pitchFamily="49" charset="-128"/>
                <a:ea typeface="HG創英角ｺﾞｼｯｸUB" pitchFamily="49" charset="-128"/>
              </a:rPr>
              <a:t>正答数</a:t>
            </a:r>
            <a:r>
              <a:rPr lang="ja-JP" altLang="en-US" dirty="0">
                <a:latin typeface="HG創英角ｺﾞｼｯｸUB" pitchFamily="49" charset="-128"/>
                <a:ea typeface="HG創英角ｺﾞｼｯｸUB" pitchFamily="49" charset="-128"/>
              </a:rPr>
              <a:t>、使用枚数</a:t>
            </a:r>
            <a:r>
              <a:rPr lang="ja-JP" altLang="en-US" dirty="0" smtClean="0">
                <a:latin typeface="HG創英角ｺﾞｼｯｸUB" pitchFamily="49" charset="-128"/>
                <a:ea typeface="HG創英角ｺﾞｼｯｸUB" pitchFamily="49" charset="-128"/>
              </a:rPr>
              <a:t>メモ</a:t>
            </a:r>
            <a:r>
              <a:rPr lang="en-US" altLang="ja-JP" dirty="0" smtClean="0">
                <a:latin typeface="HG創英角ｺﾞｼｯｸUB" pitchFamily="49" charset="-128"/>
                <a:ea typeface="HG創英角ｺﾞｼｯｸUB" pitchFamily="49" charset="-128"/>
              </a:rPr>
              <a:t>】</a:t>
            </a:r>
            <a:r>
              <a:rPr lang="ja-JP" altLang="en-US" dirty="0" smtClean="0">
                <a:latin typeface="HG創英角ｺﾞｼｯｸUB" pitchFamily="49" charset="-128"/>
                <a:ea typeface="HG創英角ｺﾞｼｯｸUB" pitchFamily="49" charset="-128"/>
              </a:rPr>
              <a:t>各自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記入</a:t>
            </a:r>
            <a:endParaRPr lang="en-US" altLang="ja-JP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⑥ピース片付け、席移動</a:t>
            </a:r>
            <a:endParaRPr lang="en-US" altLang="ja-JP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16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None/>
            </a:pPr>
            <a:r>
              <a:rPr lang="ja-JP" altLang="en-US" sz="3600" dirty="0">
                <a:latin typeface="HGP創英角ｺﾞｼｯｸUB" pitchFamily="50" charset="-128"/>
                <a:ea typeface="HGP創英角ｺﾞｼｯｸUB" pitchFamily="50" charset="-128"/>
              </a:rPr>
              <a:t>正答数</a:t>
            </a:r>
            <a:r>
              <a:rPr lang="ja-JP" altLang="en-US" sz="3600" dirty="0" smtClean="0">
                <a:latin typeface="HGP創英角ｺﾞｼｯｸUB" pitchFamily="50" charset="-128"/>
                <a:ea typeface="HGP創英角ｺﾞｼｯｸUB" pitchFamily="50" charset="-128"/>
              </a:rPr>
              <a:t>が最も多い人の中で、使用枚数が最も少ない人が勝利です。</a:t>
            </a:r>
            <a:endParaRPr lang="en-US" altLang="ja-JP" sz="3600" dirty="0" smtClean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1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課題１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制限時間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4342" name="テキスト ボックス 1"/>
          <p:cNvSpPr txBox="1">
            <a:spLocks noChangeArrowheads="1"/>
          </p:cNvSpPr>
          <p:nvPr/>
        </p:nvSpPr>
        <p:spPr bwMode="auto">
          <a:xfrm>
            <a:off x="468313" y="1743075"/>
            <a:ext cx="842486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制限時間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は</a:t>
            </a:r>
            <a:r>
              <a:rPr lang="ja-JP" altLang="en-US" sz="50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５分間</a:t>
            </a: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です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。</a:t>
            </a:r>
            <a:endParaRPr lang="en-US" altLang="ja-JP" sz="50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507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課題１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問題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3318" name="テキスト ボックス 1"/>
          <p:cNvSpPr txBox="1">
            <a:spLocks noChangeArrowheads="1"/>
          </p:cNvSpPr>
          <p:nvPr/>
        </p:nvSpPr>
        <p:spPr bwMode="auto">
          <a:xfrm>
            <a:off x="323528" y="1268760"/>
            <a:ext cx="8496943" cy="496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600" dirty="0">
                <a:latin typeface="HGP創英角ｺﾞｼｯｸUB" pitchFamily="50" charset="-128"/>
                <a:ea typeface="HGP創英角ｺﾞｼｯｸUB" pitchFamily="50" charset="-128"/>
              </a:rPr>
              <a:t>入力された数値が偶数の場合は「偶数です」と表示し、そうでない場合には「奇数です」と表示するフローチャートパズルを完成</a:t>
            </a:r>
            <a:r>
              <a:rPr lang="ja-JP" altLang="en-US" sz="3600" dirty="0" smtClean="0">
                <a:latin typeface="HGP創英角ｺﾞｼｯｸUB" pitchFamily="50" charset="-128"/>
                <a:ea typeface="HGP創英角ｺﾞｼｯｸUB" pitchFamily="50" charset="-128"/>
              </a:rPr>
              <a:t>させましょう。</a:t>
            </a:r>
            <a:endParaRPr lang="en-US" altLang="ja-JP" sz="36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16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【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ヒント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】</a:t>
            </a:r>
          </a:p>
          <a:p>
            <a:pPr>
              <a:buFontTx/>
              <a:buNone/>
            </a:pP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演算子「％」は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余り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を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求めます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。</a:t>
            </a:r>
            <a:endParaRPr lang="en-US" altLang="ja-JP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例）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3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％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2=1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　（解説：３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÷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２の余りは１）</a:t>
            </a:r>
            <a:endParaRPr lang="en-US" altLang="ja-JP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None/>
            </a:pPr>
            <a:r>
              <a:rPr lang="ja-JP" altLang="en-US" dirty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例</a:t>
            </a:r>
            <a:r>
              <a:rPr lang="ja-JP" altLang="en-US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）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4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％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2=0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　（解説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：４</a:t>
            </a:r>
            <a:r>
              <a:rPr lang="en-US" altLang="ja-JP" dirty="0" smtClean="0">
                <a:latin typeface="HGP創英角ｺﾞｼｯｸUB" pitchFamily="50" charset="-128"/>
                <a:ea typeface="HGP創英角ｺﾞｼｯｸUB" pitchFamily="50" charset="-128"/>
              </a:rPr>
              <a:t>÷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２の余り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は０）</a:t>
            </a: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1452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課題１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発表</a:t>
            </a:r>
          </a:p>
        </p:txBody>
      </p:sp>
      <p:sp>
        <p:nvSpPr>
          <p:cNvPr id="5" name="テキスト ボックス 1"/>
          <p:cNvSpPr txBox="1">
            <a:spLocks noChangeArrowheads="1"/>
          </p:cNvSpPr>
          <p:nvPr/>
        </p:nvSpPr>
        <p:spPr bwMode="auto">
          <a:xfrm>
            <a:off x="611188" y="1712913"/>
            <a:ext cx="7993062" cy="45243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発表</a:t>
            </a:r>
            <a:endParaRPr lang="en-US" altLang="ja-JP" sz="6600" dirty="0" smtClean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3</a:t>
            </a:r>
            <a:r>
              <a:rPr lang="ja-JP" altLang="en-US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分間</a:t>
            </a:r>
            <a:endParaRPr lang="en-US" altLang="ja-JP" sz="6600" dirty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473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 dirty="0">
              <a:latin typeface="Arial" charset="0"/>
            </a:endParaRPr>
          </a:p>
        </p:txBody>
      </p:sp>
      <p:grpSp>
        <p:nvGrpSpPr>
          <p:cNvPr id="14" name="グループ化 13"/>
          <p:cNvGrpSpPr/>
          <p:nvPr/>
        </p:nvGrpSpPr>
        <p:grpSpPr>
          <a:xfrm>
            <a:off x="323528" y="332656"/>
            <a:ext cx="1845097" cy="796716"/>
            <a:chOff x="323528" y="332656"/>
            <a:chExt cx="1845097" cy="796716"/>
          </a:xfrm>
        </p:grpSpPr>
        <p:sp>
          <p:nvSpPr>
            <p:cNvPr id="5" name="フローチャート : 抜出し 4"/>
            <p:cNvSpPr/>
            <p:nvPr/>
          </p:nvSpPr>
          <p:spPr>
            <a:xfrm rot="10800000">
              <a:off x="400582" y="332656"/>
              <a:ext cx="1624025" cy="796716"/>
            </a:xfrm>
            <a:prstGeom prst="flowChartExtract">
              <a:avLst/>
            </a:pr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80000">
                  <a:schemeClr val="dk1">
                    <a:shade val="93000"/>
                    <a:satMod val="130000"/>
                  </a:schemeClr>
                </a:gs>
                <a:gs pos="100000">
                  <a:schemeClr val="dk1">
                    <a:shade val="94000"/>
                    <a:satMod val="135000"/>
                  </a:schemeClr>
                </a:gs>
              </a:gsLst>
            </a:gradFill>
            <a:scene3d>
              <a:camera prst="orthographicFront">
                <a:rot lat="0" lon="0" rev="0"/>
              </a:camera>
              <a:lightRig rig="threePt" dir="t"/>
            </a:scene3d>
            <a:sp3d>
              <a:bevelT w="101600" h="4445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 b="1"/>
            </a:p>
          </p:txBody>
        </p:sp>
        <p:sp>
          <p:nvSpPr>
            <p:cNvPr id="6" name="テキスト ボックス 779"/>
            <p:cNvSpPr txBox="1"/>
            <p:nvPr/>
          </p:nvSpPr>
          <p:spPr>
            <a:xfrm>
              <a:off x="323528" y="403715"/>
              <a:ext cx="1845097" cy="36561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18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SATRT</a:t>
              </a:r>
              <a:endParaRPr kumimoji="1" lang="ja-JP" altLang="en-US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54" y="1201380"/>
            <a:ext cx="1476482" cy="1476482"/>
          </a:xfrm>
          <a:prstGeom prst="rect">
            <a:avLst/>
          </a:prstGeom>
        </p:spPr>
      </p:pic>
      <p:sp>
        <p:nvSpPr>
          <p:cNvPr id="9" name="円/楕円 8"/>
          <p:cNvSpPr/>
          <p:nvPr/>
        </p:nvSpPr>
        <p:spPr>
          <a:xfrm>
            <a:off x="1979712" y="1489412"/>
            <a:ext cx="936104" cy="93610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600" b="1" dirty="0"/>
              <a:t>＝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3178406" y="1440851"/>
            <a:ext cx="1440160" cy="99691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  <p:grpSp>
        <p:nvGrpSpPr>
          <p:cNvPr id="2" name="グループ化 1"/>
          <p:cNvGrpSpPr/>
          <p:nvPr/>
        </p:nvGrpSpPr>
        <p:grpSpPr>
          <a:xfrm>
            <a:off x="386784" y="2677863"/>
            <a:ext cx="1709833" cy="1195360"/>
            <a:chOff x="386784" y="2677863"/>
            <a:chExt cx="1709833" cy="1195360"/>
          </a:xfrm>
        </p:grpSpPr>
        <p:cxnSp>
          <p:nvCxnSpPr>
            <p:cNvPr id="11" name="曲線コネクタ 10"/>
            <p:cNvCxnSpPr>
              <a:stCxn id="7" idx="2"/>
              <a:endCxn id="12" idx="3"/>
            </p:cNvCxnSpPr>
            <p:nvPr/>
          </p:nvCxnSpPr>
          <p:spPr>
            <a:xfrm rot="5400000">
              <a:off x="471223" y="2836272"/>
              <a:ext cx="899782" cy="582963"/>
            </a:xfrm>
            <a:prstGeom prst="curvedConnector3">
              <a:avLst>
                <a:gd name="adj1" fmla="val 50000"/>
              </a:avLst>
            </a:prstGeom>
            <a:ln w="3810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二等辺三角形 11"/>
            <p:cNvSpPr/>
            <p:nvPr/>
          </p:nvSpPr>
          <p:spPr>
            <a:xfrm rot="10800000">
              <a:off x="386784" y="3577644"/>
              <a:ext cx="485697" cy="295579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13" name="曲線コネクタ 12"/>
            <p:cNvCxnSpPr>
              <a:endCxn id="17" idx="3"/>
            </p:cNvCxnSpPr>
            <p:nvPr/>
          </p:nvCxnSpPr>
          <p:spPr>
            <a:xfrm rot="16200000" flipH="1">
              <a:off x="1112249" y="2828577"/>
              <a:ext cx="892229" cy="590809"/>
            </a:xfrm>
            <a:prstGeom prst="curvedConnector3">
              <a:avLst>
                <a:gd name="adj1" fmla="val 50000"/>
              </a:avLst>
            </a:prstGeom>
            <a:ln w="3810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テキスト ボックス 2067"/>
            <p:cNvSpPr txBox="1"/>
            <p:nvPr/>
          </p:nvSpPr>
          <p:spPr>
            <a:xfrm>
              <a:off x="710087" y="2954996"/>
              <a:ext cx="1038774" cy="21819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400" b="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「○○」の場合</a:t>
              </a:r>
            </a:p>
          </p:txBody>
        </p:sp>
        <p:sp>
          <p:nvSpPr>
            <p:cNvPr id="17" name="二等辺三角形 16"/>
            <p:cNvSpPr/>
            <p:nvPr/>
          </p:nvSpPr>
          <p:spPr>
            <a:xfrm rot="10800000">
              <a:off x="1610920" y="3570097"/>
              <a:ext cx="485697" cy="295579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</p:grpSp>
      <p:pic>
        <p:nvPicPr>
          <p:cNvPr id="27" name="図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056" y="2600590"/>
            <a:ext cx="1476482" cy="1476482"/>
          </a:xfrm>
          <a:prstGeom prst="rect">
            <a:avLst/>
          </a:prstGeom>
        </p:spPr>
      </p:pic>
      <p:sp>
        <p:nvSpPr>
          <p:cNvPr id="28" name="円/楕円 27"/>
          <p:cNvSpPr/>
          <p:nvPr/>
        </p:nvSpPr>
        <p:spPr>
          <a:xfrm>
            <a:off x="3645311" y="2852936"/>
            <a:ext cx="936104" cy="93610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600" b="1" dirty="0"/>
              <a:t>＝</a:t>
            </a:r>
          </a:p>
        </p:txBody>
      </p:sp>
      <p:sp>
        <p:nvSpPr>
          <p:cNvPr id="29" name="正方形/長方形 28"/>
          <p:cNvSpPr/>
          <p:nvPr/>
        </p:nvSpPr>
        <p:spPr>
          <a:xfrm>
            <a:off x="4832921" y="2814293"/>
            <a:ext cx="1431445" cy="9747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0" name="ストライプ矢印 29"/>
          <p:cNvSpPr/>
          <p:nvPr/>
        </p:nvSpPr>
        <p:spPr>
          <a:xfrm>
            <a:off x="395537" y="4077072"/>
            <a:ext cx="1215384" cy="1129373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/>
              <a:t>YES</a:t>
            </a:r>
            <a:endParaRPr kumimoji="1" lang="ja-JP" altLang="en-US" sz="2800" b="1" dirty="0"/>
          </a:p>
        </p:txBody>
      </p:sp>
      <p:cxnSp>
        <p:nvCxnSpPr>
          <p:cNvPr id="26" name="直線コネクタ 25"/>
          <p:cNvCxnSpPr/>
          <p:nvPr/>
        </p:nvCxnSpPr>
        <p:spPr>
          <a:xfrm>
            <a:off x="548588" y="2564904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>
            <a:off x="548588" y="4005064"/>
            <a:ext cx="810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円形吹き出し 33"/>
          <p:cNvSpPr/>
          <p:nvPr/>
        </p:nvSpPr>
        <p:spPr>
          <a:xfrm>
            <a:off x="1691680" y="4149080"/>
            <a:ext cx="1486726" cy="1007327"/>
          </a:xfrm>
          <a:prstGeom prst="wedgeEllipseCallout">
            <a:avLst>
              <a:gd name="adj1" fmla="val 49019"/>
              <a:gd name="adj2" fmla="val 44832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偶数です</a:t>
            </a:r>
            <a:endParaRPr kumimoji="1"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2987824" y="4077072"/>
            <a:ext cx="1420542" cy="1180872"/>
            <a:chOff x="2987824" y="4077072"/>
            <a:chExt cx="1420542" cy="1180872"/>
          </a:xfrm>
        </p:grpSpPr>
        <p:sp>
          <p:nvSpPr>
            <p:cNvPr id="35" name="二等辺三角形 34"/>
            <p:cNvSpPr/>
            <p:nvPr/>
          </p:nvSpPr>
          <p:spPr>
            <a:xfrm rot="5400000">
              <a:off x="3251675" y="4101253"/>
              <a:ext cx="1180872" cy="1132510"/>
            </a:xfrm>
            <a:prstGeom prst="triangle">
              <a:avLst/>
            </a:prstGeom>
            <a:scene3d>
              <a:camera prst="orthographicFront">
                <a:rot lat="0" lon="0" rev="0"/>
              </a:camera>
              <a:lightRig rig="harsh" dir="t"/>
            </a:scene3d>
            <a:sp3d>
              <a:bevelT w="127000" h="50800"/>
              <a:contourClr>
                <a:schemeClr val="tx1">
                  <a:lumMod val="65000"/>
                  <a:lumOff val="35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36" name="テキスト ボックス 1011"/>
            <p:cNvSpPr txBox="1"/>
            <p:nvPr/>
          </p:nvSpPr>
          <p:spPr>
            <a:xfrm>
              <a:off x="2987824" y="4494206"/>
              <a:ext cx="1346114" cy="34660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を表示</a:t>
              </a:r>
            </a:p>
          </p:txBody>
        </p:sp>
      </p:grpSp>
      <p:sp>
        <p:nvSpPr>
          <p:cNvPr id="37" name="ストライプ矢印 36"/>
          <p:cNvSpPr/>
          <p:nvPr/>
        </p:nvSpPr>
        <p:spPr>
          <a:xfrm>
            <a:off x="4499992" y="4110243"/>
            <a:ext cx="1224136" cy="1114529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/>
              <a:t>NO</a:t>
            </a:r>
            <a:endParaRPr kumimoji="1" lang="ja-JP" altLang="en-US" sz="2800" b="1" dirty="0"/>
          </a:p>
        </p:txBody>
      </p:sp>
      <p:sp>
        <p:nvSpPr>
          <p:cNvPr id="38" name="円形吹き出し 37"/>
          <p:cNvSpPr/>
          <p:nvPr/>
        </p:nvSpPr>
        <p:spPr>
          <a:xfrm>
            <a:off x="5811656" y="4110336"/>
            <a:ext cx="1549359" cy="1062844"/>
          </a:xfrm>
          <a:prstGeom prst="wedgeEllipseCallout">
            <a:avLst>
              <a:gd name="adj1" fmla="val 41130"/>
              <a:gd name="adj2" fmla="val 44745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奇数</a:t>
            </a:r>
            <a:r>
              <a:rPr lang="ja-JP" altLang="en-US" sz="20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です</a:t>
            </a:r>
            <a:endParaRPr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4" name="グループ化 3"/>
          <p:cNvGrpSpPr/>
          <p:nvPr/>
        </p:nvGrpSpPr>
        <p:grpSpPr>
          <a:xfrm>
            <a:off x="7164288" y="4051322"/>
            <a:ext cx="1426111" cy="1180872"/>
            <a:chOff x="7164288" y="4051322"/>
            <a:chExt cx="1426111" cy="1180872"/>
          </a:xfrm>
        </p:grpSpPr>
        <p:sp>
          <p:nvSpPr>
            <p:cNvPr id="39" name="二等辺三角形 38"/>
            <p:cNvSpPr/>
            <p:nvPr/>
          </p:nvSpPr>
          <p:spPr>
            <a:xfrm rot="5400000">
              <a:off x="7433708" y="4075503"/>
              <a:ext cx="1180872" cy="1132510"/>
            </a:xfrm>
            <a:prstGeom prst="triangle">
              <a:avLst/>
            </a:prstGeom>
            <a:scene3d>
              <a:camera prst="orthographicFront">
                <a:rot lat="0" lon="0" rev="0"/>
              </a:camera>
              <a:lightRig rig="harsh" dir="t"/>
            </a:scene3d>
            <a:sp3d>
              <a:bevelT w="127000" h="50800"/>
              <a:contourClr>
                <a:schemeClr val="tx1">
                  <a:lumMod val="65000"/>
                  <a:lumOff val="35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40" name="テキスト ボックス 1011"/>
            <p:cNvSpPr txBox="1"/>
            <p:nvPr/>
          </p:nvSpPr>
          <p:spPr>
            <a:xfrm>
              <a:off x="7164288" y="4468456"/>
              <a:ext cx="1346114" cy="34660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を表示</a:t>
              </a:r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315358" y="5589240"/>
            <a:ext cx="2024394" cy="880699"/>
            <a:chOff x="315358" y="5589240"/>
            <a:chExt cx="2024394" cy="880699"/>
          </a:xfrm>
        </p:grpSpPr>
        <p:sp>
          <p:nvSpPr>
            <p:cNvPr id="43" name="フローチャート : 抜出し 42"/>
            <p:cNvSpPr/>
            <p:nvPr/>
          </p:nvSpPr>
          <p:spPr>
            <a:xfrm>
              <a:off x="400581" y="5589240"/>
              <a:ext cx="1781841" cy="880699"/>
            </a:xfrm>
            <a:prstGeom prst="flowChartExtract">
              <a:avLst/>
            </a:pr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80000">
                  <a:schemeClr val="dk1">
                    <a:shade val="93000"/>
                    <a:satMod val="130000"/>
                  </a:schemeClr>
                </a:gs>
                <a:gs pos="100000">
                  <a:schemeClr val="dk1">
                    <a:shade val="94000"/>
                    <a:satMod val="135000"/>
                  </a:schemeClr>
                </a:gs>
              </a:gsLst>
            </a:gradFill>
            <a:scene3d>
              <a:camera prst="orthographicFront">
                <a:rot lat="0" lon="0" rev="0"/>
              </a:camera>
              <a:lightRig rig="threePt" dir="t"/>
            </a:scene3d>
            <a:sp3d>
              <a:bevelT w="101600" h="4445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 b="1"/>
            </a:p>
          </p:txBody>
        </p:sp>
        <p:sp>
          <p:nvSpPr>
            <p:cNvPr id="44" name="テキスト ボックス 780"/>
            <p:cNvSpPr txBox="1"/>
            <p:nvPr/>
          </p:nvSpPr>
          <p:spPr>
            <a:xfrm>
              <a:off x="315358" y="6021288"/>
              <a:ext cx="2024394" cy="40114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END</a:t>
              </a:r>
              <a:endParaRPr kumimoji="1" lang="ja-JP" altLang="en-US" sz="2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cxnSp>
        <p:nvCxnSpPr>
          <p:cNvPr id="45" name="直線コネクタ 44"/>
          <p:cNvCxnSpPr/>
          <p:nvPr/>
        </p:nvCxnSpPr>
        <p:spPr>
          <a:xfrm>
            <a:off x="548588" y="5445224"/>
            <a:ext cx="810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>
            <a:off x="548588" y="1201381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円/楕円 30"/>
          <p:cNvSpPr/>
          <p:nvPr/>
        </p:nvSpPr>
        <p:spPr>
          <a:xfrm>
            <a:off x="4832921" y="1477507"/>
            <a:ext cx="978735" cy="948009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6000" b="1" dirty="0"/>
              <a:t>％</a:t>
            </a:r>
          </a:p>
        </p:txBody>
      </p:sp>
      <p:sp>
        <p:nvSpPr>
          <p:cNvPr id="32" name="正方形/長方形 31"/>
          <p:cNvSpPr/>
          <p:nvPr/>
        </p:nvSpPr>
        <p:spPr>
          <a:xfrm>
            <a:off x="6026444" y="1464137"/>
            <a:ext cx="1431445" cy="9747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329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8" grpId="0" animBg="1"/>
      <p:bldP spid="29" grpId="0" animBg="1"/>
      <p:bldP spid="30" grpId="0" animBg="1"/>
      <p:bldP spid="34" grpId="0" animBg="1"/>
      <p:bldP spid="37" grpId="0" animBg="1"/>
      <p:bldP spid="38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席移動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" name="テキスト ボックス 1"/>
          <p:cNvSpPr txBox="1">
            <a:spLocks noChangeArrowheads="1"/>
          </p:cNvSpPr>
          <p:nvPr/>
        </p:nvSpPr>
        <p:spPr bwMode="auto">
          <a:xfrm>
            <a:off x="611188" y="1712913"/>
            <a:ext cx="7993062" cy="45243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パズルのピースを片付けてください。</a:t>
            </a:r>
            <a:endParaRPr lang="en-US" altLang="ja-JP" sz="3600" dirty="0" smtClean="0">
              <a:solidFill>
                <a:schemeClr val="bg1"/>
              </a:solidFill>
              <a:latin typeface="HG創英角ｺﾞｼｯｸUB" pitchFamily="49" charset="-128"/>
              <a:ea typeface="HG創英角ｺﾞｼｯｸUB" pitchFamily="49" charset="-128"/>
            </a:endParaRPr>
          </a:p>
          <a:p>
            <a:pPr algn="ctr" eaLnBrk="1" hangingPunct="1">
              <a:spcBef>
                <a:spcPct val="50000"/>
              </a:spcBef>
              <a:buNone/>
            </a:pPr>
            <a:r>
              <a:rPr lang="en-US" altLang="ja-JP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【</a:t>
            </a: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正答数</a:t>
            </a: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、使用枚数</a:t>
            </a: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メモ</a:t>
            </a:r>
            <a:r>
              <a:rPr lang="en-US" altLang="ja-JP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】</a:t>
            </a: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を記入し、</a:t>
            </a:r>
            <a:endParaRPr lang="ja-JP" altLang="en-US" sz="3600" dirty="0">
              <a:solidFill>
                <a:schemeClr val="bg1"/>
              </a:solidFill>
              <a:latin typeface="HG創英角ｺﾞｼｯｸUB" pitchFamily="49" charset="-128"/>
              <a:ea typeface="HG創英角ｺﾞｼｯｸUB" pitchFamily="49" charset="-128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48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席を移動してください。</a:t>
            </a:r>
            <a:endParaRPr lang="en-US" altLang="ja-JP" sz="4800" dirty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697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課題２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制限時間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4342" name="テキスト ボックス 1"/>
          <p:cNvSpPr txBox="1">
            <a:spLocks noChangeArrowheads="1"/>
          </p:cNvSpPr>
          <p:nvPr/>
        </p:nvSpPr>
        <p:spPr bwMode="auto">
          <a:xfrm>
            <a:off x="468313" y="1743075"/>
            <a:ext cx="842486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制限時間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は</a:t>
            </a:r>
            <a:r>
              <a:rPr lang="ja-JP" altLang="en-US" sz="50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１２分間</a:t>
            </a: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です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。</a:t>
            </a:r>
            <a:endParaRPr lang="en-US" altLang="ja-JP" sz="50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973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課題２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問題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3318" name="テキスト ボックス 1"/>
          <p:cNvSpPr txBox="1">
            <a:spLocks noChangeArrowheads="1"/>
          </p:cNvSpPr>
          <p:nvPr/>
        </p:nvSpPr>
        <p:spPr bwMode="auto">
          <a:xfrm>
            <a:off x="204788" y="1268760"/>
            <a:ext cx="8713787" cy="529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入力された数値が</a:t>
            </a:r>
            <a:r>
              <a:rPr lang="en-US" altLang="ja-JP" sz="2800" dirty="0">
                <a:latin typeface="HGP創英角ｺﾞｼｯｸUB" pitchFamily="50" charset="-128"/>
                <a:ea typeface="HGP創英角ｺﾞｼｯｸUB" pitchFamily="50" charset="-128"/>
              </a:rPr>
              <a:t>3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の倍数の場合は「</a:t>
            </a:r>
            <a:r>
              <a:rPr lang="en-US" altLang="ja-JP" sz="2800" dirty="0">
                <a:latin typeface="HGP創英角ｺﾞｼｯｸUB" pitchFamily="50" charset="-128"/>
                <a:ea typeface="HGP創英角ｺﾞｼｯｸUB" pitchFamily="50" charset="-128"/>
              </a:rPr>
              <a:t>3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の倍数です」</a:t>
            </a:r>
            <a:r>
              <a:rPr lang="ja-JP" altLang="en-US" sz="2800" dirty="0" smtClean="0">
                <a:latin typeface="HGP創英角ｺﾞｼｯｸUB" pitchFamily="50" charset="-128"/>
                <a:ea typeface="HGP創英角ｺﾞｼｯｸUB" pitchFamily="50" charset="-128"/>
              </a:rPr>
              <a:t>と</a:t>
            </a:r>
            <a:endParaRPr lang="en-US" altLang="ja-JP" sz="28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800" dirty="0" smtClean="0">
                <a:latin typeface="HGP創英角ｺﾞｼｯｸUB" pitchFamily="50" charset="-128"/>
                <a:ea typeface="HGP創英角ｺﾞｼｯｸUB" pitchFamily="50" charset="-128"/>
              </a:rPr>
              <a:t>表示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する</a:t>
            </a:r>
            <a:r>
              <a:rPr lang="ja-JP" altLang="en-US" sz="2800" dirty="0" smtClean="0">
                <a:latin typeface="HGP創英角ｺﾞｼｯｸUB" pitchFamily="50" charset="-128"/>
                <a:ea typeface="HGP創英角ｺﾞｼｯｸUB" pitchFamily="50" charset="-128"/>
              </a:rPr>
              <a:t>が、</a:t>
            </a:r>
            <a:r>
              <a:rPr lang="en-US" altLang="ja-JP" sz="2800" dirty="0" smtClean="0">
                <a:latin typeface="HGP創英角ｺﾞｼｯｸUB" pitchFamily="50" charset="-128"/>
                <a:ea typeface="HGP創英角ｺﾞｼｯｸUB" pitchFamily="50" charset="-128"/>
              </a:rPr>
              <a:t>6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の倍数の場合は「</a:t>
            </a:r>
            <a:r>
              <a:rPr lang="en-US" altLang="ja-JP" sz="2800" dirty="0">
                <a:latin typeface="HGP創英角ｺﾞｼｯｸUB" pitchFamily="50" charset="-128"/>
                <a:ea typeface="HGP創英角ｺﾞｼｯｸUB" pitchFamily="50" charset="-128"/>
              </a:rPr>
              <a:t>6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の倍数です」と</a:t>
            </a:r>
            <a:r>
              <a:rPr lang="ja-JP" altLang="en-US" sz="2800" dirty="0" smtClean="0">
                <a:latin typeface="HGP創英角ｺﾞｼｯｸUB" pitchFamily="50" charset="-128"/>
                <a:ea typeface="HGP創英角ｺﾞｼｯｸUB" pitchFamily="50" charset="-128"/>
              </a:rPr>
              <a:t>表示する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フローチャートパズルを完成</a:t>
            </a:r>
            <a:r>
              <a:rPr lang="ja-JP" altLang="en-US" sz="2800" dirty="0" smtClean="0">
                <a:latin typeface="HGP創英角ｺﾞｼｯｸUB" pitchFamily="50" charset="-128"/>
                <a:ea typeface="HGP創英角ｺﾞｼｯｸUB" pitchFamily="50" charset="-128"/>
              </a:rPr>
              <a:t>させましょう。</a:t>
            </a:r>
            <a:endParaRPr lang="en-US" altLang="ja-JP" sz="28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なお、</a:t>
            </a:r>
            <a:r>
              <a:rPr lang="en-US" altLang="ja-JP" sz="2800" dirty="0">
                <a:latin typeface="HGP創英角ｺﾞｼｯｸUB" pitchFamily="50" charset="-128"/>
                <a:ea typeface="HGP創英角ｺﾞｼｯｸUB" pitchFamily="50" charset="-128"/>
              </a:rPr>
              <a:t>3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の倍数でも</a:t>
            </a:r>
            <a:r>
              <a:rPr lang="en-US" altLang="ja-JP" sz="2800" dirty="0">
                <a:latin typeface="HGP創英角ｺﾞｼｯｸUB" pitchFamily="50" charset="-128"/>
                <a:ea typeface="HGP創英角ｺﾞｼｯｸUB" pitchFamily="50" charset="-128"/>
              </a:rPr>
              <a:t>6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の倍数でもない場合は、なにも表示</a:t>
            </a:r>
            <a:r>
              <a:rPr lang="ja-JP" altLang="en-US" sz="2800" dirty="0" smtClean="0">
                <a:latin typeface="HGP創英角ｺﾞｼｯｸUB" pitchFamily="50" charset="-128"/>
                <a:ea typeface="HGP創英角ｺﾞｼｯｸUB" pitchFamily="50" charset="-128"/>
              </a:rPr>
              <a:t>しないこと。</a:t>
            </a:r>
            <a:endParaRPr lang="en-US" altLang="ja-JP" sz="28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olidFill>
                  <a:srgbClr val="FF0000"/>
                </a:solidFill>
                <a:latin typeface="HGP創英角ｺﾞｼｯｸUB" pitchFamily="50" charset="-128"/>
                <a:ea typeface="HGP創英角ｺﾞｼｯｸUB" pitchFamily="50" charset="-128"/>
              </a:rPr>
              <a:t>※</a:t>
            </a:r>
            <a:r>
              <a:rPr lang="ja-JP" altLang="en-US" sz="2800" dirty="0" smtClean="0">
                <a:solidFill>
                  <a:srgbClr val="FF0000"/>
                </a:solidFill>
                <a:latin typeface="HGP創英角ｺﾞｼｯｸUB" pitchFamily="50" charset="-128"/>
                <a:ea typeface="HGP創英角ｺﾞｼｯｸUB" pitchFamily="50" charset="-128"/>
              </a:rPr>
              <a:t>ただし、「入力された数値」は</a:t>
            </a:r>
            <a:r>
              <a:rPr lang="en-US" altLang="ja-JP" sz="2800" dirty="0" smtClean="0">
                <a:solidFill>
                  <a:srgbClr val="FF0000"/>
                </a:solidFill>
                <a:latin typeface="HGP創英角ｺﾞｼｯｸUB" pitchFamily="50" charset="-128"/>
                <a:ea typeface="HGP創英角ｺﾞｼｯｸUB" pitchFamily="50" charset="-128"/>
              </a:rPr>
              <a:t>1</a:t>
            </a:r>
            <a:r>
              <a:rPr lang="ja-JP" altLang="en-US" sz="2800" dirty="0" smtClean="0">
                <a:solidFill>
                  <a:srgbClr val="FF0000"/>
                </a:solidFill>
                <a:latin typeface="HGP創英角ｺﾞｼｯｸUB" pitchFamily="50" charset="-128"/>
                <a:ea typeface="HGP創英角ｺﾞｼｯｸUB" pitchFamily="50" charset="-128"/>
              </a:rPr>
              <a:t>以上であることとする。</a:t>
            </a:r>
            <a:endParaRPr lang="en-US" altLang="ja-JP" sz="2800" dirty="0" smtClean="0">
              <a:solidFill>
                <a:srgbClr val="FF0000"/>
              </a:solidFill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1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en-US" altLang="ja-JP" sz="2600" dirty="0">
                <a:latin typeface="HGP創英角ｺﾞｼｯｸUB" pitchFamily="50" charset="-128"/>
                <a:ea typeface="HGP創英角ｺﾞｼｯｸUB" pitchFamily="50" charset="-128"/>
              </a:rPr>
              <a:t>【</a:t>
            </a:r>
            <a:r>
              <a:rPr lang="ja-JP" altLang="en-US" sz="2600" dirty="0" smtClean="0">
                <a:latin typeface="HGP創英角ｺﾞｼｯｸUB" pitchFamily="50" charset="-128"/>
                <a:ea typeface="HGP創英角ｺﾞｼｯｸUB" pitchFamily="50" charset="-128"/>
              </a:rPr>
              <a:t>ヒント</a:t>
            </a:r>
            <a:r>
              <a:rPr lang="en-US" altLang="ja-JP" sz="2600" dirty="0" smtClean="0">
                <a:latin typeface="HGP創英角ｺﾞｼｯｸUB" pitchFamily="50" charset="-128"/>
                <a:ea typeface="HGP創英角ｺﾞｼｯｸUB" pitchFamily="50" charset="-128"/>
              </a:rPr>
              <a:t>】</a:t>
            </a:r>
          </a:p>
          <a:p>
            <a:pPr>
              <a:buFontTx/>
              <a:buNone/>
            </a:pP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入力された数値が</a:t>
            </a:r>
            <a:r>
              <a:rPr lang="en-US" altLang="ja-JP" sz="2600" dirty="0">
                <a:latin typeface="HGP創英角ｺﾞｼｯｸUB" pitchFamily="50" charset="-128"/>
                <a:ea typeface="HGP創英角ｺﾞｼｯｸUB" pitchFamily="50" charset="-128"/>
              </a:rPr>
              <a:t>6</a:t>
            </a: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の場合は「</a:t>
            </a:r>
            <a:r>
              <a:rPr lang="en-US" altLang="ja-JP" sz="2600" dirty="0">
                <a:latin typeface="HGP創英角ｺﾞｼｯｸUB" pitchFamily="50" charset="-128"/>
                <a:ea typeface="HGP創英角ｺﾞｼｯｸUB" pitchFamily="50" charset="-128"/>
              </a:rPr>
              <a:t>6</a:t>
            </a: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の倍数です」と</a:t>
            </a:r>
            <a:r>
              <a:rPr lang="ja-JP" altLang="en-US" sz="2600" dirty="0" smtClean="0">
                <a:latin typeface="HGP創英角ｺﾞｼｯｸUB" pitchFamily="50" charset="-128"/>
                <a:ea typeface="HGP創英角ｺﾞｼｯｸUB" pitchFamily="50" charset="-128"/>
              </a:rPr>
              <a:t>表示</a:t>
            </a:r>
            <a:endParaRPr lang="en-US" altLang="ja-JP" sz="26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（</a:t>
            </a:r>
            <a:r>
              <a:rPr lang="en-US" altLang="ja-JP" sz="2600" dirty="0">
                <a:latin typeface="HGP創英角ｺﾞｼｯｸUB" pitchFamily="50" charset="-128"/>
                <a:ea typeface="HGP創英角ｺﾞｼｯｸUB" pitchFamily="50" charset="-128"/>
              </a:rPr>
              <a:t>3</a:t>
            </a: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の倍数よりも</a:t>
            </a:r>
            <a:r>
              <a:rPr lang="en-US" altLang="ja-JP" sz="2600" dirty="0">
                <a:latin typeface="HGP創英角ｺﾞｼｯｸUB" pitchFamily="50" charset="-128"/>
                <a:ea typeface="HGP創英角ｺﾞｼｯｸUB" pitchFamily="50" charset="-128"/>
              </a:rPr>
              <a:t>6</a:t>
            </a: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の倍数の方が優先されて表示される）</a:t>
            </a:r>
            <a:endParaRPr lang="en-US" altLang="ja-JP" sz="26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入力された数値が</a:t>
            </a:r>
            <a:r>
              <a:rPr lang="en-US" altLang="ja-JP" sz="2600" dirty="0">
                <a:latin typeface="HGP創英角ｺﾞｼｯｸUB" pitchFamily="50" charset="-128"/>
                <a:ea typeface="HGP創英角ｺﾞｼｯｸUB" pitchFamily="50" charset="-128"/>
              </a:rPr>
              <a:t>15</a:t>
            </a: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の場合は「</a:t>
            </a:r>
            <a:r>
              <a:rPr lang="en-US" altLang="ja-JP" sz="2600" dirty="0">
                <a:latin typeface="HGP創英角ｺﾞｼｯｸUB" pitchFamily="50" charset="-128"/>
                <a:ea typeface="HGP創英角ｺﾞｼｯｸUB" pitchFamily="50" charset="-128"/>
              </a:rPr>
              <a:t>3</a:t>
            </a:r>
            <a:r>
              <a:rPr lang="ja-JP" altLang="en-US" sz="2600" dirty="0">
                <a:latin typeface="HGP創英角ｺﾞｼｯｸUB" pitchFamily="50" charset="-128"/>
                <a:ea typeface="HGP創英角ｺﾞｼｯｸUB" pitchFamily="50" charset="-128"/>
              </a:rPr>
              <a:t>の倍数です」と表示</a:t>
            </a:r>
            <a:endParaRPr lang="en-US" altLang="ja-JP" sz="26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6173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課題２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発表</a:t>
            </a:r>
          </a:p>
        </p:txBody>
      </p:sp>
      <p:sp>
        <p:nvSpPr>
          <p:cNvPr id="5" name="テキスト ボックス 1"/>
          <p:cNvSpPr txBox="1">
            <a:spLocks noChangeArrowheads="1"/>
          </p:cNvSpPr>
          <p:nvPr/>
        </p:nvSpPr>
        <p:spPr bwMode="auto">
          <a:xfrm>
            <a:off x="611188" y="1712913"/>
            <a:ext cx="7993062" cy="45243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発表</a:t>
            </a:r>
            <a:endParaRPr lang="en-US" altLang="ja-JP" sz="6600" dirty="0" smtClean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4</a:t>
            </a:r>
            <a:r>
              <a:rPr lang="ja-JP" altLang="en-US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分間</a:t>
            </a:r>
            <a:endParaRPr lang="en-US" altLang="ja-JP" sz="6600" dirty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051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3"/>
          <p:cNvSpPr>
            <a:spLocks noChangeArrowheads="1"/>
          </p:cNvSpPr>
          <p:nvPr/>
        </p:nvSpPr>
        <p:spPr bwMode="ltGray">
          <a:xfrm>
            <a:off x="78729" y="104718"/>
            <a:ext cx="8928992" cy="663665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 dirty="0">
              <a:latin typeface="Arial" charset="0"/>
            </a:endParaRPr>
          </a:p>
        </p:txBody>
      </p:sp>
      <p:sp>
        <p:nvSpPr>
          <p:cNvPr id="5" name="フローチャート : 抜出し 4"/>
          <p:cNvSpPr/>
          <p:nvPr/>
        </p:nvSpPr>
        <p:spPr>
          <a:xfrm rot="10800000">
            <a:off x="400580" y="188640"/>
            <a:ext cx="1624025" cy="494920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6" name="テキスト ボックス 779"/>
          <p:cNvSpPr txBox="1"/>
          <p:nvPr/>
        </p:nvSpPr>
        <p:spPr>
          <a:xfrm>
            <a:off x="278631" y="183063"/>
            <a:ext cx="1845097" cy="3656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SATRT</a:t>
            </a:r>
            <a:endParaRPr kumimoji="1"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755568"/>
            <a:ext cx="1165496" cy="1165496"/>
          </a:xfrm>
          <a:prstGeom prst="rect">
            <a:avLst/>
          </a:prstGeom>
        </p:spPr>
      </p:pic>
      <p:sp>
        <p:nvSpPr>
          <p:cNvPr id="9" name="円/楕円 8"/>
          <p:cNvSpPr/>
          <p:nvPr/>
        </p:nvSpPr>
        <p:spPr>
          <a:xfrm>
            <a:off x="1259632" y="971591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2123728" y="1019879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  <p:grpSp>
        <p:nvGrpSpPr>
          <p:cNvPr id="2" name="グループ化 1"/>
          <p:cNvGrpSpPr/>
          <p:nvPr/>
        </p:nvGrpSpPr>
        <p:grpSpPr>
          <a:xfrm>
            <a:off x="251520" y="1978032"/>
            <a:ext cx="1430921" cy="865767"/>
            <a:chOff x="251520" y="1978032"/>
            <a:chExt cx="1430921" cy="865767"/>
          </a:xfrm>
        </p:grpSpPr>
        <p:cxnSp>
          <p:nvCxnSpPr>
            <p:cNvPr id="11" name="曲線コネクタ 10"/>
            <p:cNvCxnSpPr>
              <a:endCxn id="12" idx="3"/>
            </p:cNvCxnSpPr>
            <p:nvPr/>
          </p:nvCxnSpPr>
          <p:spPr>
            <a:xfrm rot="5400000">
              <a:off x="384293" y="2094855"/>
              <a:ext cx="655618" cy="421972"/>
            </a:xfrm>
            <a:prstGeom prst="curvedConnector3">
              <a:avLst>
                <a:gd name="adj1" fmla="val 50000"/>
              </a:avLst>
            </a:prstGeom>
            <a:ln w="3175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二等辺三角形 11"/>
            <p:cNvSpPr/>
            <p:nvPr/>
          </p:nvSpPr>
          <p:spPr>
            <a:xfrm rot="10800000">
              <a:off x="251520" y="2633650"/>
              <a:ext cx="499192" cy="210149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13" name="曲線コネクタ 12"/>
            <p:cNvCxnSpPr>
              <a:endCxn id="17" idx="3"/>
            </p:cNvCxnSpPr>
            <p:nvPr/>
          </p:nvCxnSpPr>
          <p:spPr>
            <a:xfrm rot="16200000" flipH="1">
              <a:off x="875399" y="2081777"/>
              <a:ext cx="648100" cy="455699"/>
            </a:xfrm>
            <a:prstGeom prst="curvedConnector3">
              <a:avLst>
                <a:gd name="adj1" fmla="val 50000"/>
              </a:avLst>
            </a:prstGeom>
            <a:ln w="3175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テキスト ボックス 2067"/>
            <p:cNvSpPr txBox="1"/>
            <p:nvPr/>
          </p:nvSpPr>
          <p:spPr>
            <a:xfrm>
              <a:off x="403698" y="2190702"/>
              <a:ext cx="1038774" cy="21819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200" b="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「○○」の場合</a:t>
              </a:r>
            </a:p>
          </p:txBody>
        </p:sp>
        <p:sp>
          <p:nvSpPr>
            <p:cNvPr id="17" name="二等辺三角形 16"/>
            <p:cNvSpPr/>
            <p:nvPr/>
          </p:nvSpPr>
          <p:spPr>
            <a:xfrm rot="10776654">
              <a:off x="1188327" y="2633624"/>
              <a:ext cx="494114" cy="208500"/>
            </a:xfrm>
            <a:prstGeom prst="triangle">
              <a:avLst>
                <a:gd name="adj" fmla="val 51493"/>
              </a:avLst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</p:grpSp>
      <p:sp>
        <p:nvSpPr>
          <p:cNvPr id="30" name="ストライプ矢印 29"/>
          <p:cNvSpPr/>
          <p:nvPr/>
        </p:nvSpPr>
        <p:spPr>
          <a:xfrm>
            <a:off x="251520" y="3020944"/>
            <a:ext cx="914074" cy="830968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000" b="1" dirty="0"/>
              <a:t>YES</a:t>
            </a:r>
            <a:endParaRPr kumimoji="1" lang="ja-JP" altLang="en-US" sz="2000" b="1" dirty="0"/>
          </a:p>
        </p:txBody>
      </p:sp>
      <p:sp>
        <p:nvSpPr>
          <p:cNvPr id="34" name="円形吹き出し 33"/>
          <p:cNvSpPr/>
          <p:nvPr/>
        </p:nvSpPr>
        <p:spPr>
          <a:xfrm>
            <a:off x="1187624" y="3024213"/>
            <a:ext cx="1198694" cy="827699"/>
          </a:xfrm>
          <a:prstGeom prst="wedgeEllipseCallout">
            <a:avLst>
              <a:gd name="adj1" fmla="val 49019"/>
              <a:gd name="adj2" fmla="val 44832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６</a:t>
            </a:r>
            <a:r>
              <a:rPr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endParaRPr lang="en-US" altLang="ja-JP" sz="1400" b="1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倍数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です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2170898" y="2990360"/>
            <a:ext cx="1176966" cy="861551"/>
            <a:chOff x="2170898" y="2990360"/>
            <a:chExt cx="1176966" cy="861551"/>
          </a:xfrm>
        </p:grpSpPr>
        <p:sp>
          <p:nvSpPr>
            <p:cNvPr id="35" name="二等辺三角形 34"/>
            <p:cNvSpPr/>
            <p:nvPr/>
          </p:nvSpPr>
          <p:spPr>
            <a:xfrm rot="5400000">
              <a:off x="2417549" y="3056580"/>
              <a:ext cx="861551" cy="729112"/>
            </a:xfrm>
            <a:prstGeom prst="triangle">
              <a:avLst>
                <a:gd name="adj" fmla="val 48942"/>
              </a:avLst>
            </a:prstGeom>
            <a:scene3d>
              <a:camera prst="orthographicFront">
                <a:rot lat="0" lon="0" rev="0"/>
              </a:camera>
              <a:lightRig rig="harsh" dir="t"/>
            </a:scene3d>
            <a:sp3d>
              <a:bevelT w="127000" h="50800"/>
              <a:contourClr>
                <a:schemeClr val="tx1">
                  <a:lumMod val="65000"/>
                  <a:lumOff val="35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36" name="テキスト ボックス 1011"/>
            <p:cNvSpPr txBox="1"/>
            <p:nvPr/>
          </p:nvSpPr>
          <p:spPr>
            <a:xfrm>
              <a:off x="2170898" y="3310255"/>
              <a:ext cx="1176966" cy="2536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2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を表示</a:t>
              </a:r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485902" y="6181590"/>
            <a:ext cx="1696520" cy="487770"/>
            <a:chOff x="485902" y="6181590"/>
            <a:chExt cx="1696520" cy="487770"/>
          </a:xfrm>
        </p:grpSpPr>
        <p:sp>
          <p:nvSpPr>
            <p:cNvPr id="43" name="フローチャート : 抜出し 42"/>
            <p:cNvSpPr/>
            <p:nvPr/>
          </p:nvSpPr>
          <p:spPr>
            <a:xfrm>
              <a:off x="501116" y="6181590"/>
              <a:ext cx="1681306" cy="487770"/>
            </a:xfrm>
            <a:prstGeom prst="flowChartExtract">
              <a:avLst/>
            </a:pr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80000">
                  <a:schemeClr val="dk1">
                    <a:shade val="93000"/>
                    <a:satMod val="130000"/>
                  </a:schemeClr>
                </a:gs>
                <a:gs pos="100000">
                  <a:schemeClr val="dk1">
                    <a:shade val="94000"/>
                    <a:satMod val="135000"/>
                  </a:schemeClr>
                </a:gs>
              </a:gsLst>
            </a:gradFill>
            <a:scene3d>
              <a:camera prst="orthographicFront">
                <a:rot lat="0" lon="0" rev="0"/>
              </a:camera>
              <a:lightRig rig="threePt" dir="t"/>
            </a:scene3d>
            <a:sp3d>
              <a:bevelT w="101600" h="4445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 b="1"/>
            </a:p>
          </p:txBody>
        </p:sp>
        <p:sp>
          <p:nvSpPr>
            <p:cNvPr id="44" name="テキスト ボックス 780"/>
            <p:cNvSpPr txBox="1"/>
            <p:nvPr/>
          </p:nvSpPr>
          <p:spPr>
            <a:xfrm>
              <a:off x="485902" y="6337180"/>
              <a:ext cx="1696520" cy="30127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16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END</a:t>
              </a:r>
              <a:endParaRPr kumimoji="1" lang="ja-JP" altLang="en-US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sp>
        <p:nvSpPr>
          <p:cNvPr id="41" name="円/楕円 40"/>
          <p:cNvSpPr/>
          <p:nvPr/>
        </p:nvSpPr>
        <p:spPr>
          <a:xfrm>
            <a:off x="3347864" y="978275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400" b="1" dirty="0"/>
              <a:t>％</a:t>
            </a:r>
            <a:endParaRPr kumimoji="1" lang="ja-JP" altLang="en-US" sz="4400" b="1" dirty="0"/>
          </a:p>
        </p:txBody>
      </p:sp>
      <p:sp>
        <p:nvSpPr>
          <p:cNvPr id="42" name="正方形/長方形 41"/>
          <p:cNvSpPr/>
          <p:nvPr/>
        </p:nvSpPr>
        <p:spPr>
          <a:xfrm>
            <a:off x="4211960" y="1020000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55" name="直線コネクタ 54"/>
          <p:cNvCxnSpPr/>
          <p:nvPr/>
        </p:nvCxnSpPr>
        <p:spPr>
          <a:xfrm>
            <a:off x="278631" y="3995928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図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819744"/>
            <a:ext cx="1165496" cy="1165496"/>
          </a:xfrm>
          <a:prstGeom prst="rect">
            <a:avLst/>
          </a:prstGeom>
        </p:spPr>
      </p:pic>
      <p:sp>
        <p:nvSpPr>
          <p:cNvPr id="69" name="円/楕円 68"/>
          <p:cNvSpPr/>
          <p:nvPr/>
        </p:nvSpPr>
        <p:spPr>
          <a:xfrm>
            <a:off x="2699792" y="2042451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70" name="正方形/長方形 69"/>
          <p:cNvSpPr/>
          <p:nvPr/>
        </p:nvSpPr>
        <p:spPr>
          <a:xfrm>
            <a:off x="3579057" y="2084055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1" name="ストライプ矢印 70"/>
          <p:cNvSpPr/>
          <p:nvPr/>
        </p:nvSpPr>
        <p:spPr>
          <a:xfrm>
            <a:off x="3275856" y="3020944"/>
            <a:ext cx="914074" cy="830968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000" b="1" dirty="0" smtClean="0"/>
              <a:t>NO</a:t>
            </a:r>
            <a:endParaRPr kumimoji="1" lang="ja-JP" altLang="en-US" sz="2000" b="1" dirty="0"/>
          </a:p>
        </p:txBody>
      </p:sp>
      <p:sp>
        <p:nvSpPr>
          <p:cNvPr id="73" name="円/楕円 72"/>
          <p:cNvSpPr/>
          <p:nvPr/>
        </p:nvSpPr>
        <p:spPr>
          <a:xfrm>
            <a:off x="5076055" y="3131831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75" name="円/楕円 74"/>
          <p:cNvSpPr/>
          <p:nvPr/>
        </p:nvSpPr>
        <p:spPr>
          <a:xfrm>
            <a:off x="6876256" y="3131831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400" b="1" dirty="0"/>
              <a:t>％</a:t>
            </a:r>
            <a:endParaRPr kumimoji="1" lang="ja-JP" altLang="en-US" sz="4400" b="1" dirty="0"/>
          </a:p>
        </p:txBody>
      </p:sp>
      <p:sp>
        <p:nvSpPr>
          <p:cNvPr id="76" name="正方形/長方形 75"/>
          <p:cNvSpPr/>
          <p:nvPr/>
        </p:nvSpPr>
        <p:spPr>
          <a:xfrm>
            <a:off x="7740352" y="3143030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81" name="直線コネクタ 80"/>
          <p:cNvCxnSpPr/>
          <p:nvPr/>
        </p:nvCxnSpPr>
        <p:spPr>
          <a:xfrm>
            <a:off x="236300" y="760512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/>
          <p:cNvCxnSpPr/>
          <p:nvPr/>
        </p:nvCxnSpPr>
        <p:spPr>
          <a:xfrm>
            <a:off x="236299" y="1835688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/>
          <p:cNvCxnSpPr/>
          <p:nvPr/>
        </p:nvCxnSpPr>
        <p:spPr>
          <a:xfrm>
            <a:off x="236300" y="2915808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グループ化 13"/>
          <p:cNvGrpSpPr/>
          <p:nvPr/>
        </p:nvGrpSpPr>
        <p:grpSpPr>
          <a:xfrm>
            <a:off x="3979127" y="4090268"/>
            <a:ext cx="1430921" cy="865767"/>
            <a:chOff x="3979127" y="4090268"/>
            <a:chExt cx="1430921" cy="865767"/>
          </a:xfrm>
        </p:grpSpPr>
        <p:cxnSp>
          <p:nvCxnSpPr>
            <p:cNvPr id="85" name="曲線コネクタ 84"/>
            <p:cNvCxnSpPr>
              <a:endCxn id="86" idx="3"/>
            </p:cNvCxnSpPr>
            <p:nvPr/>
          </p:nvCxnSpPr>
          <p:spPr>
            <a:xfrm rot="5400000">
              <a:off x="4111900" y="4207091"/>
              <a:ext cx="655618" cy="421972"/>
            </a:xfrm>
            <a:prstGeom prst="curvedConnector3">
              <a:avLst>
                <a:gd name="adj1" fmla="val 50000"/>
              </a:avLst>
            </a:prstGeom>
            <a:ln w="3175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86" name="二等辺三角形 85"/>
            <p:cNvSpPr/>
            <p:nvPr/>
          </p:nvSpPr>
          <p:spPr>
            <a:xfrm rot="10800000">
              <a:off x="3979127" y="4745886"/>
              <a:ext cx="499192" cy="210149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87" name="曲線コネクタ 86"/>
            <p:cNvCxnSpPr>
              <a:endCxn id="89" idx="3"/>
            </p:cNvCxnSpPr>
            <p:nvPr/>
          </p:nvCxnSpPr>
          <p:spPr>
            <a:xfrm rot="16200000" flipH="1">
              <a:off x="4603006" y="4194013"/>
              <a:ext cx="648100" cy="455699"/>
            </a:xfrm>
            <a:prstGeom prst="curvedConnector3">
              <a:avLst>
                <a:gd name="adj1" fmla="val 50000"/>
              </a:avLst>
            </a:prstGeom>
            <a:ln w="3175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88" name="テキスト ボックス 2067"/>
            <p:cNvSpPr txBox="1"/>
            <p:nvPr/>
          </p:nvSpPr>
          <p:spPr>
            <a:xfrm>
              <a:off x="4131305" y="4302938"/>
              <a:ext cx="1038774" cy="21819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200" b="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「○○」の場合</a:t>
              </a:r>
            </a:p>
          </p:txBody>
        </p:sp>
        <p:sp>
          <p:nvSpPr>
            <p:cNvPr id="89" name="二等辺三角形 88"/>
            <p:cNvSpPr/>
            <p:nvPr/>
          </p:nvSpPr>
          <p:spPr>
            <a:xfrm rot="10776654">
              <a:off x="4915934" y="4745860"/>
              <a:ext cx="494114" cy="208500"/>
            </a:xfrm>
            <a:prstGeom prst="triangle">
              <a:avLst>
                <a:gd name="adj" fmla="val 51493"/>
              </a:avLst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</p:grpSp>
      <p:sp>
        <p:nvSpPr>
          <p:cNvPr id="91" name="円/楕円 90"/>
          <p:cNvSpPr/>
          <p:nvPr/>
        </p:nvSpPr>
        <p:spPr>
          <a:xfrm>
            <a:off x="6501046" y="4149639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92" name="正方形/長方形 91"/>
          <p:cNvSpPr/>
          <p:nvPr/>
        </p:nvSpPr>
        <p:spPr>
          <a:xfrm>
            <a:off x="7380312" y="4191242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93" name="直線コネクタ 92"/>
          <p:cNvCxnSpPr/>
          <p:nvPr/>
        </p:nvCxnSpPr>
        <p:spPr>
          <a:xfrm>
            <a:off x="236300" y="5076048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ストライプ矢印 93"/>
          <p:cNvSpPr/>
          <p:nvPr/>
        </p:nvSpPr>
        <p:spPr>
          <a:xfrm>
            <a:off x="3971735" y="5177488"/>
            <a:ext cx="914074" cy="830968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000" b="1" dirty="0"/>
              <a:t>YES</a:t>
            </a:r>
            <a:endParaRPr kumimoji="1" lang="ja-JP" altLang="en-US" sz="2000" b="1" dirty="0"/>
          </a:p>
        </p:txBody>
      </p:sp>
      <p:sp>
        <p:nvSpPr>
          <p:cNvPr id="95" name="円形吹き出し 94"/>
          <p:cNvSpPr/>
          <p:nvPr/>
        </p:nvSpPr>
        <p:spPr>
          <a:xfrm>
            <a:off x="4907839" y="5180757"/>
            <a:ext cx="1198694" cy="827699"/>
          </a:xfrm>
          <a:prstGeom prst="wedgeEllipseCallout">
            <a:avLst>
              <a:gd name="adj1" fmla="val 49019"/>
              <a:gd name="adj2" fmla="val 44832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  <a:r>
              <a:rPr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endParaRPr lang="en-US" altLang="ja-JP" sz="1400" b="1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倍数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です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4" name="グループ化 3"/>
          <p:cNvGrpSpPr/>
          <p:nvPr/>
        </p:nvGrpSpPr>
        <p:grpSpPr>
          <a:xfrm>
            <a:off x="5915314" y="5146904"/>
            <a:ext cx="1176966" cy="861551"/>
            <a:chOff x="5915314" y="5146904"/>
            <a:chExt cx="1176966" cy="861551"/>
          </a:xfrm>
        </p:grpSpPr>
        <p:sp>
          <p:nvSpPr>
            <p:cNvPr id="96" name="二等辺三角形 95"/>
            <p:cNvSpPr/>
            <p:nvPr/>
          </p:nvSpPr>
          <p:spPr>
            <a:xfrm rot="5400000">
              <a:off x="6137764" y="5213124"/>
              <a:ext cx="861551" cy="729112"/>
            </a:xfrm>
            <a:prstGeom prst="triangle">
              <a:avLst>
                <a:gd name="adj" fmla="val 48942"/>
              </a:avLst>
            </a:prstGeom>
            <a:scene3d>
              <a:camera prst="orthographicFront">
                <a:rot lat="0" lon="0" rev="0"/>
              </a:camera>
              <a:lightRig rig="harsh" dir="t"/>
            </a:scene3d>
            <a:sp3d>
              <a:bevelT w="127000" h="50800"/>
              <a:contourClr>
                <a:schemeClr val="tx1">
                  <a:lumMod val="65000"/>
                  <a:lumOff val="35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97" name="テキスト ボックス 1011"/>
            <p:cNvSpPr txBox="1"/>
            <p:nvPr/>
          </p:nvSpPr>
          <p:spPr>
            <a:xfrm>
              <a:off x="5915314" y="5470495"/>
              <a:ext cx="1176966" cy="2536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2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を表示</a:t>
              </a:r>
            </a:p>
          </p:txBody>
        </p:sp>
      </p:grpSp>
      <p:cxnSp>
        <p:nvCxnSpPr>
          <p:cNvPr id="98" name="直線コネクタ 97"/>
          <p:cNvCxnSpPr/>
          <p:nvPr/>
        </p:nvCxnSpPr>
        <p:spPr>
          <a:xfrm>
            <a:off x="251520" y="6093296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図 9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722" y="2944722"/>
            <a:ext cx="1132350" cy="1132350"/>
          </a:xfrm>
          <a:prstGeom prst="rect">
            <a:avLst/>
          </a:prstGeom>
        </p:spPr>
      </p:pic>
      <p:pic>
        <p:nvPicPr>
          <p:cNvPr id="101" name="図 10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981" y="4016642"/>
            <a:ext cx="1145065" cy="1145065"/>
          </a:xfrm>
          <a:prstGeom prst="rect">
            <a:avLst/>
          </a:prstGeom>
        </p:spPr>
      </p:pic>
      <p:pic>
        <p:nvPicPr>
          <p:cNvPr id="102" name="図 10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600" y="2905089"/>
            <a:ext cx="1165496" cy="116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6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0" grpId="0" animBg="1"/>
      <p:bldP spid="34" grpId="0" animBg="1"/>
      <p:bldP spid="41" grpId="0" animBg="1"/>
      <p:bldP spid="42" grpId="0" animBg="1"/>
      <p:bldP spid="69" grpId="0" animBg="1"/>
      <p:bldP spid="70" grpId="0" animBg="1"/>
      <p:bldP spid="71" grpId="0" animBg="1"/>
      <p:bldP spid="73" grpId="0" animBg="1"/>
      <p:bldP spid="75" grpId="0" animBg="1"/>
      <p:bldP spid="76" grpId="0" animBg="1"/>
      <p:bldP spid="91" grpId="0" animBg="1"/>
      <p:bldP spid="92" grpId="0" animBg="1"/>
      <p:bldP spid="94" grpId="0" animBg="1"/>
      <p:bldP spid="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席移動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" name="テキスト ボックス 1"/>
          <p:cNvSpPr txBox="1">
            <a:spLocks noChangeArrowheads="1"/>
          </p:cNvSpPr>
          <p:nvPr/>
        </p:nvSpPr>
        <p:spPr bwMode="auto">
          <a:xfrm>
            <a:off x="611188" y="1712913"/>
            <a:ext cx="7993062" cy="45243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パズルのピースを片付けてください。</a:t>
            </a:r>
            <a:endParaRPr lang="en-US" altLang="ja-JP" sz="3600" dirty="0">
              <a:solidFill>
                <a:schemeClr val="bg1"/>
              </a:solidFill>
              <a:latin typeface="HG創英角ｺﾞｼｯｸUB" pitchFamily="49" charset="-128"/>
              <a:ea typeface="HG創英角ｺﾞｼｯｸUB" pitchFamily="49" charset="-128"/>
            </a:endParaRPr>
          </a:p>
          <a:p>
            <a:pPr algn="ctr" eaLnBrk="1" hangingPunct="1">
              <a:spcBef>
                <a:spcPct val="50000"/>
              </a:spcBef>
              <a:buNone/>
            </a:pPr>
            <a:r>
              <a:rPr lang="en-US" altLang="ja-JP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【</a:t>
            </a: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正答数、使用枚数メモ</a:t>
            </a:r>
            <a:r>
              <a:rPr lang="en-US" altLang="ja-JP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】</a:t>
            </a: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を記入</a:t>
            </a: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し、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48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席を移動してください。</a:t>
            </a:r>
            <a:endParaRPr lang="en-US" altLang="ja-JP" sz="4800" dirty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990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休憩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4342" name="テキスト ボックス 1"/>
          <p:cNvSpPr txBox="1">
            <a:spLocks noChangeArrowheads="1"/>
          </p:cNvSpPr>
          <p:nvPr/>
        </p:nvSpPr>
        <p:spPr bwMode="auto">
          <a:xfrm>
            <a:off x="468313" y="1743075"/>
            <a:ext cx="8424862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50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５分間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の休憩をはさみます。</a:t>
            </a:r>
            <a:endParaRPr lang="en-US" altLang="ja-JP" sz="50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ご自由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に席を外してください。</a:t>
            </a:r>
            <a:endParaRPr lang="en-US" altLang="ja-JP" sz="50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960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21" name="テキスト ボックス 1"/>
          <p:cNvSpPr txBox="1">
            <a:spLocks noChangeArrowheads="1"/>
          </p:cNvSpPr>
          <p:nvPr/>
        </p:nvSpPr>
        <p:spPr bwMode="auto">
          <a:xfrm>
            <a:off x="395288" y="1340768"/>
            <a:ext cx="85677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●演算子「かつ」と「または」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27" name="テキスト ボックス 1"/>
          <p:cNvSpPr txBox="1">
            <a:spLocks noChangeArrowheads="1"/>
          </p:cNvSpPr>
          <p:nvPr/>
        </p:nvSpPr>
        <p:spPr bwMode="auto">
          <a:xfrm>
            <a:off x="395287" y="4509120"/>
            <a:ext cx="8425185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複数の条件分岐を使用したい場合は、</a:t>
            </a:r>
            <a:endParaRPr lang="en-US" altLang="ja-JP" dirty="0" smtClean="0">
              <a:latin typeface="HGS創英角ｺﾞｼｯｸUB" pitchFamily="50" charset="-128"/>
              <a:ea typeface="HGS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S創英角ｺﾞｼｯｸUB" pitchFamily="50" charset="-128"/>
                <a:ea typeface="HGS創英角ｺﾞｼｯｸUB" pitchFamily="50" charset="-128"/>
              </a:rPr>
              <a:t>「かつ」あるいは「または」を使用します。</a:t>
            </a:r>
            <a:endParaRPr lang="ja-JP" altLang="ja-JP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247" y="2758183"/>
            <a:ext cx="1055657" cy="487227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76804" y="3688270"/>
            <a:ext cx="1055657" cy="456775"/>
          </a:xfrm>
          <a:prstGeom prst="rect">
            <a:avLst/>
          </a:prstGeom>
        </p:spPr>
      </p:pic>
      <p:sp>
        <p:nvSpPr>
          <p:cNvPr id="34" name="角丸四角形 33"/>
          <p:cNvSpPr/>
          <p:nvPr/>
        </p:nvSpPr>
        <p:spPr>
          <a:xfrm>
            <a:off x="395288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課題３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補足説明</a:t>
            </a:r>
            <a:endParaRPr lang="en-US" altLang="ja-JP" sz="3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pic>
        <p:nvPicPr>
          <p:cNvPr id="1026" name="Picture 2" descr="C:\Users\kotomi\Desktop\無題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62" y="2492896"/>
            <a:ext cx="2884318" cy="181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1"/>
          <p:cNvSpPr txBox="1">
            <a:spLocks noChangeArrowheads="1"/>
          </p:cNvSpPr>
          <p:nvPr/>
        </p:nvSpPr>
        <p:spPr bwMode="auto">
          <a:xfrm>
            <a:off x="323528" y="1988840"/>
            <a:ext cx="18001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「かつ」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43" name="テキスト ボックス 1"/>
          <p:cNvSpPr txBox="1">
            <a:spLocks noChangeArrowheads="1"/>
          </p:cNvSpPr>
          <p:nvPr/>
        </p:nvSpPr>
        <p:spPr bwMode="auto">
          <a:xfrm>
            <a:off x="3674016" y="1988840"/>
            <a:ext cx="21941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「または」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pic>
        <p:nvPicPr>
          <p:cNvPr id="1027" name="Picture 3" descr="C:\Users\kotomi\Desktop\無題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492896"/>
            <a:ext cx="2893438" cy="182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テキスト ボックス 1"/>
          <p:cNvSpPr txBox="1">
            <a:spLocks noChangeArrowheads="1"/>
          </p:cNvSpPr>
          <p:nvPr/>
        </p:nvSpPr>
        <p:spPr bwMode="auto">
          <a:xfrm>
            <a:off x="962940" y="3257332"/>
            <a:ext cx="5676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Ａ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46" name="テキスト ボックス 1"/>
          <p:cNvSpPr txBox="1">
            <a:spLocks noChangeArrowheads="1"/>
          </p:cNvSpPr>
          <p:nvPr/>
        </p:nvSpPr>
        <p:spPr bwMode="auto">
          <a:xfrm>
            <a:off x="2532461" y="3283462"/>
            <a:ext cx="5676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2800" dirty="0">
                <a:latin typeface="HGS創英角ｺﾞｼｯｸUB" pitchFamily="50" charset="-128"/>
                <a:ea typeface="HGS創英角ｺﾞｼｯｸUB" pitchFamily="50" charset="-128"/>
              </a:rPr>
              <a:t>Ｂ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47" name="テキスト ボックス 1"/>
          <p:cNvSpPr txBox="1">
            <a:spLocks noChangeArrowheads="1"/>
          </p:cNvSpPr>
          <p:nvPr/>
        </p:nvSpPr>
        <p:spPr bwMode="auto">
          <a:xfrm>
            <a:off x="4215904" y="3280216"/>
            <a:ext cx="5676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Ａ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sp>
        <p:nvSpPr>
          <p:cNvPr id="48" name="テキスト ボックス 1"/>
          <p:cNvSpPr txBox="1">
            <a:spLocks noChangeArrowheads="1"/>
          </p:cNvSpPr>
          <p:nvPr/>
        </p:nvSpPr>
        <p:spPr bwMode="auto">
          <a:xfrm>
            <a:off x="5796136" y="3283462"/>
            <a:ext cx="5676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2800" dirty="0">
                <a:latin typeface="HGS創英角ｺﾞｼｯｸUB" pitchFamily="50" charset="-128"/>
                <a:ea typeface="HGS創英角ｺﾞｼｯｸUB" pitchFamily="50" charset="-128"/>
              </a:rPr>
              <a:t>Ｂ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4396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21" name="テキスト ボックス 1"/>
          <p:cNvSpPr txBox="1">
            <a:spLocks noChangeArrowheads="1"/>
          </p:cNvSpPr>
          <p:nvPr/>
        </p:nvSpPr>
        <p:spPr bwMode="auto">
          <a:xfrm>
            <a:off x="395288" y="1340768"/>
            <a:ext cx="856773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3400" dirty="0" smtClean="0">
                <a:latin typeface="HGS創英角ｺﾞｼｯｸUB" pitchFamily="50" charset="-128"/>
                <a:ea typeface="HGS創英角ｺﾞｼｯｸUB" pitchFamily="50" charset="-128"/>
              </a:rPr>
              <a:t>使用例）</a:t>
            </a:r>
            <a:endParaRPr lang="ja-JP" altLang="ja-JP" sz="36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247" y="2758183"/>
            <a:ext cx="1055657" cy="487227"/>
          </a:xfrm>
          <a:prstGeom prst="rect">
            <a:avLst/>
          </a:prstGeom>
        </p:spPr>
      </p:pic>
      <p:sp>
        <p:nvSpPr>
          <p:cNvPr id="34" name="角丸四角形 33"/>
          <p:cNvSpPr/>
          <p:nvPr/>
        </p:nvSpPr>
        <p:spPr>
          <a:xfrm>
            <a:off x="395288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課題３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補足説明</a:t>
            </a:r>
            <a:endParaRPr lang="en-US" altLang="ja-JP" sz="3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1" name="テキスト ボックス 1"/>
          <p:cNvSpPr txBox="1">
            <a:spLocks noChangeArrowheads="1"/>
          </p:cNvSpPr>
          <p:nvPr/>
        </p:nvSpPr>
        <p:spPr bwMode="auto">
          <a:xfrm>
            <a:off x="323528" y="1988840"/>
            <a:ext cx="84249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ja-JP" altLang="en-US" sz="2800" dirty="0" smtClean="0">
                <a:latin typeface="HGS創英角ｺﾞｼｯｸUB" pitchFamily="50" charset="-128"/>
                <a:ea typeface="HGS創英角ｺﾞｼｯｸUB" pitchFamily="50" charset="-128"/>
              </a:rPr>
              <a:t>入力値が２の倍数、「かつ」５の倍数の場合</a:t>
            </a:r>
            <a:endParaRPr lang="ja-JP" altLang="ja-JP" sz="2800" dirty="0">
              <a:latin typeface="HGS創英角ｺﾞｼｯｸUB" pitchFamily="50" charset="-128"/>
              <a:ea typeface="HGS創英角ｺﾞｼｯｸUB" pitchFamily="50" charset="-128"/>
            </a:endParaRP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89" y="2780928"/>
            <a:ext cx="1165496" cy="1165496"/>
          </a:xfrm>
          <a:prstGeom prst="rect">
            <a:avLst/>
          </a:prstGeom>
        </p:spPr>
      </p:pic>
      <p:sp>
        <p:nvSpPr>
          <p:cNvPr id="28" name="円/楕円 27"/>
          <p:cNvSpPr/>
          <p:nvPr/>
        </p:nvSpPr>
        <p:spPr>
          <a:xfrm>
            <a:off x="1484817" y="2996951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31" name="正方形/長方形 30"/>
          <p:cNvSpPr/>
          <p:nvPr/>
        </p:nvSpPr>
        <p:spPr>
          <a:xfrm>
            <a:off x="2348913" y="3045239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  <p:cxnSp>
        <p:nvCxnSpPr>
          <p:cNvPr id="32" name="曲線コネクタ 31"/>
          <p:cNvCxnSpPr>
            <a:endCxn id="33" idx="3"/>
          </p:cNvCxnSpPr>
          <p:nvPr/>
        </p:nvCxnSpPr>
        <p:spPr>
          <a:xfrm rot="5400000">
            <a:off x="528310" y="5432303"/>
            <a:ext cx="655618" cy="421972"/>
          </a:xfrm>
          <a:prstGeom prst="curvedConnector3">
            <a:avLst>
              <a:gd name="adj1" fmla="val 50000"/>
            </a:avLst>
          </a:prstGeom>
          <a:ln w="317500">
            <a:headEnd type="none" w="med" len="med"/>
            <a:tailEnd type="none" w="sm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3" name="二等辺三角形 32"/>
          <p:cNvSpPr/>
          <p:nvPr/>
        </p:nvSpPr>
        <p:spPr>
          <a:xfrm rot="10800000">
            <a:off x="395537" y="5971098"/>
            <a:ext cx="499192" cy="210149"/>
          </a:xfrm>
          <a:prstGeom prst="triangle">
            <a:avLst/>
          </a:prstGeom>
          <a:ln>
            <a:noFill/>
          </a:ln>
          <a:effectLst>
            <a:outerShdw blurRad="40005" dist="22860" dir="5400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cxnSp>
        <p:nvCxnSpPr>
          <p:cNvPr id="35" name="曲線コネクタ 34"/>
          <p:cNvCxnSpPr>
            <a:endCxn id="37" idx="3"/>
          </p:cNvCxnSpPr>
          <p:nvPr/>
        </p:nvCxnSpPr>
        <p:spPr>
          <a:xfrm rot="16200000" flipH="1">
            <a:off x="1019416" y="5419225"/>
            <a:ext cx="648100" cy="455699"/>
          </a:xfrm>
          <a:prstGeom prst="curvedConnector3">
            <a:avLst>
              <a:gd name="adj1" fmla="val 50000"/>
            </a:avLst>
          </a:prstGeom>
          <a:ln w="317500">
            <a:headEnd type="none" w="med" len="med"/>
            <a:tailEnd type="none" w="sm" len="sm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テキスト ボックス 2067"/>
          <p:cNvSpPr txBox="1"/>
          <p:nvPr/>
        </p:nvSpPr>
        <p:spPr>
          <a:xfrm>
            <a:off x="547715" y="5528150"/>
            <a:ext cx="1038774" cy="21819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「○○」の場合</a:t>
            </a:r>
          </a:p>
        </p:txBody>
      </p:sp>
      <p:sp>
        <p:nvSpPr>
          <p:cNvPr id="37" name="二等辺三角形 36"/>
          <p:cNvSpPr/>
          <p:nvPr/>
        </p:nvSpPr>
        <p:spPr>
          <a:xfrm rot="10776654">
            <a:off x="1332344" y="5971072"/>
            <a:ext cx="494114" cy="208500"/>
          </a:xfrm>
          <a:prstGeom prst="triangle">
            <a:avLst>
              <a:gd name="adj" fmla="val 51493"/>
            </a:avLst>
          </a:prstGeom>
          <a:ln>
            <a:noFill/>
          </a:ln>
          <a:effectLst>
            <a:outerShdw blurRad="40005" dist="22860" dir="5400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38" name="円/楕円 37"/>
          <p:cNvSpPr/>
          <p:nvPr/>
        </p:nvSpPr>
        <p:spPr>
          <a:xfrm>
            <a:off x="3573049" y="3003635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400" b="1" dirty="0"/>
              <a:t>％</a:t>
            </a:r>
            <a:endParaRPr kumimoji="1" lang="ja-JP" altLang="en-US" sz="4400" b="1" dirty="0"/>
          </a:p>
        </p:txBody>
      </p:sp>
      <p:sp>
        <p:nvSpPr>
          <p:cNvPr id="39" name="正方形/長方形 38"/>
          <p:cNvSpPr/>
          <p:nvPr/>
        </p:nvSpPr>
        <p:spPr>
          <a:xfrm>
            <a:off x="4437145" y="3045360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40" name="図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5157192"/>
            <a:ext cx="1165496" cy="1165496"/>
          </a:xfrm>
          <a:prstGeom prst="rect">
            <a:avLst/>
          </a:prstGeom>
        </p:spPr>
      </p:pic>
      <p:sp>
        <p:nvSpPr>
          <p:cNvPr id="42" name="円/楕円 41"/>
          <p:cNvSpPr/>
          <p:nvPr/>
        </p:nvSpPr>
        <p:spPr>
          <a:xfrm>
            <a:off x="2771800" y="5379899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44" name="正方形/長方形 43"/>
          <p:cNvSpPr/>
          <p:nvPr/>
        </p:nvSpPr>
        <p:spPr>
          <a:xfrm>
            <a:off x="3635896" y="5421503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0" name="円/楕円 49"/>
          <p:cNvSpPr/>
          <p:nvPr/>
        </p:nvSpPr>
        <p:spPr>
          <a:xfrm>
            <a:off x="1491501" y="4184132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355597" y="4232420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  <p:sp>
        <p:nvSpPr>
          <p:cNvPr id="52" name="円/楕円 51"/>
          <p:cNvSpPr/>
          <p:nvPr/>
        </p:nvSpPr>
        <p:spPr>
          <a:xfrm>
            <a:off x="3579733" y="4190816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400" b="1" dirty="0"/>
              <a:t>％</a:t>
            </a:r>
            <a:endParaRPr kumimoji="1" lang="ja-JP" altLang="en-US" sz="4400" b="1" dirty="0"/>
          </a:p>
        </p:txBody>
      </p:sp>
      <p:sp>
        <p:nvSpPr>
          <p:cNvPr id="53" name="正方形/長方形 52"/>
          <p:cNvSpPr/>
          <p:nvPr/>
        </p:nvSpPr>
        <p:spPr>
          <a:xfrm>
            <a:off x="4443829" y="4232541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4" name="図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024842"/>
            <a:ext cx="1132350" cy="1132350"/>
          </a:xfrm>
          <a:prstGeom prst="rect">
            <a:avLst/>
          </a:prstGeom>
        </p:spPr>
      </p:pic>
      <p:sp>
        <p:nvSpPr>
          <p:cNvPr id="55" name="円/楕円 54"/>
          <p:cNvSpPr/>
          <p:nvPr/>
        </p:nvSpPr>
        <p:spPr>
          <a:xfrm>
            <a:off x="4788024" y="5228412"/>
            <a:ext cx="963848" cy="96384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800" b="1" dirty="0"/>
              <a:t>かつ</a:t>
            </a:r>
            <a:endParaRPr kumimoji="1" lang="ja-JP" altLang="en-US" sz="1800" b="1" dirty="0"/>
          </a:p>
        </p:txBody>
      </p:sp>
      <p:sp>
        <p:nvSpPr>
          <p:cNvPr id="57" name="円/楕円 56"/>
          <p:cNvSpPr/>
          <p:nvPr/>
        </p:nvSpPr>
        <p:spPr>
          <a:xfrm>
            <a:off x="6819416" y="5379898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58" name="正方形/長方形 57"/>
          <p:cNvSpPr/>
          <p:nvPr/>
        </p:nvSpPr>
        <p:spPr>
          <a:xfrm>
            <a:off x="7683513" y="5421502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9" name="図 5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633" y="5144161"/>
            <a:ext cx="1132350" cy="1132350"/>
          </a:xfrm>
          <a:prstGeom prst="rect">
            <a:avLst/>
          </a:prstGeom>
        </p:spPr>
      </p:pic>
      <p:cxnSp>
        <p:nvCxnSpPr>
          <p:cNvPr id="60" name="直線コネクタ 59"/>
          <p:cNvCxnSpPr/>
          <p:nvPr/>
        </p:nvCxnSpPr>
        <p:spPr>
          <a:xfrm>
            <a:off x="485617" y="3946424"/>
            <a:ext cx="81185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>
            <a:off x="466150" y="5144161"/>
            <a:ext cx="8138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28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課題３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制限時間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4342" name="テキスト ボックス 1"/>
          <p:cNvSpPr txBox="1">
            <a:spLocks noChangeArrowheads="1"/>
          </p:cNvSpPr>
          <p:nvPr/>
        </p:nvSpPr>
        <p:spPr bwMode="auto">
          <a:xfrm>
            <a:off x="468313" y="1743075"/>
            <a:ext cx="842486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制限時間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は</a:t>
            </a:r>
            <a:r>
              <a:rPr lang="ja-JP" altLang="en-US" sz="50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１６分間</a:t>
            </a: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です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。</a:t>
            </a:r>
            <a:endParaRPr lang="en-US" altLang="ja-JP" sz="50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867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３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問題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3318" name="テキスト ボックス 1"/>
          <p:cNvSpPr txBox="1">
            <a:spLocks noChangeArrowheads="1"/>
          </p:cNvSpPr>
          <p:nvPr/>
        </p:nvSpPr>
        <p:spPr bwMode="auto">
          <a:xfrm>
            <a:off x="323528" y="1268760"/>
            <a:ext cx="8496943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入力された年号が</a:t>
            </a: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4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の倍数の場合は「閏年です」と表示するが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、</a:t>
            </a: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100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の倍数の場合は「閏年ではありません」と表示し、ただし、</a:t>
            </a: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400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の倍数の場合は「閏年です」と表示するフローチャートパズルを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完成しましょう。</a:t>
            </a:r>
            <a:endParaRPr lang="en-US" altLang="ja-JP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なお、</a:t>
            </a: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4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の倍数でも</a:t>
            </a: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100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の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倍数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でも</a:t>
            </a: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400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の倍数でもない場合は、「閏年ではありません」と表示する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こと。</a:t>
            </a: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751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332656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３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問題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3318" name="テキスト ボックス 1"/>
          <p:cNvSpPr txBox="1">
            <a:spLocks noChangeArrowheads="1"/>
          </p:cNvSpPr>
          <p:nvPr/>
        </p:nvSpPr>
        <p:spPr bwMode="auto">
          <a:xfrm>
            <a:off x="323528" y="1124744"/>
            <a:ext cx="8496943" cy="543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en-US" altLang="ja-JP" sz="2800" dirty="0">
                <a:latin typeface="HGP創英角ｺﾞｼｯｸUB" pitchFamily="50" charset="-128"/>
                <a:ea typeface="HGP創英角ｺﾞｼｯｸUB" pitchFamily="50" charset="-128"/>
              </a:rPr>
              <a:t>【</a:t>
            </a:r>
            <a:r>
              <a:rPr lang="ja-JP" altLang="en-US" sz="2800" dirty="0">
                <a:latin typeface="HGP創英角ｺﾞｼｯｸUB" pitchFamily="50" charset="-128"/>
                <a:ea typeface="HGP創英角ｺﾞｼｯｸUB" pitchFamily="50" charset="-128"/>
              </a:rPr>
              <a:t>ヒント</a:t>
            </a:r>
            <a:r>
              <a:rPr lang="en-US" altLang="ja-JP" sz="2800" dirty="0" smtClean="0">
                <a:latin typeface="HGP創英角ｺﾞｼｯｸUB" pitchFamily="50" charset="-128"/>
                <a:ea typeface="HGP創英角ｺﾞｼｯｸUB" pitchFamily="50" charset="-128"/>
              </a:rPr>
              <a:t>】</a:t>
            </a:r>
          </a:p>
          <a:p>
            <a:pPr>
              <a:buFontTx/>
              <a:buNone/>
            </a:pP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入力された数値が</a:t>
            </a:r>
            <a:r>
              <a:rPr lang="en-US" altLang="ja-JP" sz="2400" b="1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2011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の場合は</a:t>
            </a:r>
            <a:r>
              <a:rPr lang="ja-JP" altLang="en-US" sz="2400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「閏年ではありません」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と</a:t>
            </a: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表示</a:t>
            </a:r>
            <a:endParaRPr lang="en-US" altLang="ja-JP" sz="2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（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4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の倍数でないため</a:t>
            </a: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）</a:t>
            </a:r>
            <a:endParaRPr lang="en-US" altLang="ja-JP" sz="2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入力された数値が</a:t>
            </a:r>
            <a:r>
              <a:rPr lang="en-US" altLang="ja-JP" sz="2400" b="1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2012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の場合は</a:t>
            </a:r>
            <a:r>
              <a:rPr lang="ja-JP" altLang="en-US" sz="2400" b="1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「閏年です」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と</a:t>
            </a: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表示</a:t>
            </a:r>
            <a:endParaRPr lang="en-US" altLang="ja-JP" sz="2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（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4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の倍数でかつ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100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の倍数でないため</a:t>
            </a: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）</a:t>
            </a:r>
            <a:endParaRPr lang="en-US" altLang="ja-JP" sz="2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入力された数値が</a:t>
            </a:r>
            <a:r>
              <a:rPr lang="en-US" altLang="ja-JP" sz="2400" b="1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2000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の場合は</a:t>
            </a:r>
            <a:r>
              <a:rPr lang="ja-JP" altLang="en-US" sz="2400" b="1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「閏年です」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と</a:t>
            </a: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表示</a:t>
            </a:r>
            <a:endParaRPr lang="en-US" altLang="ja-JP" sz="2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（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4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の倍数でかつ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100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の倍数でかつ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400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の倍数であるため</a:t>
            </a: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）</a:t>
            </a:r>
            <a:endParaRPr lang="en-US" altLang="ja-JP" sz="2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入力された数値が</a:t>
            </a:r>
            <a:r>
              <a:rPr lang="en-US" altLang="ja-JP" sz="2400" b="1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2100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の場合は</a:t>
            </a:r>
            <a:r>
              <a:rPr lang="ja-JP" altLang="en-US" sz="2400" b="1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「閏年ではありません」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と</a:t>
            </a: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表示</a:t>
            </a:r>
            <a:endParaRPr lang="en-US" altLang="ja-JP" sz="2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（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4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の倍数でかつ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100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の倍数でかつ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>400</a:t>
            </a:r>
            <a:r>
              <a:rPr lang="ja-JP" altLang="en-US" sz="2400" dirty="0">
                <a:latin typeface="HGP創英角ｺﾞｼｯｸUB" pitchFamily="50" charset="-128"/>
                <a:ea typeface="HGP創英角ｺﾞｼｯｸUB" pitchFamily="50" charset="-128"/>
              </a:rPr>
              <a:t>の倍数でないため</a:t>
            </a:r>
            <a:r>
              <a:rPr lang="ja-JP" altLang="en-US" sz="2400" dirty="0" smtClean="0">
                <a:latin typeface="HGP創英角ｺﾞｼｯｸUB" pitchFamily="50" charset="-128"/>
                <a:ea typeface="HGP創英角ｺﾞｼｯｸUB" pitchFamily="50" charset="-128"/>
              </a:rPr>
              <a:t>）</a:t>
            </a:r>
            <a:endParaRPr lang="en-US" altLang="ja-JP" sz="2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1000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「かつ」と「または」を同時に使用する場合は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、</a:t>
            </a:r>
            <a:endParaRPr lang="en-US" altLang="ja-JP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「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かつ」が優先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される（使用しなくてもよいです。）</a:t>
            </a: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0482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課題３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発表</a:t>
            </a:r>
          </a:p>
        </p:txBody>
      </p:sp>
      <p:sp>
        <p:nvSpPr>
          <p:cNvPr id="5" name="テキスト ボックス 1"/>
          <p:cNvSpPr txBox="1">
            <a:spLocks noChangeArrowheads="1"/>
          </p:cNvSpPr>
          <p:nvPr/>
        </p:nvSpPr>
        <p:spPr bwMode="auto">
          <a:xfrm>
            <a:off x="611188" y="1712913"/>
            <a:ext cx="7993062" cy="45243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発表</a:t>
            </a:r>
            <a:endParaRPr lang="en-US" altLang="ja-JP" sz="6600" dirty="0" smtClean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6600" dirty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5</a:t>
            </a:r>
            <a:r>
              <a:rPr lang="ja-JP" altLang="en-US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分間</a:t>
            </a:r>
            <a:endParaRPr lang="en-US" altLang="ja-JP" sz="6600" dirty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733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AutoShape 3"/>
          <p:cNvSpPr>
            <a:spLocks noChangeArrowheads="1"/>
          </p:cNvSpPr>
          <p:nvPr/>
        </p:nvSpPr>
        <p:spPr bwMode="ltGray">
          <a:xfrm>
            <a:off x="107504" y="116632"/>
            <a:ext cx="8928992" cy="6624736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5" name="フローチャート : 抜出し 4"/>
          <p:cNvSpPr/>
          <p:nvPr/>
        </p:nvSpPr>
        <p:spPr>
          <a:xfrm rot="10800000">
            <a:off x="400580" y="188640"/>
            <a:ext cx="1347815" cy="494920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6" name="テキスト ボックス 779"/>
          <p:cNvSpPr txBox="1"/>
          <p:nvPr/>
        </p:nvSpPr>
        <p:spPr>
          <a:xfrm>
            <a:off x="400580" y="183063"/>
            <a:ext cx="1347815" cy="3656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SATRT</a:t>
            </a:r>
            <a:endParaRPr kumimoji="1"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755568"/>
            <a:ext cx="1165496" cy="1165496"/>
          </a:xfrm>
          <a:prstGeom prst="rect">
            <a:avLst/>
          </a:prstGeom>
        </p:spPr>
      </p:pic>
      <p:sp>
        <p:nvSpPr>
          <p:cNvPr id="9" name="円/楕円 8"/>
          <p:cNvSpPr/>
          <p:nvPr/>
        </p:nvSpPr>
        <p:spPr>
          <a:xfrm>
            <a:off x="1259632" y="971591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2123728" y="1019879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  <p:grpSp>
        <p:nvGrpSpPr>
          <p:cNvPr id="8" name="グループ化 7"/>
          <p:cNvGrpSpPr/>
          <p:nvPr/>
        </p:nvGrpSpPr>
        <p:grpSpPr>
          <a:xfrm>
            <a:off x="501116" y="6181590"/>
            <a:ext cx="1247279" cy="487770"/>
            <a:chOff x="501116" y="6181590"/>
            <a:chExt cx="1247279" cy="487770"/>
          </a:xfrm>
        </p:grpSpPr>
        <p:sp>
          <p:nvSpPr>
            <p:cNvPr id="43" name="フローチャート : 抜出し 42"/>
            <p:cNvSpPr/>
            <p:nvPr/>
          </p:nvSpPr>
          <p:spPr>
            <a:xfrm>
              <a:off x="501116" y="6181590"/>
              <a:ext cx="1247279" cy="487770"/>
            </a:xfrm>
            <a:prstGeom prst="flowChartExtract">
              <a:avLst/>
            </a:pr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80000">
                  <a:schemeClr val="dk1">
                    <a:shade val="93000"/>
                    <a:satMod val="130000"/>
                  </a:schemeClr>
                </a:gs>
                <a:gs pos="100000">
                  <a:schemeClr val="dk1">
                    <a:shade val="94000"/>
                    <a:satMod val="135000"/>
                  </a:schemeClr>
                </a:gs>
              </a:gsLst>
            </a:gradFill>
            <a:scene3d>
              <a:camera prst="orthographicFront">
                <a:rot lat="0" lon="0" rev="0"/>
              </a:camera>
              <a:lightRig rig="threePt" dir="t"/>
            </a:scene3d>
            <a:sp3d>
              <a:bevelT w="101600" h="4445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 b="1"/>
            </a:p>
          </p:txBody>
        </p:sp>
        <p:sp>
          <p:nvSpPr>
            <p:cNvPr id="44" name="テキスト ボックス 780"/>
            <p:cNvSpPr txBox="1"/>
            <p:nvPr/>
          </p:nvSpPr>
          <p:spPr>
            <a:xfrm>
              <a:off x="501116" y="6368083"/>
              <a:ext cx="1247279" cy="30127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14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END</a:t>
              </a:r>
              <a:endPara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sp>
        <p:nvSpPr>
          <p:cNvPr id="41" name="円/楕円 40"/>
          <p:cNvSpPr/>
          <p:nvPr/>
        </p:nvSpPr>
        <p:spPr>
          <a:xfrm>
            <a:off x="3347864" y="978275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400" b="1" dirty="0"/>
              <a:t>％</a:t>
            </a:r>
            <a:endParaRPr kumimoji="1" lang="ja-JP" altLang="en-US" sz="4400" b="1" dirty="0"/>
          </a:p>
        </p:txBody>
      </p:sp>
      <p:sp>
        <p:nvSpPr>
          <p:cNvPr id="42" name="正方形/長方形 41"/>
          <p:cNvSpPr/>
          <p:nvPr/>
        </p:nvSpPr>
        <p:spPr>
          <a:xfrm>
            <a:off x="4211960" y="1020000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400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55" name="直線コネクタ 54"/>
          <p:cNvCxnSpPr/>
          <p:nvPr/>
        </p:nvCxnSpPr>
        <p:spPr>
          <a:xfrm>
            <a:off x="278631" y="3995928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/>
          <p:cNvCxnSpPr/>
          <p:nvPr/>
        </p:nvCxnSpPr>
        <p:spPr>
          <a:xfrm>
            <a:off x="236300" y="760512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/>
          <p:cNvCxnSpPr/>
          <p:nvPr/>
        </p:nvCxnSpPr>
        <p:spPr>
          <a:xfrm>
            <a:off x="236299" y="1835688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/>
          <p:cNvCxnSpPr/>
          <p:nvPr/>
        </p:nvCxnSpPr>
        <p:spPr>
          <a:xfrm>
            <a:off x="236300" y="2915808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/>
          <p:cNvGrpSpPr/>
          <p:nvPr/>
        </p:nvGrpSpPr>
        <p:grpSpPr>
          <a:xfrm>
            <a:off x="236299" y="4134836"/>
            <a:ext cx="1095141" cy="767268"/>
            <a:chOff x="236299" y="4134836"/>
            <a:chExt cx="1095141" cy="767268"/>
          </a:xfrm>
        </p:grpSpPr>
        <p:cxnSp>
          <p:nvCxnSpPr>
            <p:cNvPr id="85" name="曲線コネクタ 84"/>
            <p:cNvCxnSpPr/>
            <p:nvPr/>
          </p:nvCxnSpPr>
          <p:spPr>
            <a:xfrm rot="5400000">
              <a:off x="265797" y="4259681"/>
              <a:ext cx="614445" cy="364755"/>
            </a:xfrm>
            <a:prstGeom prst="curvedConnector3">
              <a:avLst>
                <a:gd name="adj1" fmla="val 50000"/>
              </a:avLst>
            </a:prstGeom>
            <a:ln w="2540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86" name="二等辺三角形 85"/>
            <p:cNvSpPr/>
            <p:nvPr/>
          </p:nvSpPr>
          <p:spPr>
            <a:xfrm rot="10800000">
              <a:off x="236299" y="4749280"/>
              <a:ext cx="363022" cy="152824"/>
            </a:xfrm>
            <a:prstGeom prst="triangle">
              <a:avLst/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cxnSp>
          <p:nvCxnSpPr>
            <p:cNvPr id="87" name="曲線コネクタ 86"/>
            <p:cNvCxnSpPr/>
            <p:nvPr/>
          </p:nvCxnSpPr>
          <p:spPr>
            <a:xfrm rot="16200000" flipH="1">
              <a:off x="693017" y="4276703"/>
              <a:ext cx="614444" cy="330710"/>
            </a:xfrm>
            <a:prstGeom prst="curvedConnector3">
              <a:avLst>
                <a:gd name="adj1" fmla="val 50000"/>
              </a:avLst>
            </a:prstGeom>
            <a:ln w="254000">
              <a:headEnd type="none" w="med" len="med"/>
              <a:tailEnd type="none" w="sm" len="sm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88" name="テキスト ボックス 2067"/>
            <p:cNvSpPr txBox="1"/>
            <p:nvPr/>
          </p:nvSpPr>
          <p:spPr>
            <a:xfrm>
              <a:off x="432208" y="4293096"/>
              <a:ext cx="719567" cy="148962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000" b="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「○○」の場合</a:t>
              </a:r>
            </a:p>
          </p:txBody>
        </p:sp>
        <p:sp>
          <p:nvSpPr>
            <p:cNvPr id="89" name="二等辺三角形 88"/>
            <p:cNvSpPr/>
            <p:nvPr/>
          </p:nvSpPr>
          <p:spPr>
            <a:xfrm rot="10776654">
              <a:off x="972111" y="4726363"/>
              <a:ext cx="359329" cy="151625"/>
            </a:xfrm>
            <a:prstGeom prst="triangle">
              <a:avLst>
                <a:gd name="adj" fmla="val 51493"/>
              </a:avLst>
            </a:prstGeom>
            <a:ln>
              <a:noFill/>
            </a:ln>
            <a:effectLst>
              <a:outerShdw blurRad="40005" dist="22860" dir="5400000" algn="ctr" rotWithShape="0">
                <a:srgbClr val="000000">
                  <a:alpha val="35000"/>
                </a:srgb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</p:grpSp>
      <p:sp>
        <p:nvSpPr>
          <p:cNvPr id="91" name="円/楕円 90"/>
          <p:cNvSpPr/>
          <p:nvPr/>
        </p:nvSpPr>
        <p:spPr>
          <a:xfrm>
            <a:off x="4773375" y="4278447"/>
            <a:ext cx="518705" cy="518705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000" b="1" dirty="0"/>
              <a:t>＝</a:t>
            </a:r>
          </a:p>
        </p:txBody>
      </p:sp>
      <p:sp>
        <p:nvSpPr>
          <p:cNvPr id="92" name="正方形/長方形 91"/>
          <p:cNvSpPr/>
          <p:nvPr/>
        </p:nvSpPr>
        <p:spPr>
          <a:xfrm>
            <a:off x="5436097" y="4278353"/>
            <a:ext cx="648071" cy="52382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93" name="直線コネクタ 92"/>
          <p:cNvCxnSpPr/>
          <p:nvPr/>
        </p:nvCxnSpPr>
        <p:spPr>
          <a:xfrm>
            <a:off x="236300" y="5076048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ストライプ矢印 93"/>
          <p:cNvSpPr/>
          <p:nvPr/>
        </p:nvSpPr>
        <p:spPr>
          <a:xfrm>
            <a:off x="345558" y="5162196"/>
            <a:ext cx="914074" cy="830968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000" b="1" dirty="0"/>
              <a:t>YES</a:t>
            </a:r>
            <a:endParaRPr kumimoji="1" lang="ja-JP" altLang="en-US" sz="2000" b="1" dirty="0"/>
          </a:p>
        </p:txBody>
      </p:sp>
      <p:sp>
        <p:nvSpPr>
          <p:cNvPr id="95" name="円形吹き出し 94"/>
          <p:cNvSpPr/>
          <p:nvPr/>
        </p:nvSpPr>
        <p:spPr>
          <a:xfrm>
            <a:off x="1404568" y="5162196"/>
            <a:ext cx="1198694" cy="827699"/>
          </a:xfrm>
          <a:prstGeom prst="wedgeEllipseCallout">
            <a:avLst>
              <a:gd name="adj1" fmla="val 49019"/>
              <a:gd name="adj2" fmla="val 44832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閏年です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2675917" y="5128344"/>
            <a:ext cx="1176966" cy="861551"/>
            <a:chOff x="2675917" y="5128344"/>
            <a:chExt cx="1176966" cy="861551"/>
          </a:xfrm>
        </p:grpSpPr>
        <p:sp>
          <p:nvSpPr>
            <p:cNvPr id="96" name="二等辺三角形 95"/>
            <p:cNvSpPr/>
            <p:nvPr/>
          </p:nvSpPr>
          <p:spPr>
            <a:xfrm rot="5400000">
              <a:off x="2898367" y="5194564"/>
              <a:ext cx="861551" cy="729112"/>
            </a:xfrm>
            <a:prstGeom prst="triangle">
              <a:avLst>
                <a:gd name="adj" fmla="val 48942"/>
              </a:avLst>
            </a:prstGeom>
            <a:scene3d>
              <a:camera prst="orthographicFront">
                <a:rot lat="0" lon="0" rev="0"/>
              </a:camera>
              <a:lightRig rig="harsh" dir="t"/>
            </a:scene3d>
            <a:sp3d>
              <a:bevelT w="127000" h="50800"/>
              <a:contourClr>
                <a:schemeClr val="tx1">
                  <a:lumMod val="65000"/>
                  <a:lumOff val="35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97" name="テキスト ボックス 1011"/>
            <p:cNvSpPr txBox="1"/>
            <p:nvPr/>
          </p:nvSpPr>
          <p:spPr>
            <a:xfrm>
              <a:off x="2675917" y="5451935"/>
              <a:ext cx="1176966" cy="2536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2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を表示</a:t>
              </a:r>
            </a:p>
          </p:txBody>
        </p:sp>
      </p:grpSp>
      <p:cxnSp>
        <p:nvCxnSpPr>
          <p:cNvPr id="98" name="直線コネクタ 97"/>
          <p:cNvCxnSpPr/>
          <p:nvPr/>
        </p:nvCxnSpPr>
        <p:spPr>
          <a:xfrm>
            <a:off x="251520" y="6093296"/>
            <a:ext cx="86138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図 10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4077072"/>
            <a:ext cx="864096" cy="864096"/>
          </a:xfrm>
          <a:prstGeom prst="rect">
            <a:avLst/>
          </a:prstGeom>
        </p:spPr>
      </p:pic>
      <p:sp>
        <p:nvSpPr>
          <p:cNvPr id="49" name="円/楕円 48"/>
          <p:cNvSpPr/>
          <p:nvPr/>
        </p:nvSpPr>
        <p:spPr>
          <a:xfrm>
            <a:off x="1283834" y="2026592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50" name="正方形/長方形 49"/>
          <p:cNvSpPr/>
          <p:nvPr/>
        </p:nvSpPr>
        <p:spPr>
          <a:xfrm>
            <a:off x="2147930" y="2074880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  <p:sp>
        <p:nvSpPr>
          <p:cNvPr id="51" name="円/楕円 50"/>
          <p:cNvSpPr/>
          <p:nvPr/>
        </p:nvSpPr>
        <p:spPr>
          <a:xfrm>
            <a:off x="3372066" y="2033276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400" b="1" dirty="0"/>
              <a:t>％</a:t>
            </a:r>
            <a:endParaRPr kumimoji="1" lang="ja-JP" altLang="en-US" sz="4400" b="1" dirty="0"/>
          </a:p>
        </p:txBody>
      </p:sp>
      <p:sp>
        <p:nvSpPr>
          <p:cNvPr id="52" name="正方形/長方形 51"/>
          <p:cNvSpPr/>
          <p:nvPr/>
        </p:nvSpPr>
        <p:spPr>
          <a:xfrm>
            <a:off x="4236162" y="2075001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4" name="図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21" y="1820457"/>
            <a:ext cx="1132350" cy="1132350"/>
          </a:xfrm>
          <a:prstGeom prst="rect">
            <a:avLst/>
          </a:prstGeom>
        </p:spPr>
      </p:pic>
      <p:sp>
        <p:nvSpPr>
          <p:cNvPr id="56" name="円/楕円 55"/>
          <p:cNvSpPr/>
          <p:nvPr/>
        </p:nvSpPr>
        <p:spPr>
          <a:xfrm>
            <a:off x="2099016" y="4268384"/>
            <a:ext cx="528768" cy="52876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000" b="1" dirty="0"/>
              <a:t>＝</a:t>
            </a:r>
          </a:p>
        </p:txBody>
      </p:sp>
      <p:sp>
        <p:nvSpPr>
          <p:cNvPr id="57" name="正方形/長方形 56"/>
          <p:cNvSpPr/>
          <p:nvPr/>
        </p:nvSpPr>
        <p:spPr>
          <a:xfrm>
            <a:off x="2675590" y="4274269"/>
            <a:ext cx="600266" cy="52288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9" name="図 5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55" y="4107196"/>
            <a:ext cx="894681" cy="894681"/>
          </a:xfrm>
          <a:prstGeom prst="rect">
            <a:avLst/>
          </a:prstGeom>
        </p:spPr>
      </p:pic>
      <p:sp>
        <p:nvSpPr>
          <p:cNvPr id="60" name="円/楕円 59"/>
          <p:cNvSpPr/>
          <p:nvPr/>
        </p:nvSpPr>
        <p:spPr>
          <a:xfrm>
            <a:off x="3347863" y="4191242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 smtClean="0"/>
              <a:t>または</a:t>
            </a:r>
            <a:endParaRPr kumimoji="1" lang="ja-JP" altLang="en-US" sz="1200" b="1" dirty="0"/>
          </a:p>
        </p:txBody>
      </p:sp>
      <p:sp>
        <p:nvSpPr>
          <p:cNvPr id="72" name="円/楕円 71"/>
          <p:cNvSpPr/>
          <p:nvPr/>
        </p:nvSpPr>
        <p:spPr>
          <a:xfrm>
            <a:off x="6156175" y="4167693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200" b="1" dirty="0"/>
              <a:t>かつ</a:t>
            </a:r>
            <a:endParaRPr kumimoji="1" lang="ja-JP" altLang="en-US" sz="1200" b="1" dirty="0"/>
          </a:p>
        </p:txBody>
      </p:sp>
      <p:sp>
        <p:nvSpPr>
          <p:cNvPr id="74" name="円/楕円 73"/>
          <p:cNvSpPr/>
          <p:nvPr/>
        </p:nvSpPr>
        <p:spPr>
          <a:xfrm>
            <a:off x="7571499" y="4254093"/>
            <a:ext cx="528893" cy="495187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000" b="1" dirty="0"/>
              <a:t>≠</a:t>
            </a:r>
            <a:endParaRPr kumimoji="1" lang="ja-JP" altLang="en-US" sz="4000" b="1" dirty="0"/>
          </a:p>
        </p:txBody>
      </p:sp>
      <p:sp>
        <p:nvSpPr>
          <p:cNvPr id="77" name="正方形/長方形 76"/>
          <p:cNvSpPr/>
          <p:nvPr/>
        </p:nvSpPr>
        <p:spPr>
          <a:xfrm>
            <a:off x="8219571" y="4273330"/>
            <a:ext cx="600901" cy="52382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28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9" name="円/楕円 78"/>
          <p:cNvSpPr/>
          <p:nvPr/>
        </p:nvSpPr>
        <p:spPr>
          <a:xfrm>
            <a:off x="1274801" y="3134283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4400" b="1" dirty="0"/>
              <a:t>＝</a:t>
            </a:r>
          </a:p>
        </p:txBody>
      </p:sp>
      <p:sp>
        <p:nvSpPr>
          <p:cNvPr id="80" name="正方形/長方形 79"/>
          <p:cNvSpPr/>
          <p:nvPr/>
        </p:nvSpPr>
        <p:spPr>
          <a:xfrm>
            <a:off x="2138897" y="3182571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入力された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数値</a:t>
            </a:r>
          </a:p>
        </p:txBody>
      </p:sp>
      <p:sp>
        <p:nvSpPr>
          <p:cNvPr id="84" name="円/楕円 83"/>
          <p:cNvSpPr/>
          <p:nvPr/>
        </p:nvSpPr>
        <p:spPr>
          <a:xfrm>
            <a:off x="3363033" y="3140967"/>
            <a:ext cx="720081" cy="72008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400" b="1" dirty="0"/>
              <a:t>％</a:t>
            </a:r>
            <a:endParaRPr kumimoji="1" lang="ja-JP" altLang="en-US" sz="4400" b="1" dirty="0"/>
          </a:p>
        </p:txBody>
      </p:sp>
      <p:sp>
        <p:nvSpPr>
          <p:cNvPr id="90" name="正方形/長方形 89"/>
          <p:cNvSpPr/>
          <p:nvPr/>
        </p:nvSpPr>
        <p:spPr>
          <a:xfrm>
            <a:off x="4227129" y="3182692"/>
            <a:ext cx="1064951" cy="63687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00" name="図 9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0" y="2903954"/>
            <a:ext cx="1180738" cy="1180738"/>
          </a:xfrm>
          <a:prstGeom prst="rect">
            <a:avLst/>
          </a:prstGeom>
        </p:spPr>
      </p:pic>
      <p:pic>
        <p:nvPicPr>
          <p:cNvPr id="104" name="図 10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4060956"/>
            <a:ext cx="880212" cy="880212"/>
          </a:xfrm>
          <a:prstGeom prst="rect">
            <a:avLst/>
          </a:prstGeom>
        </p:spPr>
      </p:pic>
      <p:sp>
        <p:nvSpPr>
          <p:cNvPr id="105" name="ストライプ矢印 104"/>
          <p:cNvSpPr/>
          <p:nvPr/>
        </p:nvSpPr>
        <p:spPr>
          <a:xfrm>
            <a:off x="3851920" y="5177488"/>
            <a:ext cx="914074" cy="830968"/>
          </a:xfrm>
          <a:prstGeom prst="striped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 b="1" dirty="0" smtClean="0"/>
              <a:t>NO</a:t>
            </a:r>
            <a:endParaRPr kumimoji="1" lang="ja-JP" altLang="en-US" sz="2000" b="1" dirty="0"/>
          </a:p>
        </p:txBody>
      </p:sp>
      <p:sp>
        <p:nvSpPr>
          <p:cNvPr id="106" name="円形吹き出し 105"/>
          <p:cNvSpPr/>
          <p:nvPr/>
        </p:nvSpPr>
        <p:spPr>
          <a:xfrm>
            <a:off x="4884870" y="5180757"/>
            <a:ext cx="1487330" cy="827699"/>
          </a:xfrm>
          <a:prstGeom prst="wedgeEllipseCallout">
            <a:avLst>
              <a:gd name="adj1" fmla="val 49019"/>
              <a:gd name="adj2" fmla="val 44832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閏年で</a:t>
            </a:r>
            <a:r>
              <a:rPr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</a:t>
            </a:r>
            <a:endParaRPr lang="en-US" altLang="ja-JP" sz="1400" b="1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4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ありません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4" name="グループ化 3"/>
          <p:cNvGrpSpPr/>
          <p:nvPr/>
        </p:nvGrpSpPr>
        <p:grpSpPr>
          <a:xfrm>
            <a:off x="6275354" y="5146904"/>
            <a:ext cx="1176966" cy="861551"/>
            <a:chOff x="6275354" y="5146904"/>
            <a:chExt cx="1176966" cy="861551"/>
          </a:xfrm>
        </p:grpSpPr>
        <p:sp>
          <p:nvSpPr>
            <p:cNvPr id="107" name="二等辺三角形 106"/>
            <p:cNvSpPr/>
            <p:nvPr/>
          </p:nvSpPr>
          <p:spPr>
            <a:xfrm rot="5400000">
              <a:off x="6497804" y="5213124"/>
              <a:ext cx="861551" cy="729112"/>
            </a:xfrm>
            <a:prstGeom prst="triangle">
              <a:avLst>
                <a:gd name="adj" fmla="val 48942"/>
              </a:avLst>
            </a:prstGeom>
            <a:scene3d>
              <a:camera prst="orthographicFront">
                <a:rot lat="0" lon="0" rev="0"/>
              </a:camera>
              <a:lightRig rig="harsh" dir="t"/>
            </a:scene3d>
            <a:sp3d>
              <a:bevelT w="127000" h="50800"/>
              <a:contourClr>
                <a:schemeClr val="tx1">
                  <a:lumMod val="65000"/>
                  <a:lumOff val="35000"/>
                </a:schemeClr>
              </a:contourClr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100"/>
            </a:p>
          </p:txBody>
        </p:sp>
        <p:sp>
          <p:nvSpPr>
            <p:cNvPr id="108" name="テキスト ボックス 1011"/>
            <p:cNvSpPr txBox="1"/>
            <p:nvPr/>
          </p:nvSpPr>
          <p:spPr>
            <a:xfrm>
              <a:off x="6275354" y="5470495"/>
              <a:ext cx="1176966" cy="2536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2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を表示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35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41" grpId="0" animBg="1"/>
      <p:bldP spid="42" grpId="0" animBg="1"/>
      <p:bldP spid="91" grpId="0" animBg="1"/>
      <p:bldP spid="92" grpId="0" animBg="1"/>
      <p:bldP spid="94" grpId="0" animBg="1"/>
      <p:bldP spid="95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7" grpId="0" animBg="1"/>
      <p:bldP spid="60" grpId="0" animBg="1"/>
      <p:bldP spid="72" grpId="0" animBg="1"/>
      <p:bldP spid="74" grpId="0" animBg="1"/>
      <p:bldP spid="77" grpId="0" animBg="1"/>
      <p:bldP spid="79" grpId="0" animBg="1"/>
      <p:bldP spid="80" grpId="0" animBg="1"/>
      <p:bldP spid="84" grpId="0" animBg="1"/>
      <p:bldP spid="90" grpId="0" animBg="1"/>
      <p:bldP spid="105" grpId="0" animBg="1"/>
      <p:bldP spid="10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席移動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" name="テキスト ボックス 1"/>
          <p:cNvSpPr txBox="1">
            <a:spLocks noChangeArrowheads="1"/>
          </p:cNvSpPr>
          <p:nvPr/>
        </p:nvSpPr>
        <p:spPr bwMode="auto">
          <a:xfrm>
            <a:off x="611188" y="1712913"/>
            <a:ext cx="7993062" cy="45243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パズルのピースを片付けてください。</a:t>
            </a:r>
            <a:endParaRPr lang="en-US" altLang="ja-JP" sz="3600" dirty="0">
              <a:solidFill>
                <a:schemeClr val="bg1"/>
              </a:solidFill>
              <a:latin typeface="HG創英角ｺﾞｼｯｸUB" pitchFamily="49" charset="-128"/>
              <a:ea typeface="HG創英角ｺﾞｼｯｸUB" pitchFamily="49" charset="-128"/>
            </a:endParaRPr>
          </a:p>
          <a:p>
            <a:pPr algn="ctr" eaLnBrk="1" hangingPunct="1">
              <a:spcBef>
                <a:spcPct val="50000"/>
              </a:spcBef>
              <a:buNone/>
            </a:pPr>
            <a:r>
              <a:rPr lang="en-US" altLang="ja-JP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【</a:t>
            </a: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正答数、使用枚数メモ</a:t>
            </a:r>
            <a:r>
              <a:rPr lang="en-US" altLang="ja-JP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】</a:t>
            </a: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を記入</a:t>
            </a: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し、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48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席を移動してください。</a:t>
            </a:r>
            <a:endParaRPr lang="en-US" altLang="ja-JP" sz="4800" dirty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511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制限時間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4342" name="テキスト ボックス 1"/>
          <p:cNvSpPr txBox="1">
            <a:spLocks noChangeArrowheads="1"/>
          </p:cNvSpPr>
          <p:nvPr/>
        </p:nvSpPr>
        <p:spPr bwMode="auto">
          <a:xfrm>
            <a:off x="468313" y="1743075"/>
            <a:ext cx="842486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制限時間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は</a:t>
            </a:r>
            <a:r>
              <a:rPr lang="ja-JP" altLang="en-US" sz="50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６分間</a:t>
            </a:r>
            <a:r>
              <a:rPr lang="ja-JP" altLang="en-US" sz="5000" dirty="0">
                <a:latin typeface="HGP創英角ｺﾞｼｯｸUB" pitchFamily="50" charset="-128"/>
                <a:ea typeface="HGP創英角ｺﾞｼｯｸUB" pitchFamily="50" charset="-128"/>
              </a:rPr>
              <a:t>です</a:t>
            </a:r>
            <a:r>
              <a:rPr lang="ja-JP" altLang="en-US" sz="5000" dirty="0" smtClean="0">
                <a:latin typeface="HGP創英角ｺﾞｼｯｸUB" pitchFamily="50" charset="-128"/>
                <a:ea typeface="HGP創英角ｺﾞｼｯｸUB" pitchFamily="50" charset="-128"/>
              </a:rPr>
              <a:t>。</a:t>
            </a:r>
            <a:endParaRPr lang="en-US" altLang="ja-JP" sz="50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305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問題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3318" name="テキスト ボックス 1"/>
          <p:cNvSpPr txBox="1">
            <a:spLocks noChangeArrowheads="1"/>
          </p:cNvSpPr>
          <p:nvPr/>
        </p:nvSpPr>
        <p:spPr bwMode="auto">
          <a:xfrm>
            <a:off x="323528" y="1268760"/>
            <a:ext cx="849694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1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～</a:t>
            </a:r>
            <a:r>
              <a:rPr lang="en-US" altLang="ja-JP" dirty="0">
                <a:latin typeface="HGP創英角ｺﾞｼｯｸUB" pitchFamily="50" charset="-128"/>
                <a:ea typeface="HGP創英角ｺﾞｼｯｸUB" pitchFamily="50" charset="-128"/>
              </a:rPr>
              <a:t>100</a:t>
            </a:r>
            <a:r>
              <a:rPr lang="ja-JP" altLang="en-US" dirty="0" err="1">
                <a:latin typeface="HGP創英角ｺﾞｼｯｸUB" pitchFamily="50" charset="-128"/>
                <a:ea typeface="HGP創英角ｺﾞｼｯｸUB" pitchFamily="50" charset="-128"/>
              </a:rPr>
              <a:t>までの</a:t>
            </a:r>
            <a:r>
              <a:rPr lang="ja-JP" altLang="en-US" dirty="0">
                <a:latin typeface="HGP創英角ｺﾞｼｯｸUB" pitchFamily="50" charset="-128"/>
                <a:ea typeface="HGP創英角ｺﾞｼｯｸUB" pitchFamily="50" charset="-128"/>
              </a:rPr>
              <a:t>合計値を表示するフローチャートパズルを完成</a:t>
            </a:r>
            <a:r>
              <a:rPr lang="ja-JP" altLang="en-US" dirty="0" smtClean="0">
                <a:latin typeface="HGP創英角ｺﾞｼｯｸUB" pitchFamily="50" charset="-128"/>
                <a:ea typeface="HGP創英角ｺﾞｼｯｸUB" pitchFamily="50" charset="-128"/>
              </a:rPr>
              <a:t>させましょう。</a:t>
            </a:r>
            <a:endParaRPr lang="en-US" altLang="ja-JP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786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3"/>
          <p:cNvSpPr>
            <a:spLocks noChangeArrowheads="1"/>
          </p:cNvSpPr>
          <p:nvPr/>
        </p:nvSpPr>
        <p:spPr bwMode="ltGray">
          <a:xfrm>
            <a:off x="0" y="0"/>
            <a:ext cx="9144000" cy="68580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 dirty="0">
              <a:latin typeface="Arial" charset="0"/>
            </a:endParaRPr>
          </a:p>
        </p:txBody>
      </p:sp>
      <p:sp>
        <p:nvSpPr>
          <p:cNvPr id="5" name="フローチャート : 抜出し 4"/>
          <p:cNvSpPr/>
          <p:nvPr/>
        </p:nvSpPr>
        <p:spPr>
          <a:xfrm rot="10800000">
            <a:off x="477634" y="116632"/>
            <a:ext cx="1291098" cy="459288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6" name="テキスト ボックス 779"/>
          <p:cNvSpPr txBox="1"/>
          <p:nvPr/>
        </p:nvSpPr>
        <p:spPr>
          <a:xfrm>
            <a:off x="400581" y="187691"/>
            <a:ext cx="1466850" cy="20039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SATRT</a:t>
            </a:r>
            <a:endParaRPr kumimoji="1"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34" y="654754"/>
            <a:ext cx="830030" cy="830030"/>
          </a:xfrm>
          <a:prstGeom prst="rect">
            <a:avLst/>
          </a:prstGeom>
        </p:spPr>
      </p:pic>
      <p:sp>
        <p:nvSpPr>
          <p:cNvPr id="9" name="円/楕円 8"/>
          <p:cNvSpPr/>
          <p:nvPr/>
        </p:nvSpPr>
        <p:spPr>
          <a:xfrm>
            <a:off x="1619672" y="741292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 b="1" dirty="0"/>
              <a:t>＝</a:t>
            </a:r>
          </a:p>
        </p:txBody>
      </p:sp>
      <p:cxnSp>
        <p:nvCxnSpPr>
          <p:cNvPr id="26" name="直線コネクタ 25"/>
          <p:cNvCxnSpPr/>
          <p:nvPr/>
        </p:nvCxnSpPr>
        <p:spPr>
          <a:xfrm>
            <a:off x="539552" y="2204864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>
            <a:off x="496198" y="2924944"/>
            <a:ext cx="810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1011"/>
          <p:cNvSpPr txBox="1"/>
          <p:nvPr/>
        </p:nvSpPr>
        <p:spPr>
          <a:xfrm>
            <a:off x="2987824" y="4494206"/>
            <a:ext cx="1346114" cy="34660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を表示</a:t>
            </a:r>
          </a:p>
        </p:txBody>
      </p:sp>
      <p:sp>
        <p:nvSpPr>
          <p:cNvPr id="39" name="二等辺三角形 38"/>
          <p:cNvSpPr/>
          <p:nvPr/>
        </p:nvSpPr>
        <p:spPr>
          <a:xfrm rot="5400000">
            <a:off x="1605226" y="5376843"/>
            <a:ext cx="731430" cy="701475"/>
          </a:xfrm>
          <a:prstGeom prst="triangle">
            <a:avLst/>
          </a:prstGeom>
          <a:scene3d>
            <a:camera prst="orthographicFront">
              <a:rot lat="0" lon="0" rev="0"/>
            </a:camera>
            <a:lightRig rig="harsh" dir="t"/>
          </a:scene3d>
          <a:sp3d>
            <a:bevelT w="127000" h="5080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40" name="テキスト ボックス 1011"/>
          <p:cNvSpPr txBox="1"/>
          <p:nvPr/>
        </p:nvSpPr>
        <p:spPr>
          <a:xfrm>
            <a:off x="1433963" y="5662587"/>
            <a:ext cx="833781" cy="21468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を表示</a:t>
            </a:r>
          </a:p>
        </p:txBody>
      </p:sp>
      <p:sp>
        <p:nvSpPr>
          <p:cNvPr id="43" name="フローチャート : 抜出し 42"/>
          <p:cNvSpPr/>
          <p:nvPr/>
        </p:nvSpPr>
        <p:spPr>
          <a:xfrm>
            <a:off x="539553" y="6220709"/>
            <a:ext cx="1225220" cy="520659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44" name="テキスト ボックス 780"/>
          <p:cNvSpPr txBox="1"/>
          <p:nvPr/>
        </p:nvSpPr>
        <p:spPr>
          <a:xfrm>
            <a:off x="532466" y="6504215"/>
            <a:ext cx="1303230" cy="23715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  <a:endParaRPr kumimoji="1"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45" name="直線コネクタ 44"/>
          <p:cNvCxnSpPr/>
          <p:nvPr/>
        </p:nvCxnSpPr>
        <p:spPr>
          <a:xfrm>
            <a:off x="467544" y="3717032"/>
            <a:ext cx="810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>
            <a:off x="504187" y="620688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/>
        </p:nvSpPr>
        <p:spPr>
          <a:xfrm>
            <a:off x="2411760" y="688444"/>
            <a:ext cx="936104" cy="68176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40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4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41" name="直線コネクタ 40"/>
          <p:cNvCxnSpPr/>
          <p:nvPr/>
        </p:nvCxnSpPr>
        <p:spPr>
          <a:xfrm>
            <a:off x="539552" y="1412776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472551" y="5301208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467544" y="4509120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/>
        </p:nvCxnSpPr>
        <p:spPr>
          <a:xfrm>
            <a:off x="467544" y="6165304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円/楕円 49"/>
          <p:cNvSpPr/>
          <p:nvPr/>
        </p:nvSpPr>
        <p:spPr>
          <a:xfrm>
            <a:off x="1619671" y="1533380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 b="1" dirty="0"/>
              <a:t>＝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411759" y="1480532"/>
            <a:ext cx="936104" cy="68176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40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4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2" name="図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34" y="1412776"/>
            <a:ext cx="816981" cy="816981"/>
          </a:xfrm>
          <a:prstGeom prst="rect">
            <a:avLst/>
          </a:prstGeom>
        </p:spPr>
      </p:pic>
      <p:sp>
        <p:nvSpPr>
          <p:cNvPr id="53" name="円/楕円 52"/>
          <p:cNvSpPr/>
          <p:nvPr/>
        </p:nvSpPr>
        <p:spPr>
          <a:xfrm>
            <a:off x="768280" y="2229757"/>
            <a:ext cx="766336" cy="6966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START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4" name="図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4" y="2230349"/>
            <a:ext cx="483024" cy="222934"/>
          </a:xfrm>
          <a:prstGeom prst="rect">
            <a:avLst/>
          </a:prstGeom>
        </p:spPr>
      </p:pic>
      <p:pic>
        <p:nvPicPr>
          <p:cNvPr id="56" name="図 5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20624" y="2705159"/>
            <a:ext cx="483024" cy="222934"/>
          </a:xfrm>
          <a:prstGeom prst="rect">
            <a:avLst/>
          </a:prstGeom>
        </p:spPr>
      </p:pic>
      <p:pic>
        <p:nvPicPr>
          <p:cNvPr id="57" name="図 5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729" y="2166922"/>
            <a:ext cx="830030" cy="830030"/>
          </a:xfrm>
          <a:prstGeom prst="rect">
            <a:avLst/>
          </a:prstGeom>
        </p:spPr>
      </p:pic>
      <p:sp>
        <p:nvSpPr>
          <p:cNvPr id="70" name="円/楕円 69"/>
          <p:cNvSpPr/>
          <p:nvPr/>
        </p:nvSpPr>
        <p:spPr>
          <a:xfrm>
            <a:off x="776246" y="4581128"/>
            <a:ext cx="766336" cy="6966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1" name="図 7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60" y="4581720"/>
            <a:ext cx="483024" cy="222934"/>
          </a:xfrm>
          <a:prstGeom prst="rect">
            <a:avLst/>
          </a:prstGeom>
        </p:spPr>
      </p:pic>
      <p:pic>
        <p:nvPicPr>
          <p:cNvPr id="72" name="図 7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28590" y="5056530"/>
            <a:ext cx="483024" cy="222934"/>
          </a:xfrm>
          <a:prstGeom prst="rect">
            <a:avLst/>
          </a:prstGeom>
        </p:spPr>
      </p:pic>
      <p:pic>
        <p:nvPicPr>
          <p:cNvPr id="73" name="図 7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83" y="5348323"/>
            <a:ext cx="816981" cy="816981"/>
          </a:xfrm>
          <a:prstGeom prst="rect">
            <a:avLst/>
          </a:prstGeom>
        </p:spPr>
      </p:pic>
      <p:sp>
        <p:nvSpPr>
          <p:cNvPr id="74" name="円/楕円 73"/>
          <p:cNvSpPr/>
          <p:nvPr/>
        </p:nvSpPr>
        <p:spPr>
          <a:xfrm>
            <a:off x="2474376" y="2267480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 b="1" dirty="0"/>
              <a:t>＝</a:t>
            </a:r>
          </a:p>
        </p:txBody>
      </p:sp>
      <p:sp>
        <p:nvSpPr>
          <p:cNvPr id="75" name="正方形/長方形 74"/>
          <p:cNvSpPr/>
          <p:nvPr/>
        </p:nvSpPr>
        <p:spPr>
          <a:xfrm>
            <a:off x="3233485" y="2229757"/>
            <a:ext cx="936104" cy="68176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0197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発表</a:t>
            </a:r>
          </a:p>
        </p:txBody>
      </p:sp>
      <p:sp>
        <p:nvSpPr>
          <p:cNvPr id="5" name="テキスト ボックス 1"/>
          <p:cNvSpPr txBox="1">
            <a:spLocks noChangeArrowheads="1"/>
          </p:cNvSpPr>
          <p:nvPr/>
        </p:nvSpPr>
        <p:spPr bwMode="auto">
          <a:xfrm>
            <a:off x="611188" y="1712913"/>
            <a:ext cx="7993062" cy="45243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発表</a:t>
            </a:r>
            <a:endParaRPr lang="en-US" altLang="ja-JP" sz="6600" dirty="0" smtClean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6600" dirty="0" smtClean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2</a:t>
            </a:r>
            <a:r>
              <a:rPr lang="ja-JP" altLang="en-US" sz="6600" dirty="0">
                <a:solidFill>
                  <a:schemeClr val="bg1"/>
                </a:solidFill>
                <a:latin typeface="HGP創英角ｺﾞｼｯｸUB" pitchFamily="50" charset="-128"/>
                <a:ea typeface="HGP創英角ｺﾞｼｯｸUB" pitchFamily="50" charset="-128"/>
              </a:rPr>
              <a:t>分間</a:t>
            </a:r>
            <a:endParaRPr lang="en-US" altLang="ja-JP" sz="6600" dirty="0">
              <a:solidFill>
                <a:schemeClr val="bg1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421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3"/>
          <p:cNvSpPr>
            <a:spLocks noChangeArrowheads="1"/>
          </p:cNvSpPr>
          <p:nvPr/>
        </p:nvSpPr>
        <p:spPr bwMode="ltGray">
          <a:xfrm>
            <a:off x="0" y="0"/>
            <a:ext cx="9144000" cy="68580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 dirty="0">
              <a:latin typeface="Arial" charset="0"/>
            </a:endParaRPr>
          </a:p>
        </p:txBody>
      </p:sp>
      <p:sp>
        <p:nvSpPr>
          <p:cNvPr id="5" name="フローチャート : 抜出し 4"/>
          <p:cNvSpPr/>
          <p:nvPr/>
        </p:nvSpPr>
        <p:spPr>
          <a:xfrm rot="10800000">
            <a:off x="477634" y="116632"/>
            <a:ext cx="1291098" cy="459288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6" name="テキスト ボックス 779"/>
          <p:cNvSpPr txBox="1"/>
          <p:nvPr/>
        </p:nvSpPr>
        <p:spPr>
          <a:xfrm>
            <a:off x="400581" y="187691"/>
            <a:ext cx="1466850" cy="20039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SATRT</a:t>
            </a:r>
            <a:endParaRPr kumimoji="1"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34" y="654754"/>
            <a:ext cx="830030" cy="830030"/>
          </a:xfrm>
          <a:prstGeom prst="rect">
            <a:avLst/>
          </a:prstGeom>
        </p:spPr>
      </p:pic>
      <p:sp>
        <p:nvSpPr>
          <p:cNvPr id="9" name="円/楕円 8"/>
          <p:cNvSpPr/>
          <p:nvPr/>
        </p:nvSpPr>
        <p:spPr>
          <a:xfrm>
            <a:off x="1619672" y="741292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 b="1" dirty="0"/>
              <a:t>＝</a:t>
            </a:r>
          </a:p>
        </p:txBody>
      </p:sp>
      <p:cxnSp>
        <p:nvCxnSpPr>
          <p:cNvPr id="26" name="直線コネクタ 25"/>
          <p:cNvCxnSpPr/>
          <p:nvPr/>
        </p:nvCxnSpPr>
        <p:spPr>
          <a:xfrm>
            <a:off x="539552" y="2204864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>
            <a:off x="496198" y="2924944"/>
            <a:ext cx="810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1011"/>
          <p:cNvSpPr txBox="1"/>
          <p:nvPr/>
        </p:nvSpPr>
        <p:spPr>
          <a:xfrm>
            <a:off x="2987824" y="4494206"/>
            <a:ext cx="1346114" cy="34660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を表示</a:t>
            </a:r>
          </a:p>
        </p:txBody>
      </p:sp>
      <p:sp>
        <p:nvSpPr>
          <p:cNvPr id="39" name="二等辺三角形 38"/>
          <p:cNvSpPr/>
          <p:nvPr/>
        </p:nvSpPr>
        <p:spPr>
          <a:xfrm rot="5400000">
            <a:off x="1605226" y="5376843"/>
            <a:ext cx="731430" cy="701475"/>
          </a:xfrm>
          <a:prstGeom prst="triangle">
            <a:avLst/>
          </a:prstGeom>
          <a:scene3d>
            <a:camera prst="orthographicFront">
              <a:rot lat="0" lon="0" rev="0"/>
            </a:camera>
            <a:lightRig rig="harsh" dir="t"/>
          </a:scene3d>
          <a:sp3d>
            <a:bevelT w="127000" h="5080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40" name="テキスト ボックス 1011"/>
          <p:cNvSpPr txBox="1"/>
          <p:nvPr/>
        </p:nvSpPr>
        <p:spPr>
          <a:xfrm>
            <a:off x="1433963" y="5662587"/>
            <a:ext cx="833781" cy="21468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を表示</a:t>
            </a:r>
          </a:p>
        </p:txBody>
      </p:sp>
      <p:sp>
        <p:nvSpPr>
          <p:cNvPr id="43" name="フローチャート : 抜出し 42"/>
          <p:cNvSpPr/>
          <p:nvPr/>
        </p:nvSpPr>
        <p:spPr>
          <a:xfrm>
            <a:off x="539553" y="6220709"/>
            <a:ext cx="1225220" cy="520659"/>
          </a:xfrm>
          <a:prstGeom prst="flowChartExtra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8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4000"/>
                  <a:satMod val="13500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/>
          </a:scene3d>
          <a:sp3d>
            <a:bevelT w="101600" h="4445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 b="1"/>
          </a:p>
        </p:txBody>
      </p:sp>
      <p:sp>
        <p:nvSpPr>
          <p:cNvPr id="44" name="テキスト ボックス 780"/>
          <p:cNvSpPr txBox="1"/>
          <p:nvPr/>
        </p:nvSpPr>
        <p:spPr>
          <a:xfrm>
            <a:off x="532466" y="6504215"/>
            <a:ext cx="1303230" cy="23715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  <a:endParaRPr kumimoji="1"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45" name="直線コネクタ 44"/>
          <p:cNvCxnSpPr/>
          <p:nvPr/>
        </p:nvCxnSpPr>
        <p:spPr>
          <a:xfrm>
            <a:off x="467544" y="3717032"/>
            <a:ext cx="810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/>
        </p:nvCxnSpPr>
        <p:spPr>
          <a:xfrm>
            <a:off x="504187" y="620688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/>
        </p:nvSpPr>
        <p:spPr>
          <a:xfrm>
            <a:off x="2411760" y="688444"/>
            <a:ext cx="936104" cy="68176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40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4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41" name="直線コネクタ 40"/>
          <p:cNvCxnSpPr/>
          <p:nvPr/>
        </p:nvCxnSpPr>
        <p:spPr>
          <a:xfrm>
            <a:off x="539552" y="1412776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472551" y="5301208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467544" y="4509120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/>
        </p:nvCxnSpPr>
        <p:spPr>
          <a:xfrm>
            <a:off x="467544" y="6165304"/>
            <a:ext cx="8028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円/楕円 49"/>
          <p:cNvSpPr/>
          <p:nvPr/>
        </p:nvSpPr>
        <p:spPr>
          <a:xfrm>
            <a:off x="1619671" y="1533380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 b="1" dirty="0"/>
              <a:t>＝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411759" y="1480532"/>
            <a:ext cx="936104" cy="68176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40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</a:t>
            </a:r>
            <a:endParaRPr kumimoji="1" lang="ja-JP" altLang="en-US" sz="4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2" name="図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34" y="1412776"/>
            <a:ext cx="816981" cy="816981"/>
          </a:xfrm>
          <a:prstGeom prst="rect">
            <a:avLst/>
          </a:prstGeom>
        </p:spPr>
      </p:pic>
      <p:sp>
        <p:nvSpPr>
          <p:cNvPr id="53" name="円/楕円 52"/>
          <p:cNvSpPr/>
          <p:nvPr/>
        </p:nvSpPr>
        <p:spPr>
          <a:xfrm>
            <a:off x="768280" y="2229757"/>
            <a:ext cx="766336" cy="6966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START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4" name="図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4" y="2230349"/>
            <a:ext cx="483024" cy="222934"/>
          </a:xfrm>
          <a:prstGeom prst="rect">
            <a:avLst/>
          </a:prstGeom>
        </p:spPr>
      </p:pic>
      <p:pic>
        <p:nvPicPr>
          <p:cNvPr id="56" name="図 5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20624" y="2705159"/>
            <a:ext cx="483024" cy="222934"/>
          </a:xfrm>
          <a:prstGeom prst="rect">
            <a:avLst/>
          </a:prstGeom>
        </p:spPr>
      </p:pic>
      <p:pic>
        <p:nvPicPr>
          <p:cNvPr id="57" name="図 5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729" y="2166922"/>
            <a:ext cx="830030" cy="830030"/>
          </a:xfrm>
          <a:prstGeom prst="rect">
            <a:avLst/>
          </a:prstGeom>
        </p:spPr>
      </p:pic>
      <p:pic>
        <p:nvPicPr>
          <p:cNvPr id="58" name="図 5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91" y="2959010"/>
            <a:ext cx="830030" cy="830030"/>
          </a:xfrm>
          <a:prstGeom prst="rect">
            <a:avLst/>
          </a:prstGeom>
        </p:spPr>
      </p:pic>
      <p:sp>
        <p:nvSpPr>
          <p:cNvPr id="59" name="円/楕円 58"/>
          <p:cNvSpPr/>
          <p:nvPr/>
        </p:nvSpPr>
        <p:spPr>
          <a:xfrm>
            <a:off x="1682287" y="2996952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 b="1" dirty="0"/>
              <a:t>＝</a:t>
            </a:r>
          </a:p>
        </p:txBody>
      </p:sp>
      <p:pic>
        <p:nvPicPr>
          <p:cNvPr id="60" name="図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818" y="2959010"/>
            <a:ext cx="830030" cy="830030"/>
          </a:xfrm>
          <a:prstGeom prst="rect">
            <a:avLst/>
          </a:prstGeom>
        </p:spPr>
      </p:pic>
      <p:sp>
        <p:nvSpPr>
          <p:cNvPr id="61" name="円/楕円 60"/>
          <p:cNvSpPr/>
          <p:nvPr/>
        </p:nvSpPr>
        <p:spPr>
          <a:xfrm>
            <a:off x="3223007" y="3016111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dirty="0"/>
              <a:t>+</a:t>
            </a:r>
            <a:endParaRPr kumimoji="1" lang="ja-JP" altLang="en-US" sz="3600" b="1" dirty="0"/>
          </a:p>
        </p:txBody>
      </p:sp>
      <p:sp>
        <p:nvSpPr>
          <p:cNvPr id="62" name="正方形/長方形 61"/>
          <p:cNvSpPr/>
          <p:nvPr/>
        </p:nvSpPr>
        <p:spPr>
          <a:xfrm>
            <a:off x="4018625" y="2963262"/>
            <a:ext cx="936104" cy="68176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40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endParaRPr kumimoji="1" lang="ja-JP" altLang="en-US" sz="4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63" name="図 6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7" y="3734680"/>
            <a:ext cx="816981" cy="816981"/>
          </a:xfrm>
          <a:prstGeom prst="rect">
            <a:avLst/>
          </a:prstGeom>
        </p:spPr>
      </p:pic>
      <p:sp>
        <p:nvSpPr>
          <p:cNvPr id="64" name="円/楕円 63"/>
          <p:cNvSpPr/>
          <p:nvPr/>
        </p:nvSpPr>
        <p:spPr>
          <a:xfrm>
            <a:off x="1692765" y="3787409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 b="1" dirty="0"/>
              <a:t>＝</a:t>
            </a:r>
          </a:p>
        </p:txBody>
      </p:sp>
      <p:sp>
        <p:nvSpPr>
          <p:cNvPr id="66" name="円/楕円 65"/>
          <p:cNvSpPr/>
          <p:nvPr/>
        </p:nvSpPr>
        <p:spPr>
          <a:xfrm>
            <a:off x="3233485" y="3806568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dirty="0"/>
              <a:t>+</a:t>
            </a:r>
            <a:endParaRPr kumimoji="1" lang="ja-JP" altLang="en-US" sz="3600" b="1" dirty="0"/>
          </a:p>
        </p:txBody>
      </p:sp>
      <p:pic>
        <p:nvPicPr>
          <p:cNvPr id="68" name="図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625" y="3734680"/>
            <a:ext cx="830030" cy="830030"/>
          </a:xfrm>
          <a:prstGeom prst="rect">
            <a:avLst/>
          </a:prstGeom>
        </p:spPr>
      </p:pic>
      <p:pic>
        <p:nvPicPr>
          <p:cNvPr id="69" name="図 6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42" y="3717032"/>
            <a:ext cx="816981" cy="816981"/>
          </a:xfrm>
          <a:prstGeom prst="rect">
            <a:avLst/>
          </a:prstGeom>
        </p:spPr>
      </p:pic>
      <p:sp>
        <p:nvSpPr>
          <p:cNvPr id="70" name="円/楕円 69"/>
          <p:cNvSpPr/>
          <p:nvPr/>
        </p:nvSpPr>
        <p:spPr>
          <a:xfrm>
            <a:off x="776246" y="4581128"/>
            <a:ext cx="766336" cy="6966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200" b="1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1" name="図 7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60" y="4581720"/>
            <a:ext cx="483024" cy="222934"/>
          </a:xfrm>
          <a:prstGeom prst="rect">
            <a:avLst/>
          </a:prstGeom>
        </p:spPr>
      </p:pic>
      <p:pic>
        <p:nvPicPr>
          <p:cNvPr id="72" name="図 7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28590" y="5056530"/>
            <a:ext cx="483024" cy="222934"/>
          </a:xfrm>
          <a:prstGeom prst="rect">
            <a:avLst/>
          </a:prstGeom>
        </p:spPr>
      </p:pic>
      <p:pic>
        <p:nvPicPr>
          <p:cNvPr id="73" name="図 7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83" y="5348323"/>
            <a:ext cx="816981" cy="816981"/>
          </a:xfrm>
          <a:prstGeom prst="rect">
            <a:avLst/>
          </a:prstGeom>
        </p:spPr>
      </p:pic>
      <p:sp>
        <p:nvSpPr>
          <p:cNvPr id="74" name="円/楕円 73"/>
          <p:cNvSpPr/>
          <p:nvPr/>
        </p:nvSpPr>
        <p:spPr>
          <a:xfrm>
            <a:off x="2474376" y="2267480"/>
            <a:ext cx="628913" cy="6289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 b="1" dirty="0"/>
              <a:t>＝</a:t>
            </a:r>
          </a:p>
        </p:txBody>
      </p:sp>
      <p:sp>
        <p:nvSpPr>
          <p:cNvPr id="75" name="正方形/長方形 74"/>
          <p:cNvSpPr/>
          <p:nvPr/>
        </p:nvSpPr>
        <p:spPr>
          <a:xfrm>
            <a:off x="3233485" y="2229757"/>
            <a:ext cx="936104" cy="68176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10800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100</a:t>
            </a:r>
            <a:endParaRPr kumimoji="1" lang="ja-JP" altLang="en-US" sz="28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392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 animBg="1"/>
      <p:bldP spid="62" grpId="0" animBg="1"/>
      <p:bldP spid="64" grpId="0" animBg="1"/>
      <p:bldP spid="6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 dirty="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課題４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en-US" altLang="ja-JP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Java</a:t>
            </a:r>
            <a:r>
              <a:rPr lang="ja-JP" alt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コードサンプル</a:t>
            </a:r>
            <a:endParaRPr lang="ja-JP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7657" name="テキスト ボックス 2"/>
          <p:cNvSpPr txBox="1">
            <a:spLocks noChangeArrowheads="1"/>
          </p:cNvSpPr>
          <p:nvPr/>
        </p:nvSpPr>
        <p:spPr bwMode="auto">
          <a:xfrm>
            <a:off x="573088" y="1539875"/>
            <a:ext cx="458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3100">
                <a:solidFill>
                  <a:schemeClr val="bg1"/>
                </a:solidFill>
                <a:latin typeface="Arial Black" pitchFamily="34" charset="0"/>
              </a:rPr>
              <a:t>1</a:t>
            </a:r>
            <a:endParaRPr lang="ja-JP" altLang="en-US" sz="31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9" name="テキスト ボックス 1"/>
          <p:cNvSpPr txBox="1">
            <a:spLocks noChangeArrowheads="1"/>
          </p:cNvSpPr>
          <p:nvPr/>
        </p:nvSpPr>
        <p:spPr bwMode="auto">
          <a:xfrm>
            <a:off x="573088" y="1412776"/>
            <a:ext cx="7920038" cy="465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None/>
            </a:pPr>
            <a:r>
              <a:rPr lang="en-US" altLang="ja-JP" sz="2800" dirty="0" smtClean="0"/>
              <a:t>public </a:t>
            </a:r>
            <a:r>
              <a:rPr lang="en-US" altLang="ja-JP" sz="2800" dirty="0"/>
              <a:t>static void main(String[] </a:t>
            </a:r>
            <a:r>
              <a:rPr lang="en-US" altLang="ja-JP" sz="2800" dirty="0" err="1"/>
              <a:t>args</a:t>
            </a:r>
            <a:r>
              <a:rPr lang="en-US" altLang="ja-JP" sz="2800" dirty="0"/>
              <a:t>) {</a:t>
            </a:r>
          </a:p>
          <a:p>
            <a:pPr>
              <a:buNone/>
            </a:pPr>
            <a:r>
              <a:rPr lang="en-US" altLang="ja-JP" sz="2800" b="1" dirty="0"/>
              <a:t>    </a:t>
            </a:r>
            <a:r>
              <a:rPr lang="en-US" altLang="ja-JP" sz="2800" b="1" dirty="0" err="1" smtClean="0"/>
              <a:t>int</a:t>
            </a:r>
            <a:r>
              <a:rPr lang="en-US" altLang="ja-JP" sz="2800" b="1" dirty="0" smtClean="0"/>
              <a:t> </a:t>
            </a:r>
            <a:r>
              <a:rPr lang="en-US" altLang="ja-JP" sz="2800" b="1" dirty="0"/>
              <a:t>a = 0;</a:t>
            </a:r>
          </a:p>
          <a:p>
            <a:pPr>
              <a:buNone/>
            </a:pPr>
            <a:r>
              <a:rPr lang="ja-JP" altLang="en-US" sz="2800" b="1" dirty="0"/>
              <a:t> </a:t>
            </a:r>
            <a:r>
              <a:rPr lang="ja-JP" altLang="en-US" sz="2800" b="1" dirty="0" smtClean="0"/>
              <a:t>   </a:t>
            </a:r>
            <a:r>
              <a:rPr lang="en-US" altLang="ja-JP" sz="2800" b="1" dirty="0" err="1" smtClean="0"/>
              <a:t>int</a:t>
            </a:r>
            <a:r>
              <a:rPr lang="en-US" altLang="ja-JP" sz="2800" b="1" dirty="0" smtClean="0"/>
              <a:t> </a:t>
            </a:r>
            <a:r>
              <a:rPr lang="en-US" altLang="ja-JP" sz="2800" b="1" dirty="0"/>
              <a:t>total = 0;</a:t>
            </a:r>
          </a:p>
          <a:p>
            <a:pPr>
              <a:buNone/>
            </a:pPr>
            <a:r>
              <a:rPr lang="en-US" altLang="ja-JP" sz="2800" b="1" dirty="0" smtClean="0"/>
              <a:t>    while </a:t>
            </a:r>
            <a:r>
              <a:rPr lang="en-US" altLang="ja-JP" sz="2800" b="1" dirty="0"/>
              <a:t>(a &lt; 100) {</a:t>
            </a:r>
          </a:p>
          <a:p>
            <a:pPr>
              <a:buNone/>
            </a:pPr>
            <a:r>
              <a:rPr lang="en-US" altLang="ja-JP" sz="2800" b="1" dirty="0" smtClean="0"/>
              <a:t>        a </a:t>
            </a:r>
            <a:r>
              <a:rPr lang="en-US" altLang="ja-JP" sz="2800" b="1" dirty="0"/>
              <a:t>= a + 1;</a:t>
            </a:r>
          </a:p>
          <a:p>
            <a:pPr>
              <a:buNone/>
            </a:pPr>
            <a:r>
              <a:rPr lang="en-US" altLang="ja-JP" sz="2800" b="1" dirty="0" smtClean="0"/>
              <a:t>        total </a:t>
            </a:r>
            <a:r>
              <a:rPr lang="en-US" altLang="ja-JP" sz="2800" b="1" dirty="0"/>
              <a:t>= total + a;</a:t>
            </a:r>
          </a:p>
          <a:p>
            <a:pPr>
              <a:buNone/>
            </a:pPr>
            <a:r>
              <a:rPr lang="en-US" altLang="ja-JP" sz="2800" b="1" dirty="0" smtClean="0"/>
              <a:t>    }</a:t>
            </a:r>
            <a:endParaRPr lang="en-US" altLang="ja-JP" sz="2800" b="1" dirty="0"/>
          </a:p>
          <a:p>
            <a:pPr>
              <a:buNone/>
            </a:pPr>
            <a:r>
              <a:rPr lang="en-US" altLang="ja-JP" sz="2800" b="1" dirty="0" smtClean="0"/>
              <a:t>    </a:t>
            </a:r>
            <a:r>
              <a:rPr lang="en-US" altLang="ja-JP" sz="2800" b="1" dirty="0" err="1" smtClean="0"/>
              <a:t>System.</a:t>
            </a:r>
            <a:r>
              <a:rPr lang="en-US" altLang="ja-JP" sz="2800" b="1" i="1" dirty="0" err="1" smtClean="0"/>
              <a:t>out.println</a:t>
            </a:r>
            <a:r>
              <a:rPr lang="en-US" altLang="ja-JP" sz="2800" b="1" i="1" dirty="0" smtClean="0"/>
              <a:t>(total</a:t>
            </a:r>
            <a:r>
              <a:rPr lang="en-US" altLang="ja-JP" sz="2800" b="1" i="1" dirty="0"/>
              <a:t>);</a:t>
            </a:r>
          </a:p>
          <a:p>
            <a:pPr>
              <a:buNone/>
            </a:pPr>
            <a:r>
              <a:rPr lang="en-US" altLang="ja-JP" sz="2800" dirty="0" smtClean="0"/>
              <a:t>}</a:t>
            </a:r>
            <a:endParaRPr lang="en-US" altLang="ja-JP" sz="28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546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04664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　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席移動</a:t>
            </a:r>
            <a:r>
              <a:rPr lang="en-US" altLang="ja-JP" sz="35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endParaRPr lang="ja-JP" altLang="en-US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5" name="テキスト ボックス 1"/>
          <p:cNvSpPr txBox="1">
            <a:spLocks noChangeArrowheads="1"/>
          </p:cNvSpPr>
          <p:nvPr/>
        </p:nvSpPr>
        <p:spPr bwMode="auto">
          <a:xfrm>
            <a:off x="611188" y="1712913"/>
            <a:ext cx="7993062" cy="45243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課題は以上です。</a:t>
            </a:r>
            <a:endParaRPr lang="en-US" altLang="ja-JP" sz="3600" dirty="0" smtClean="0">
              <a:solidFill>
                <a:schemeClr val="bg1"/>
              </a:solidFill>
              <a:latin typeface="HG創英角ｺﾞｼｯｸUB" pitchFamily="49" charset="-128"/>
              <a:ea typeface="HG創英角ｺﾞｼｯｸUB" pitchFamily="49" charset="-128"/>
            </a:endParaRPr>
          </a:p>
          <a:p>
            <a:pPr algn="ctr" eaLnBrk="1" hangingPunct="1">
              <a:spcBef>
                <a:spcPct val="50000"/>
              </a:spcBef>
              <a:buNone/>
            </a:pP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パズル</a:t>
            </a: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のピースを片付けてください。</a:t>
            </a:r>
            <a:endParaRPr lang="en-US" altLang="ja-JP" sz="3600" dirty="0">
              <a:solidFill>
                <a:schemeClr val="bg1"/>
              </a:solidFill>
              <a:latin typeface="HG創英角ｺﾞｼｯｸUB" pitchFamily="49" charset="-128"/>
              <a:ea typeface="HG創英角ｺﾞｼｯｸUB" pitchFamily="49" charset="-128"/>
            </a:endParaRPr>
          </a:p>
          <a:p>
            <a:pPr algn="ctr" eaLnBrk="1" hangingPunct="1">
              <a:spcBef>
                <a:spcPct val="50000"/>
              </a:spcBef>
              <a:buNone/>
            </a:pPr>
            <a:r>
              <a:rPr lang="en-US" altLang="ja-JP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【</a:t>
            </a:r>
            <a:r>
              <a:rPr lang="ja-JP" altLang="en-US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正答数、使用枚数メモ</a:t>
            </a:r>
            <a:r>
              <a:rPr lang="en-US" altLang="ja-JP" sz="3600" dirty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】</a:t>
            </a:r>
            <a:r>
              <a:rPr lang="ja-JP" altLang="en-US" sz="3600" dirty="0" smtClean="0">
                <a:solidFill>
                  <a:schemeClr val="bg1"/>
                </a:solidFill>
                <a:latin typeface="HG創英角ｺﾞｼｯｸUB" pitchFamily="49" charset="-128"/>
                <a:ea typeface="HG創英角ｺﾞｼｯｸUB" pitchFamily="49" charset="-128"/>
              </a:rPr>
              <a:t>を記入してください。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420602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グループワークの振り返り</a:t>
            </a:r>
          </a:p>
        </p:txBody>
      </p:sp>
      <p:sp>
        <p:nvSpPr>
          <p:cNvPr id="27654" name="テキスト ボックス 1"/>
          <p:cNvSpPr txBox="1">
            <a:spLocks noChangeArrowheads="1"/>
          </p:cNvSpPr>
          <p:nvPr/>
        </p:nvSpPr>
        <p:spPr bwMode="auto">
          <a:xfrm>
            <a:off x="539750" y="2297113"/>
            <a:ext cx="7920038" cy="2714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ja-JP" sz="3400" dirty="0">
                <a:latin typeface="HGP創英角ｺﾞｼｯｸUB" pitchFamily="50" charset="-128"/>
                <a:ea typeface="HGP創英角ｺﾞｼｯｸUB" pitchFamily="50" charset="-128"/>
              </a:rPr>
              <a:t>時間は</a:t>
            </a:r>
            <a:r>
              <a:rPr lang="ja-JP" altLang="en-US" sz="48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１２</a:t>
            </a:r>
            <a:r>
              <a:rPr lang="ja-JP" altLang="ja-JP" sz="48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分間</a:t>
            </a:r>
            <a:r>
              <a:rPr lang="ja-JP" altLang="ja-JP" sz="3400" dirty="0">
                <a:latin typeface="HGP創英角ｺﾞｼｯｸUB" pitchFamily="50" charset="-128"/>
                <a:ea typeface="HGP創英角ｺﾞｼｯｸUB" pitchFamily="50" charset="-128"/>
              </a:rPr>
              <a:t>です</a:t>
            </a: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。</a:t>
            </a:r>
            <a:endParaRPr lang="en-US" altLang="ja-JP" sz="3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3400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400" dirty="0">
                <a:latin typeface="HGP創英角ｺﾞｼｯｸUB" pitchFamily="50" charset="-128"/>
                <a:ea typeface="HGP創英角ｺﾞｼｯｸUB" pitchFamily="50" charset="-128"/>
              </a:rPr>
              <a:t>入社前研修受講者</a:t>
            </a: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アンケートの２枚目</a:t>
            </a:r>
            <a:endParaRPr lang="en-US" altLang="ja-JP" sz="34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（設問２、および設問３）</a:t>
            </a:r>
            <a:endParaRPr lang="en-US" altLang="ja-JP" sz="34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  <p:sp>
        <p:nvSpPr>
          <p:cNvPr id="27655" name="テキスト ボックス 1"/>
          <p:cNvSpPr txBox="1">
            <a:spLocks noChangeArrowheads="1"/>
          </p:cNvSpPr>
          <p:nvPr/>
        </p:nvSpPr>
        <p:spPr bwMode="auto">
          <a:xfrm>
            <a:off x="1038225" y="1484313"/>
            <a:ext cx="530946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ja-JP" altLang="en-US" sz="3400" dirty="0" smtClean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受講後アンケート</a:t>
            </a:r>
            <a:r>
              <a:rPr lang="ja-JP" altLang="en-US" sz="3400" dirty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　各自記入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555625" y="1565275"/>
            <a:ext cx="504825" cy="5032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7657" name="テキスト ボックス 2"/>
          <p:cNvSpPr txBox="1">
            <a:spLocks noChangeArrowheads="1"/>
          </p:cNvSpPr>
          <p:nvPr/>
        </p:nvSpPr>
        <p:spPr bwMode="auto">
          <a:xfrm>
            <a:off x="573088" y="1539875"/>
            <a:ext cx="458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3100">
                <a:solidFill>
                  <a:schemeClr val="bg1"/>
                </a:solidFill>
                <a:latin typeface="Arial Black" pitchFamily="34" charset="0"/>
              </a:rPr>
              <a:t>1</a:t>
            </a:r>
            <a:endParaRPr lang="ja-JP" altLang="en-US" sz="3100">
              <a:solidFill>
                <a:schemeClr val="bg1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16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グループワークの振り返り</a:t>
            </a:r>
          </a:p>
        </p:txBody>
      </p:sp>
      <p:sp>
        <p:nvSpPr>
          <p:cNvPr id="28678" name="テキスト ボックス 1"/>
          <p:cNvSpPr txBox="1">
            <a:spLocks noChangeArrowheads="1"/>
          </p:cNvSpPr>
          <p:nvPr/>
        </p:nvSpPr>
        <p:spPr bwMode="auto">
          <a:xfrm>
            <a:off x="539750" y="2297113"/>
            <a:ext cx="7920038" cy="1945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latin typeface="HGP創英角ｺﾞｼｯｸUB" pitchFamily="50" charset="-128"/>
                <a:ea typeface="HGP創英角ｺﾞｼｯｸUB" pitchFamily="50" charset="-128"/>
              </a:rPr>
              <a:t>１．学んだこと、感じたことなど</a:t>
            </a:r>
            <a:endParaRPr lang="en-US" altLang="ja-JP" sz="3400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600" dirty="0">
                <a:latin typeface="HGP創英角ｺﾞｼｯｸUB" pitchFamily="50" charset="-128"/>
                <a:ea typeface="HGP創英角ｺﾞｼｯｸUB" pitchFamily="50" charset="-128"/>
              </a:rPr>
              <a:t>２</a:t>
            </a:r>
            <a:r>
              <a:rPr lang="ja-JP" altLang="en-US" sz="3600" dirty="0" smtClean="0">
                <a:latin typeface="HGP創英角ｺﾞｼｯｸUB" pitchFamily="50" charset="-128"/>
                <a:ea typeface="HGP創英角ｺﾞｼｯｸUB" pitchFamily="50" charset="-128"/>
              </a:rPr>
              <a:t>．わかりにくかったこと</a:t>
            </a:r>
            <a:endParaRPr lang="en-US" altLang="ja-JP" sz="36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600" dirty="0">
                <a:latin typeface="HGP創英角ｺﾞｼｯｸUB" pitchFamily="50" charset="-128"/>
                <a:ea typeface="HGP創英角ｺﾞｼｯｸUB" pitchFamily="50" charset="-128"/>
              </a:rPr>
              <a:t>３</a:t>
            </a:r>
            <a:r>
              <a:rPr lang="ja-JP" altLang="en-US" sz="3600" dirty="0" smtClean="0">
                <a:latin typeface="HGP創英角ｺﾞｼｯｸUB" pitchFamily="50" charset="-128"/>
                <a:ea typeface="HGP創英角ｺﾞｼｯｸUB" pitchFamily="50" charset="-128"/>
              </a:rPr>
              <a:t>．本日の</a:t>
            </a:r>
            <a:r>
              <a:rPr lang="en-US" altLang="ja-JP" sz="3600" dirty="0" smtClean="0">
                <a:latin typeface="HGP創英角ｺﾞｼｯｸUB" pitchFamily="50" charset="-128"/>
                <a:ea typeface="HGP創英角ｺﾞｼｯｸUB" pitchFamily="50" charset="-128"/>
              </a:rPr>
              <a:t>MVP</a:t>
            </a:r>
            <a:endParaRPr lang="en-US" altLang="ja-JP" sz="3600" dirty="0">
              <a:latin typeface="HGP創英角ｺﾞｼｯｸUB" pitchFamily="50" charset="-128"/>
              <a:ea typeface="HGP創英角ｺﾞｼｯｸUB" pitchFamily="50" charset="-128"/>
            </a:endParaRPr>
          </a:p>
        </p:txBody>
      </p:sp>
      <p:sp>
        <p:nvSpPr>
          <p:cNvPr id="28679" name="テキスト ボックス 1"/>
          <p:cNvSpPr txBox="1">
            <a:spLocks noChangeArrowheads="1"/>
          </p:cNvSpPr>
          <p:nvPr/>
        </p:nvSpPr>
        <p:spPr bwMode="auto">
          <a:xfrm>
            <a:off x="1038225" y="1484313"/>
            <a:ext cx="10567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ja-JP" altLang="en-US" sz="3400" dirty="0" smtClean="0">
                <a:solidFill>
                  <a:srgbClr val="0070C0"/>
                </a:solidFill>
                <a:latin typeface="HGP創英角ｺﾞｼｯｸUB" pitchFamily="50" charset="-128"/>
                <a:ea typeface="HGP創英角ｺﾞｼｯｸUB" pitchFamily="50" charset="-128"/>
              </a:rPr>
              <a:t>共有</a:t>
            </a:r>
            <a:endParaRPr lang="ja-JP" altLang="en-US" sz="3400" dirty="0">
              <a:solidFill>
                <a:srgbClr val="0070C0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555625" y="1565275"/>
            <a:ext cx="504825" cy="5032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8681" name="テキスト ボックス 2"/>
          <p:cNvSpPr txBox="1">
            <a:spLocks noChangeArrowheads="1"/>
          </p:cNvSpPr>
          <p:nvPr/>
        </p:nvSpPr>
        <p:spPr bwMode="auto">
          <a:xfrm>
            <a:off x="573088" y="1539875"/>
            <a:ext cx="449262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3100">
                <a:solidFill>
                  <a:schemeClr val="bg1"/>
                </a:solidFill>
                <a:latin typeface="Arial Black" pitchFamily="34" charset="0"/>
              </a:rPr>
              <a:t>2</a:t>
            </a:r>
            <a:endParaRPr lang="ja-JP" altLang="en-US" sz="3100">
              <a:solidFill>
                <a:schemeClr val="bg1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0519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3"/>
          <p:cNvSpPr>
            <a:spLocks noChangeArrowheads="1"/>
          </p:cNvSpPr>
          <p:nvPr/>
        </p:nvSpPr>
        <p:spPr bwMode="ltGray">
          <a:xfrm>
            <a:off x="215106" y="260648"/>
            <a:ext cx="8713787" cy="6364288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まとめ</a:t>
            </a:r>
          </a:p>
        </p:txBody>
      </p:sp>
      <p:sp>
        <p:nvSpPr>
          <p:cNvPr id="29702" name="テキスト ボックス 1"/>
          <p:cNvSpPr txBox="1">
            <a:spLocks noChangeArrowheads="1"/>
          </p:cNvSpPr>
          <p:nvPr/>
        </p:nvSpPr>
        <p:spPr bwMode="auto">
          <a:xfrm>
            <a:off x="323851" y="1528219"/>
            <a:ext cx="8594724" cy="1612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4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●諦めることなく、楽しくできましたか？</a:t>
            </a:r>
            <a: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  <a:t/>
            </a:r>
            <a:br>
              <a:rPr lang="en-US" altLang="ja-JP" sz="2400" dirty="0">
                <a:latin typeface="HGP創英角ｺﾞｼｯｸUB" pitchFamily="50" charset="-128"/>
                <a:ea typeface="HGP創英角ｺﾞｼｯｸUB" pitchFamily="50" charset="-128"/>
              </a:rPr>
            </a:br>
            <a:endParaRPr lang="en-US" altLang="ja-JP" sz="2400" dirty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en-US" sz="3400" dirty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●時間配分はできていましたか</a:t>
            </a:r>
            <a:r>
              <a:rPr lang="ja-JP" altLang="en-US" sz="3400" dirty="0" smtClean="0">
                <a:solidFill>
                  <a:srgbClr val="0000FF"/>
                </a:solidFill>
                <a:latin typeface="HGP創英角ｺﾞｼｯｸUB" pitchFamily="50" charset="-128"/>
                <a:ea typeface="HGP創英角ｺﾞｼｯｸUB" pitchFamily="50" charset="-128"/>
              </a:rPr>
              <a:t>？</a:t>
            </a:r>
            <a:endParaRPr lang="en-US" altLang="ja-JP" sz="3400" dirty="0">
              <a:solidFill>
                <a:srgbClr val="0000FF"/>
              </a:solidFill>
              <a:latin typeface="HGP創英角ｺﾞｼｯｸUB" pitchFamily="50" charset="-128"/>
              <a:ea typeface="HGP創英角ｺﾞｼｯｸUB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367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3"/>
          <p:cNvSpPr>
            <a:spLocks noChangeArrowheads="1"/>
          </p:cNvSpPr>
          <p:nvPr/>
        </p:nvSpPr>
        <p:spPr bwMode="ltGray">
          <a:xfrm>
            <a:off x="204788" y="233363"/>
            <a:ext cx="8713787" cy="6364287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63500">
            <a:solidFill>
              <a:srgbClr val="00B0F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ja-JP" altLang="en-US" sz="900">
              <a:latin typeface="Arial" charset="0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67544" y="476672"/>
            <a:ext cx="8208912" cy="789451"/>
          </a:xfrm>
          <a:prstGeom prst="roundRect">
            <a:avLst/>
          </a:prstGeom>
          <a:solidFill>
            <a:srgbClr val="00B0F0"/>
          </a:solidFill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まとめ</a:t>
            </a:r>
          </a:p>
        </p:txBody>
      </p:sp>
      <p:sp>
        <p:nvSpPr>
          <p:cNvPr id="30726" name="テキスト ボックス 1"/>
          <p:cNvSpPr txBox="1">
            <a:spLocks noChangeArrowheads="1"/>
          </p:cNvSpPr>
          <p:nvPr/>
        </p:nvSpPr>
        <p:spPr bwMode="auto">
          <a:xfrm>
            <a:off x="611560" y="2297113"/>
            <a:ext cx="7993062" cy="197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buFontTx/>
              <a:buNone/>
            </a:pPr>
            <a:r>
              <a:rPr lang="ja-JP" altLang="en-US" sz="3600" dirty="0" smtClean="0">
                <a:latin typeface="HGP創英角ｺﾞｼｯｸUB" pitchFamily="50" charset="-128"/>
                <a:ea typeface="HGP創英角ｺﾞｼｯｸUB" pitchFamily="50" charset="-128"/>
              </a:rPr>
              <a:t>フローチャートパズルは終了です。</a:t>
            </a:r>
            <a:endParaRPr lang="en-US" altLang="ja-JP" sz="36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endParaRPr lang="en-US" altLang="ja-JP" sz="3600" dirty="0" smtClean="0">
              <a:latin typeface="HGP創英角ｺﾞｼｯｸUB" pitchFamily="50" charset="-128"/>
              <a:ea typeface="HGP創英角ｺﾞｼｯｸUB" pitchFamily="50" charset="-128"/>
            </a:endParaRPr>
          </a:p>
          <a:p>
            <a:pPr>
              <a:buFontTx/>
              <a:buNone/>
            </a:pPr>
            <a:r>
              <a:rPr lang="ja-JP" altLang="ja-JP" sz="3600" dirty="0" smtClean="0">
                <a:latin typeface="HGP創英角ｺﾞｼｯｸUB" pitchFamily="50" charset="-128"/>
                <a:ea typeface="HGP創英角ｺﾞｼｯｸUB" pitchFamily="50" charset="-128"/>
              </a:rPr>
              <a:t>ありがとう</a:t>
            </a:r>
            <a:r>
              <a:rPr lang="ja-JP" altLang="ja-JP" sz="3600" dirty="0">
                <a:latin typeface="HGP創英角ｺﾞｼｯｸUB" pitchFamily="50" charset="-128"/>
                <a:ea typeface="HGP創英角ｺﾞｼｯｸUB" pitchFamily="50" charset="-128"/>
              </a:rPr>
              <a:t>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259060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1514</Words>
  <Application>Microsoft Office PowerPoint</Application>
  <PresentationFormat>画面に合わせる (4:3)</PresentationFormat>
  <Paragraphs>359</Paragraphs>
  <Slides>47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47</vt:i4>
      </vt:variant>
    </vt:vector>
  </HeadingPairs>
  <TitlesOfParts>
    <vt:vector size="48" baseType="lpstr"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kotomi</dc:creator>
  <cp:lastModifiedBy>kotomi</cp:lastModifiedBy>
  <cp:revision>484</cp:revision>
  <cp:lastPrinted>2015-11-13T05:12:04Z</cp:lastPrinted>
  <dcterms:created xsi:type="dcterms:W3CDTF">2015-11-11T06:47:17Z</dcterms:created>
  <dcterms:modified xsi:type="dcterms:W3CDTF">2015-11-26T08:55:09Z</dcterms:modified>
</cp:coreProperties>
</file>