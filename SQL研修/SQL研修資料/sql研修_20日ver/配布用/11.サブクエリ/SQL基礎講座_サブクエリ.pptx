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0" r:id="rId5"/>
    <p:sldId id="317" r:id="rId6"/>
    <p:sldId id="318" r:id="rId7"/>
    <p:sldId id="313" r:id="rId8"/>
    <p:sldId id="314" r:id="rId9"/>
    <p:sldId id="315" r:id="rId10"/>
    <p:sldId id="316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10/23/2025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8T09:39:08.637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0,'6744'0,"-6639"0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8T09:39:26.47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0,'1783'0,"-1757"0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3T01:32:03.569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0,'1783'0,"-1757"0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3T01:31:53.819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0,'1783'0,"-1757"0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2025/10/23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0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428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59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10/23/2025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10/23/2025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2025/10/23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10/23/2025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5612" y="304800"/>
            <a:ext cx="2590799" cy="38100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2800" b="1" dirty="0">
                <a:latin typeface="Meiryo UI" charset="0"/>
                <a:ea typeface="Meiryo UI" charset="0"/>
              </a:rPr>
              <a:t>サブクエリとは？</a:t>
            </a:r>
            <a:endParaRPr kumimoji="1" lang="en-US" altLang="ja-JP" sz="2800" b="1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A3C-DB92-CF0F-005C-0EE5670E2D64}"/>
              </a:ext>
            </a:extLst>
          </p:cNvPr>
          <p:cNvSpPr txBox="1"/>
          <p:nvPr/>
        </p:nvSpPr>
        <p:spPr>
          <a:xfrm>
            <a:off x="1217612" y="9906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 ・・・ 下位の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28C6B8-5B11-D0DE-378D-520BEFFE27D1}"/>
              </a:ext>
            </a:extLst>
          </p:cNvPr>
          <p:cNvSpPr txBox="1"/>
          <p:nvPr/>
        </p:nvSpPr>
        <p:spPr>
          <a:xfrm>
            <a:off x="1217612" y="135993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クエリ ・・・問い合わせ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DE46FC-A0D3-BDBD-8589-84003E8B5874}"/>
              </a:ext>
            </a:extLst>
          </p:cNvPr>
          <p:cNvSpPr txBox="1"/>
          <p:nvPr/>
        </p:nvSpPr>
        <p:spPr>
          <a:xfrm>
            <a:off x="912812" y="1834429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の中にある下位の問い合わせ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850AFA-00DD-9D7A-672B-79F931411BF6}"/>
              </a:ext>
            </a:extLst>
          </p:cNvPr>
          <p:cNvSpPr txBox="1"/>
          <p:nvPr/>
        </p:nvSpPr>
        <p:spPr>
          <a:xfrm>
            <a:off x="912812" y="230318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の中に</a:t>
            </a:r>
            <a:r>
              <a:rPr kumimoji="1" lang="en-US" altLang="ja-JP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が書ける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48A08A1-0646-52B4-F396-0B5E15E13420}"/>
              </a:ext>
            </a:extLst>
          </p:cNvPr>
          <p:cNvSpPr txBox="1"/>
          <p:nvPr/>
        </p:nvSpPr>
        <p:spPr>
          <a:xfrm>
            <a:off x="912812" y="2904239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サブクエリにはスカラ・サブクエリ、相関サブクエリなど種類がある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730D7E2-B2B8-7118-9E7A-49798886A37D}"/>
              </a:ext>
            </a:extLst>
          </p:cNvPr>
          <p:cNvSpPr txBox="1"/>
          <p:nvPr/>
        </p:nvSpPr>
        <p:spPr>
          <a:xfrm>
            <a:off x="1141412" y="5313402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使われるのが比較的多いのは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FROM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8D9C06D-F33A-68E0-365A-F108A2416C9D}"/>
              </a:ext>
            </a:extLst>
          </p:cNvPr>
          <p:cNvSpPr txBox="1"/>
          <p:nvPr/>
        </p:nvSpPr>
        <p:spPr>
          <a:xfrm>
            <a:off x="912812" y="4509428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サブクエリは特に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文で用いられることが多い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87D693-4126-4F8D-0B64-E00945135A8F}"/>
              </a:ext>
            </a:extLst>
          </p:cNvPr>
          <p:cNvSpPr txBox="1"/>
          <p:nvPr/>
        </p:nvSpPr>
        <p:spPr>
          <a:xfrm>
            <a:off x="1141412" y="3352389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スカラ・サブクエリ → 単独の値を返すサブクエリ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9D89418-40FE-B0A0-DFAC-14342B2C1EC1}"/>
              </a:ext>
            </a:extLst>
          </p:cNvPr>
          <p:cNvSpPr txBox="1"/>
          <p:nvPr/>
        </p:nvSpPr>
        <p:spPr>
          <a:xfrm>
            <a:off x="1141412" y="3721721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相関サブクエリ → 外部への参照があるサブクエリ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65CCC0-DBBC-87B8-585B-A073974735CE}"/>
              </a:ext>
            </a:extLst>
          </p:cNvPr>
          <p:cNvSpPr txBox="1"/>
          <p:nvPr/>
        </p:nvSpPr>
        <p:spPr>
          <a:xfrm>
            <a:off x="1141412" y="4883729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他の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文や、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HAVING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GROUP BY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句でも使用が可能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1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5612" y="304800"/>
            <a:ext cx="2819400" cy="38100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2800" b="1" dirty="0">
                <a:latin typeface="Meiryo UI" charset="0"/>
                <a:ea typeface="Meiryo UI" charset="0"/>
              </a:rPr>
              <a:t>スカラ・サブクエリ</a:t>
            </a:r>
            <a:endParaRPr kumimoji="1" lang="en-US" altLang="ja-JP" sz="2800" b="1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A3C-DB92-CF0F-005C-0EE5670E2D64}"/>
              </a:ext>
            </a:extLst>
          </p:cNvPr>
          <p:cNvSpPr txBox="1"/>
          <p:nvPr/>
        </p:nvSpPr>
        <p:spPr>
          <a:xfrm>
            <a:off x="608012" y="97792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単独の値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(1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行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列のデータ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を返す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文を用いたサブクエリ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102EFD-3105-F720-6107-1C36A46E54F2}"/>
              </a:ext>
            </a:extLst>
          </p:cNvPr>
          <p:cNvSpPr txBox="1"/>
          <p:nvPr/>
        </p:nvSpPr>
        <p:spPr>
          <a:xfrm>
            <a:off x="5484812" y="2044362"/>
            <a:ext cx="411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CODE,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NAME,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PRICE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FRUIT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PRICE &gt;= (</a:t>
            </a:r>
          </a:p>
          <a:p>
            <a:endParaRPr kumimoji="1" lang="en-US" altLang="ja-JP" sz="1600" dirty="0">
              <a:solidFill>
                <a:srgbClr val="0070C0"/>
              </a:solidFill>
            </a:endParaRP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SELECT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AVG(PRICE)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FROM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 FRUIT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);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F0844FE-C9F1-B028-4051-4C6612BC3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547191"/>
              </p:ext>
            </p:extLst>
          </p:nvPr>
        </p:nvGraphicFramePr>
        <p:xfrm>
          <a:off x="760412" y="2337098"/>
          <a:ext cx="3962400" cy="19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メロン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ぶどう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マンゴー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いちご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B89361-E1C4-5CE8-BBBC-218A0908D89E}"/>
              </a:ext>
            </a:extLst>
          </p:cNvPr>
          <p:cNvSpPr txBox="1"/>
          <p:nvPr/>
        </p:nvSpPr>
        <p:spPr>
          <a:xfrm>
            <a:off x="608012" y="1424995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結果が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つなので、比較演算子を用いて比較が可能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791A59-4343-84E3-7011-872D0D07C300}"/>
              </a:ext>
            </a:extLst>
          </p:cNvPr>
          <p:cNvSpPr txBox="1"/>
          <p:nvPr/>
        </p:nvSpPr>
        <p:spPr>
          <a:xfrm>
            <a:off x="667611" y="191182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kumimoji="1" lang="en-US" altLang="ja-JP" sz="1400" dirty="0"/>
              <a:t>FRUIT</a:t>
            </a:r>
            <a:r>
              <a:rPr kumimoji="1" lang="ja-JP" altLang="en-US" sz="1400" dirty="0"/>
              <a:t>テーブル</a:t>
            </a:r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24799804-A3DE-6611-9A4B-E167C19D03F0}"/>
              </a:ext>
            </a:extLst>
          </p:cNvPr>
          <p:cNvSpPr/>
          <p:nvPr/>
        </p:nvSpPr>
        <p:spPr>
          <a:xfrm>
            <a:off x="7389812" y="4275336"/>
            <a:ext cx="457200" cy="990600"/>
          </a:xfrm>
          <a:prstGeom prst="rightBr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516909-EA8B-9D53-4B17-1FBAC190747A}"/>
              </a:ext>
            </a:extLst>
          </p:cNvPr>
          <p:cNvSpPr txBox="1"/>
          <p:nvPr/>
        </p:nvSpPr>
        <p:spPr>
          <a:xfrm>
            <a:off x="8041480" y="4382869"/>
            <a:ext cx="3539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スカラ・サブクエリ</a:t>
            </a:r>
            <a:endParaRPr kumimoji="1"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平均金額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(6500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円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を返している</a:t>
            </a:r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1402BCE9-1468-5902-0361-D6A5C94DB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1063"/>
              </p:ext>
            </p:extLst>
          </p:nvPr>
        </p:nvGraphicFramePr>
        <p:xfrm>
          <a:off x="760412" y="5433005"/>
          <a:ext cx="3962400" cy="125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マンゴー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いちご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AB11673-4D84-E4A1-F1DF-43DC88591208}"/>
              </a:ext>
            </a:extLst>
          </p:cNvPr>
          <p:cNvSpPr txBox="1"/>
          <p:nvPr/>
        </p:nvSpPr>
        <p:spPr>
          <a:xfrm>
            <a:off x="667611" y="5029200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■取得結果</a:t>
            </a:r>
          </a:p>
        </p:txBody>
      </p:sp>
    </p:spTree>
    <p:extLst>
      <p:ext uri="{BB962C8B-B14F-4D97-AF65-F5344CB8AC3E}">
        <p14:creationId xmlns:p14="http://schemas.microsoft.com/office/powerpoint/2010/main" val="2765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5612" y="304800"/>
            <a:ext cx="2819400" cy="38100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2800" b="1" dirty="0">
                <a:latin typeface="Meiryo UI" charset="0"/>
                <a:ea typeface="Meiryo UI" charset="0"/>
              </a:rPr>
              <a:t>相関サブクエリ</a:t>
            </a:r>
            <a:endParaRPr kumimoji="1" lang="en-US" altLang="ja-JP" sz="2800" b="1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A3C-DB92-CF0F-005C-0EE5670E2D64}"/>
              </a:ext>
            </a:extLst>
          </p:cNvPr>
          <p:cNvSpPr txBox="1"/>
          <p:nvPr/>
        </p:nvSpPr>
        <p:spPr>
          <a:xfrm>
            <a:off x="608012" y="97792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i="0" dirty="0">
                <a:effectLst/>
                <a:latin typeface="YakuHanJPs"/>
              </a:rPr>
              <a:t>外側のクエリの値をサブクエリ内で使用する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文を用いたサブクエリ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F0844FE-C9F1-B028-4051-4C6612BC3346}"/>
              </a:ext>
            </a:extLst>
          </p:cNvPr>
          <p:cNvGraphicFramePr>
            <a:graphicFrameLocks noGrp="1"/>
          </p:cNvGraphicFramePr>
          <p:nvPr/>
        </p:nvGraphicFramePr>
        <p:xfrm>
          <a:off x="760412" y="2337098"/>
          <a:ext cx="3962400" cy="19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メロン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ぶどう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マンゴー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いちご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791A59-4343-84E3-7011-872D0D07C300}"/>
              </a:ext>
            </a:extLst>
          </p:cNvPr>
          <p:cNvSpPr txBox="1"/>
          <p:nvPr/>
        </p:nvSpPr>
        <p:spPr>
          <a:xfrm>
            <a:off x="667611" y="191182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kumimoji="1" lang="en-US" altLang="ja-JP" sz="1400" dirty="0"/>
              <a:t>FRUIT</a:t>
            </a:r>
            <a:r>
              <a:rPr kumimoji="1" lang="ja-JP" altLang="en-US" sz="1400" dirty="0"/>
              <a:t>テーブル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FCE383A7-1383-9F8A-9428-AB2ACBDDF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767004"/>
              </p:ext>
            </p:extLst>
          </p:nvPr>
        </p:nvGraphicFramePr>
        <p:xfrm>
          <a:off x="760412" y="4816375"/>
          <a:ext cx="3962399" cy="19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171713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1723123448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SHOP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六本木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六本木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渋谷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CEE4A0-71C2-CE11-90BF-18B8B62B444C}"/>
              </a:ext>
            </a:extLst>
          </p:cNvPr>
          <p:cNvSpPr txBox="1"/>
          <p:nvPr/>
        </p:nvSpPr>
        <p:spPr>
          <a:xfrm>
            <a:off x="667611" y="4391101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kumimoji="1" lang="en-US" altLang="ja-JP" sz="1400" dirty="0"/>
              <a:t>ORDER</a:t>
            </a:r>
            <a:r>
              <a:rPr kumimoji="1" lang="ja-JP" altLang="en-US" sz="1400" dirty="0"/>
              <a:t>テーブル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4CAD4F9-2EFE-9BC0-5AA0-811B51B3D425}"/>
              </a:ext>
            </a:extLst>
          </p:cNvPr>
          <p:cNvGrpSpPr/>
          <p:nvPr/>
        </p:nvGrpSpPr>
        <p:grpSpPr>
          <a:xfrm>
            <a:off x="6551612" y="1508880"/>
            <a:ext cx="4114800" cy="3539430"/>
            <a:chOff x="5561012" y="2438400"/>
            <a:chExt cx="4114800" cy="3539430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8102EFD-3105-F720-6107-1C36A46E54F2}"/>
                </a:ext>
              </a:extLst>
            </p:cNvPr>
            <p:cNvSpPr txBox="1"/>
            <p:nvPr/>
          </p:nvSpPr>
          <p:spPr>
            <a:xfrm>
              <a:off x="5561012" y="2438400"/>
              <a:ext cx="4114800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SELECT 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CODE, SHOP, SALES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FROM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ORDER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WHERE (</a:t>
              </a:r>
            </a:p>
            <a:p>
              <a:endParaRPr kumimoji="1" lang="en-US" altLang="ja-JP" sz="1600" dirty="0">
                <a:solidFill>
                  <a:srgbClr val="0070C0"/>
                </a:solidFill>
              </a:endParaRP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SELECT </a:t>
              </a:r>
              <a:r>
                <a:rPr kumimoji="1" lang="ja-JP" altLang="en-US" sz="1600" dirty="0">
                  <a:solidFill>
                    <a:srgbClr val="0070C0"/>
                  </a:solidFill>
                </a:rPr>
                <a:t> </a:t>
              </a:r>
              <a:endParaRPr kumimoji="1" lang="en-US" altLang="ja-JP" sz="1600" dirty="0">
                <a:solidFill>
                  <a:srgbClr val="0070C0"/>
                </a:solidFill>
              </a:endParaRP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   NAME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FROM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   FRUIT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WHERE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   ORDER.CODE = FRUIT.CODE</a:t>
              </a:r>
            </a:p>
            <a:p>
              <a:endParaRPr kumimoji="1" lang="en-US" altLang="ja-JP" sz="1600" dirty="0">
                <a:solidFill>
                  <a:srgbClr val="0070C0"/>
                </a:solidFill>
              </a:endParaRP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) = ‘</a:t>
              </a:r>
              <a:r>
                <a:rPr kumimoji="1" lang="ja-JP" altLang="en-US" sz="1600" dirty="0">
                  <a:solidFill>
                    <a:srgbClr val="0070C0"/>
                  </a:solidFill>
                </a:rPr>
                <a:t>メロン</a:t>
              </a:r>
              <a:r>
                <a:rPr kumimoji="1" lang="en-US" altLang="ja-JP" sz="1600" dirty="0">
                  <a:solidFill>
                    <a:srgbClr val="0070C0"/>
                  </a:solidFill>
                </a:rPr>
                <a:t>’;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167657B-F145-4D55-CF88-0C97303CC34D}"/>
                    </a:ext>
                  </a:extLst>
                </p14:cNvPr>
                <p14:cNvContentPartPr/>
                <p14:nvPr/>
              </p14:nvContentPartPr>
              <p14:xfrm>
                <a:off x="6060343" y="5474182"/>
                <a:ext cx="2467130" cy="327"/>
              </p14:xfrm>
            </p:contentPart>
          </mc:Choice>
          <mc:Fallback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167657B-F145-4D55-CF88-0C97303CC3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2335" y="5441482"/>
                  <a:ext cx="2502786" cy="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DC4AEBF8-EB4E-35C7-E0C8-4455267BCC66}"/>
                    </a:ext>
                  </a:extLst>
                </p14:cNvPr>
                <p14:cNvContentPartPr/>
                <p14:nvPr/>
              </p14:nvContentPartPr>
              <p14:xfrm>
                <a:off x="5907419" y="3465525"/>
                <a:ext cx="651600" cy="3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DC4AEBF8-EB4E-35C7-E0C8-4455267BCC6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89779" y="3429525"/>
                  <a:ext cx="68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D7E64626-185A-2624-802A-A84DF420C6DF}"/>
                    </a:ext>
                  </a:extLst>
                </p14:cNvPr>
                <p14:cNvContentPartPr/>
                <p14:nvPr/>
              </p14:nvContentPartPr>
              <p14:xfrm>
                <a:off x="6008543" y="4886086"/>
                <a:ext cx="651600" cy="360"/>
              </p14:xfrm>
            </p:contentPart>
          </mc:Choice>
          <mc:Fallback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D7E64626-185A-2624-802A-A84DF420C6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90543" y="4850086"/>
                  <a:ext cx="687240" cy="720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31" name="表 30">
            <a:extLst>
              <a:ext uri="{FF2B5EF4-FFF2-40B4-BE49-F238E27FC236}">
                <a16:creationId xmlns:a16="http://schemas.microsoft.com/office/drawing/2014/main" id="{9980A39D-D9FC-4BA1-7FD6-5BA495AB8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23151"/>
              </p:ext>
            </p:extLst>
          </p:nvPr>
        </p:nvGraphicFramePr>
        <p:xfrm>
          <a:off x="6399212" y="5496459"/>
          <a:ext cx="3124199" cy="125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713">
                  <a:extLst>
                    <a:ext uri="{9D8B030D-6E8A-4147-A177-3AD203B41FA5}">
                      <a16:colId xmlns:a16="http://schemas.microsoft.com/office/drawing/2014/main" val="2280419003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937383048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1139388059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SHOP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077297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六本木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734999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42153"/>
                  </a:ext>
                </a:extLst>
              </a:tr>
            </a:tbl>
          </a:graphicData>
        </a:graphic>
      </p:graphicFrame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3594135-F6F3-DC0D-7A8C-BBFF4A9DD727}"/>
              </a:ext>
            </a:extLst>
          </p:cNvPr>
          <p:cNvSpPr txBox="1"/>
          <p:nvPr/>
        </p:nvSpPr>
        <p:spPr>
          <a:xfrm>
            <a:off x="5561012" y="502705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■取得結果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3169D54-78EC-4294-FBB1-6B5587879206}"/>
              </a:ext>
            </a:extLst>
          </p:cNvPr>
          <p:cNvSpPr txBox="1"/>
          <p:nvPr/>
        </p:nvSpPr>
        <p:spPr>
          <a:xfrm>
            <a:off x="608012" y="1424995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サブクエリの中で、外部のテーブルを参照している</a:t>
            </a:r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22F5561D-98A7-2816-0882-EB64C58F388D}"/>
              </a:ext>
            </a:extLst>
          </p:cNvPr>
          <p:cNvSpPr/>
          <p:nvPr/>
        </p:nvSpPr>
        <p:spPr>
          <a:xfrm>
            <a:off x="9523411" y="2971800"/>
            <a:ext cx="457200" cy="1600200"/>
          </a:xfrm>
          <a:prstGeom prst="rightBr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B61BCA-6179-7C4A-7395-EBB904035FC7}"/>
              </a:ext>
            </a:extLst>
          </p:cNvPr>
          <p:cNvSpPr txBox="1"/>
          <p:nvPr/>
        </p:nvSpPr>
        <p:spPr>
          <a:xfrm>
            <a:off x="9985949" y="3587234"/>
            <a:ext cx="193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相関サブクエリ</a:t>
            </a:r>
            <a:endParaRPr kumimoji="1"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DAE2F449-4C10-8A47-1530-CFEB7D33C299}"/>
                  </a:ext>
                </a:extLst>
              </p14:cNvPr>
              <p14:cNvContentPartPr/>
              <p14:nvPr/>
            </p14:nvContentPartPr>
            <p14:xfrm>
              <a:off x="152400" y="152400"/>
              <a:ext cx="0" cy="0"/>
            </p14:xfrm>
          </p:contentPart>
        </mc:Choice>
        <mc:Fallback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DAE2F449-4C10-8A47-1530-CFEB7D33C2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400" y="152400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71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22098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SELECT</a:t>
            </a:r>
            <a:r>
              <a:rPr lang="ja-JP" altLang="en-US" sz="2800" dirty="0">
                <a:solidFill>
                  <a:schemeClr val="tx1"/>
                </a:solidFill>
              </a:rPr>
              <a:t>句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374442"/>
              </p:ext>
            </p:extLst>
          </p:nvPr>
        </p:nvGraphicFramePr>
        <p:xfrm>
          <a:off x="227012" y="1109760"/>
          <a:ext cx="5251768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E26601-29C5-41A9-8F20-FEEFDB39D87B}"/>
              </a:ext>
            </a:extLst>
          </p:cNvPr>
          <p:cNvSpPr txBox="1"/>
          <p:nvPr/>
        </p:nvSpPr>
        <p:spPr>
          <a:xfrm>
            <a:off x="7008812" y="520417"/>
            <a:ext cx="3276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NAME,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SALARY,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AVG(SALARY)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) AS AVG_SALARY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EMPLOYEES;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703637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lang="ja-JP" altLang="en-US" sz="1400" dirty="0"/>
              <a:t>各社員の給与と全体の平均給与を並べて表示</a:t>
            </a:r>
            <a:endParaRPr kumimoji="1" lang="ja-JP" altLang="en-US" sz="14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181591"/>
              </p:ext>
            </p:extLst>
          </p:nvPr>
        </p:nvGraphicFramePr>
        <p:xfrm>
          <a:off x="227012" y="4233424"/>
          <a:ext cx="5334000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19332576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AVG_SALARY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C12343-45D7-840B-A0CC-0E86E4D4B63D}"/>
              </a:ext>
            </a:extLst>
          </p:cNvPr>
          <p:cNvSpPr txBox="1"/>
          <p:nvPr/>
        </p:nvSpPr>
        <p:spPr>
          <a:xfrm>
            <a:off x="6704012" y="4991392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※SELECT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句でサブクエリを使う注意点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C65763-E723-C000-1021-8F3F4D7D5AD3}"/>
              </a:ext>
            </a:extLst>
          </p:cNvPr>
          <p:cNvSpPr txBox="1"/>
          <p:nvPr/>
        </p:nvSpPr>
        <p:spPr>
          <a:xfrm>
            <a:off x="7123256" y="5391296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別名をつける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8F24260-AFA3-A826-71D3-F67B40C8A3C5}"/>
              </a:ext>
            </a:extLst>
          </p:cNvPr>
          <p:cNvSpPr txBox="1"/>
          <p:nvPr/>
        </p:nvSpPr>
        <p:spPr>
          <a:xfrm>
            <a:off x="7123256" y="5791200"/>
            <a:ext cx="3390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行に対して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回サブクエリを発行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処理に高付加がかかることがある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CB536D-94A5-E800-4B29-9948A247858D}"/>
              </a:ext>
            </a:extLst>
          </p:cNvPr>
          <p:cNvSpPr txBox="1"/>
          <p:nvPr/>
        </p:nvSpPr>
        <p:spPr>
          <a:xfrm>
            <a:off x="6704012" y="38303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※SELECT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句でのサブクエリの使いどころ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3A6179-0E12-8614-A41C-2D1219021A8F}"/>
              </a:ext>
            </a:extLst>
          </p:cNvPr>
          <p:cNvSpPr txBox="1"/>
          <p:nvPr/>
        </p:nvSpPr>
        <p:spPr>
          <a:xfrm>
            <a:off x="7123256" y="4343400"/>
            <a:ext cx="3771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最終的に表示する値を抽出したい場合</a:t>
            </a:r>
          </a:p>
        </p:txBody>
      </p:sp>
    </p:spTree>
    <p:extLst>
      <p:ext uri="{BB962C8B-B14F-4D97-AF65-F5344CB8AC3E}">
        <p14:creationId xmlns:p14="http://schemas.microsoft.com/office/powerpoint/2010/main" val="290713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22098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FROM</a:t>
            </a:r>
            <a:r>
              <a:rPr lang="ja-JP" altLang="en-US" sz="2800" dirty="0">
                <a:solidFill>
                  <a:schemeClr val="tx1"/>
                </a:solidFill>
              </a:rPr>
              <a:t>句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/>
        </p:nvGraphicFramePr>
        <p:xfrm>
          <a:off x="227012" y="1109760"/>
          <a:ext cx="5251768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886200"/>
            <a:ext cx="5491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■社員の情報をもとに、給与の平均が</a:t>
            </a:r>
            <a:r>
              <a:rPr kumimoji="1" lang="en-US" altLang="ja-JP" sz="1400" dirty="0"/>
              <a:t>30</a:t>
            </a:r>
            <a:r>
              <a:rPr kumimoji="1" lang="ja-JP" altLang="en-US" sz="1400" dirty="0"/>
              <a:t>万円を超えている部署とその金額を知りたい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399080"/>
              </p:ext>
            </p:extLst>
          </p:nvPr>
        </p:nvGraphicFramePr>
        <p:xfrm>
          <a:off x="227012" y="4648200"/>
          <a:ext cx="3657600" cy="1138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969477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AVG_SALARY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410000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CB03C1-79C7-BF12-3E81-E1373A31B656}"/>
              </a:ext>
            </a:extLst>
          </p:cNvPr>
          <p:cNvSpPr txBox="1"/>
          <p:nvPr/>
        </p:nvSpPr>
        <p:spPr>
          <a:xfrm>
            <a:off x="7008812" y="401135"/>
            <a:ext cx="411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DEPT.DEPARTMENT,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DEPT.AVG_SALARY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AVG(SALARY) AS AVG_SALARY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GROUP BY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) AS DEPT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DEPT.AVG_SALARY &gt;= 300000;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17A4CD4-5774-D7CC-9D69-4975AE17B764}"/>
              </a:ext>
            </a:extLst>
          </p:cNvPr>
          <p:cNvSpPr txBox="1"/>
          <p:nvPr/>
        </p:nvSpPr>
        <p:spPr>
          <a:xfrm>
            <a:off x="6704012" y="41351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※FROM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句でのサブクエリの使いどころ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B17511-1645-BD02-B64B-D50910761907}"/>
              </a:ext>
            </a:extLst>
          </p:cNvPr>
          <p:cNvSpPr txBox="1"/>
          <p:nvPr/>
        </p:nvSpPr>
        <p:spPr>
          <a:xfrm>
            <a:off x="7123256" y="4648200"/>
            <a:ext cx="3771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一時的なテーブルを作成して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集計・加工した後に処理したい場合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475B27-EC96-C76F-678C-48B7111149F1}"/>
              </a:ext>
            </a:extLst>
          </p:cNvPr>
          <p:cNvSpPr txBox="1"/>
          <p:nvPr/>
        </p:nvSpPr>
        <p:spPr>
          <a:xfrm>
            <a:off x="6704012" y="546749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※FROM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句でサブクエリを使う注意点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21BAA74-B4E1-C650-906A-DBA07FF27AD5}"/>
              </a:ext>
            </a:extLst>
          </p:cNvPr>
          <p:cNvSpPr txBox="1"/>
          <p:nvPr/>
        </p:nvSpPr>
        <p:spPr>
          <a:xfrm>
            <a:off x="7123256" y="586740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別名をつける</a:t>
            </a:r>
          </a:p>
        </p:txBody>
      </p:sp>
    </p:spTree>
    <p:extLst>
      <p:ext uri="{BB962C8B-B14F-4D97-AF65-F5344CB8AC3E}">
        <p14:creationId xmlns:p14="http://schemas.microsoft.com/office/powerpoint/2010/main" val="70409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30480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WHERE</a:t>
            </a:r>
            <a:r>
              <a:rPr lang="ja-JP" altLang="en-US" sz="2800" dirty="0">
                <a:solidFill>
                  <a:schemeClr val="tx1"/>
                </a:solidFill>
              </a:rPr>
              <a:t>句 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/>
        </p:nvGraphicFramePr>
        <p:xfrm>
          <a:off x="227012" y="1109760"/>
          <a:ext cx="5251768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703637"/>
            <a:ext cx="5251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■平均給与が</a:t>
            </a:r>
            <a:r>
              <a:rPr kumimoji="1" lang="en-US" altLang="ja-JP" sz="1400" dirty="0"/>
              <a:t>30</a:t>
            </a:r>
            <a:r>
              <a:rPr kumimoji="1" lang="ja-JP" altLang="en-US" sz="1400" dirty="0"/>
              <a:t>万より高い部署に所属している</a:t>
            </a:r>
            <a:r>
              <a:rPr lang="ja-JP" altLang="en-US" sz="1400" dirty="0"/>
              <a:t>社員を取得</a:t>
            </a:r>
            <a:endParaRPr kumimoji="1" lang="ja-JP" altLang="en-US" sz="14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78431"/>
              </p:ext>
            </p:extLst>
          </p:nvPr>
        </p:nvGraphicFramePr>
        <p:xfrm>
          <a:off x="227012" y="4233424"/>
          <a:ext cx="4572000" cy="1753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727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766455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35081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137D2B-2005-A8E3-CD64-8C98B5903520}"/>
              </a:ext>
            </a:extLst>
          </p:cNvPr>
          <p:cNvSpPr txBox="1"/>
          <p:nvPr/>
        </p:nvSpPr>
        <p:spPr>
          <a:xfrm>
            <a:off x="7008812" y="401135"/>
            <a:ext cx="411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ja-JP" altLang="en-US" sz="1600" dirty="0">
                <a:solidFill>
                  <a:srgbClr val="0070C0"/>
                </a:solidFill>
              </a:rPr>
              <a:t>    </a:t>
            </a:r>
            <a:r>
              <a:rPr kumimoji="1" lang="en-US" altLang="ja-JP" sz="1600" dirty="0">
                <a:solidFill>
                  <a:srgbClr val="0070C0"/>
                </a:solidFill>
              </a:rPr>
              <a:t>NAME,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IN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SELECT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GROUP BY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HAVING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AVG(SALARY) &gt; 300000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);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578838-CCEA-93F6-88C4-7623FF3C1DB3}"/>
              </a:ext>
            </a:extLst>
          </p:cNvPr>
          <p:cNvSpPr txBox="1"/>
          <p:nvPr/>
        </p:nvSpPr>
        <p:spPr>
          <a:xfrm>
            <a:off x="6246812" y="50495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※WHERE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句でのサブクエリの使いどころ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1277E3-B014-EF1D-6349-A523C47E9E2E}"/>
              </a:ext>
            </a:extLst>
          </p:cNvPr>
          <p:cNvSpPr txBox="1"/>
          <p:nvPr/>
        </p:nvSpPr>
        <p:spPr>
          <a:xfrm>
            <a:off x="6551612" y="556260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ある条件を満たす行のみを抽出したい場合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A054C4-D94B-B44D-C1F0-900CDA2A0AC0}"/>
              </a:ext>
            </a:extLst>
          </p:cNvPr>
          <p:cNvSpPr txBox="1"/>
          <p:nvPr/>
        </p:nvSpPr>
        <p:spPr>
          <a:xfrm>
            <a:off x="6551612" y="5927981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比較演算子などでも使用が可能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その場合はスカラ・サブクエリに限定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3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38100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WHERE</a:t>
            </a:r>
            <a:r>
              <a:rPr lang="ja-JP" altLang="en-US" sz="2800" dirty="0">
                <a:solidFill>
                  <a:schemeClr val="tx1"/>
                </a:solidFill>
              </a:rPr>
              <a:t>句 </a:t>
            </a:r>
            <a:r>
              <a:rPr lang="en-US" altLang="ja-JP" sz="2800" dirty="0">
                <a:solidFill>
                  <a:schemeClr val="tx1"/>
                </a:solidFill>
              </a:rPr>
              <a:t>(EXISTS)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6216"/>
              </p:ext>
            </p:extLst>
          </p:nvPr>
        </p:nvGraphicFramePr>
        <p:xfrm>
          <a:off x="227012" y="1109760"/>
          <a:ext cx="5251768" cy="206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703637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lang="ja-JP" altLang="en-US" sz="1400" dirty="0"/>
              <a:t>同じ部署に自分以外の社員が存在する社員を取得する</a:t>
            </a:r>
            <a:endParaRPr kumimoji="1" lang="ja-JP" altLang="en-US" sz="14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0562"/>
              </p:ext>
            </p:extLst>
          </p:nvPr>
        </p:nvGraphicFramePr>
        <p:xfrm>
          <a:off x="227012" y="4233424"/>
          <a:ext cx="4191000" cy="1753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71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36A258-B114-50BF-1D89-40DC938B38CA}"/>
              </a:ext>
            </a:extLst>
          </p:cNvPr>
          <p:cNvSpPr txBox="1"/>
          <p:nvPr/>
        </p:nvSpPr>
        <p:spPr>
          <a:xfrm>
            <a:off x="7008812" y="401135"/>
            <a:ext cx="4648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ja-JP" altLang="en-US" sz="1600" dirty="0">
                <a:solidFill>
                  <a:srgbClr val="0070C0"/>
                </a:solidFill>
              </a:rPr>
              <a:t>    </a:t>
            </a:r>
            <a:r>
              <a:rPr kumimoji="1" lang="en-US" altLang="ja-JP" sz="1600" dirty="0">
                <a:solidFill>
                  <a:srgbClr val="0070C0"/>
                </a:solidFill>
              </a:rPr>
              <a:t>NAME,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EMPLOYEES E1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EXISTS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1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</a:t>
            </a:r>
            <a:r>
              <a:rPr kumimoji="1" lang="ja-JP" altLang="en-US" sz="1600" dirty="0">
                <a:solidFill>
                  <a:srgbClr val="0070C0"/>
                </a:solidFill>
              </a:rPr>
              <a:t>　</a:t>
            </a:r>
            <a:r>
              <a:rPr kumimoji="1" lang="en-US" altLang="ja-JP" sz="16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EMPLOYEES E2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</a:t>
            </a:r>
            <a:r>
              <a:rPr kumimoji="1" lang="ja-JP" altLang="en-US" sz="1600" dirty="0">
                <a:solidFill>
                  <a:srgbClr val="0070C0"/>
                </a:solidFill>
              </a:rPr>
              <a:t>　</a:t>
            </a:r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E1. DEPARTMENT = E2.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</a:t>
            </a:r>
            <a:r>
              <a:rPr kumimoji="1" lang="ja-JP" altLang="en-US" sz="1600" dirty="0">
                <a:solidFill>
                  <a:srgbClr val="0070C0"/>
                </a:solidFill>
              </a:rPr>
              <a:t>  </a:t>
            </a:r>
            <a:r>
              <a:rPr kumimoji="1" lang="en-US" altLang="ja-JP" sz="1600" dirty="0">
                <a:solidFill>
                  <a:srgbClr val="0070C0"/>
                </a:solidFill>
              </a:rPr>
              <a:t> AND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E1.ID &lt;&gt; E2.ID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);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1F3F9D-99B2-F584-3AE9-EBCBC1C8C510}"/>
              </a:ext>
            </a:extLst>
          </p:cNvPr>
          <p:cNvSpPr txBox="1"/>
          <p:nvPr/>
        </p:nvSpPr>
        <p:spPr>
          <a:xfrm>
            <a:off x="6018212" y="4648200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EXISTS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句は 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WHERE EXISTS (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サブクエリ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という構文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B3C94B-D61C-347F-C229-72A7AE3AAE63}"/>
              </a:ext>
            </a:extLst>
          </p:cNvPr>
          <p:cNvSpPr txBox="1"/>
          <p:nvPr/>
        </p:nvSpPr>
        <p:spPr>
          <a:xfrm>
            <a:off x="6018212" y="4986754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サブクエリの結果が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件以上の行を返す場合に、「真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(TRUE)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」、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それ以外は「偽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(FALSE)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」となる。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539617-5866-87E9-9687-7024F62EB95C}"/>
              </a:ext>
            </a:extLst>
          </p:cNvPr>
          <p:cNvSpPr txBox="1"/>
          <p:nvPr/>
        </p:nvSpPr>
        <p:spPr>
          <a:xfrm>
            <a:off x="6018212" y="5867400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結果が真となった場合にのみ、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メインのクエリが実行される。</a:t>
            </a:r>
          </a:p>
        </p:txBody>
      </p:sp>
    </p:spTree>
    <p:extLst>
      <p:ext uri="{BB962C8B-B14F-4D97-AF65-F5344CB8AC3E}">
        <p14:creationId xmlns:p14="http://schemas.microsoft.com/office/powerpoint/2010/main" val="131617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1666</TotalTime>
  <Words>944</Words>
  <Application>Microsoft Office PowerPoint</Application>
  <PresentationFormat>ユーザー設定</PresentationFormat>
  <Paragraphs>384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Meiryo UI</vt:lpstr>
      <vt:lpstr>YakuHanJPs</vt:lpstr>
      <vt:lpstr>メイリオ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PowerPoint プレゼンテーション</vt:lpstr>
      <vt:lpstr>PowerPoint プレゼンテーション</vt:lpstr>
      <vt:lpstr>SELECT句</vt:lpstr>
      <vt:lpstr>FROM句</vt:lpstr>
      <vt:lpstr>WHERE句 </vt:lpstr>
      <vt:lpstr>WHERE句 (EXISTS)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98</cp:revision>
  <dcterms:created xsi:type="dcterms:W3CDTF">2013-04-05T19:55:11Z</dcterms:created>
  <dcterms:modified xsi:type="dcterms:W3CDTF">2025-10-23T01:32:05Z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