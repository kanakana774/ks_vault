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94" r:id="rId5"/>
    <p:sldId id="295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9/8/2025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2025/9/8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41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2" y="1225551"/>
            <a:ext cx="9905999" cy="456565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 dirty="0">
                <a:solidFill>
                  <a:schemeClr val="tx1"/>
                </a:solidFill>
                <a:latin typeface="+mj-ea"/>
                <a:ea typeface="+mj-ea"/>
              </a:rPr>
              <a:t>ER</a:t>
            </a:r>
            <a:r>
              <a:rPr kumimoji="1" lang="ja-JP" altLang="en-US" b="1" dirty="0">
                <a:solidFill>
                  <a:schemeClr val="tx1"/>
                </a:solidFill>
                <a:latin typeface="+mj-ea"/>
                <a:ea typeface="+mj-ea"/>
              </a:rPr>
              <a:t>図とは、「データベース設計（データモデリング）で使う設計手法」。</a:t>
            </a:r>
            <a:br>
              <a:rPr kumimoji="1" lang="en-US" altLang="ja-JP" b="1" dirty="0">
                <a:solidFill>
                  <a:schemeClr val="tx1"/>
                </a:solidFill>
                <a:latin typeface="+mj-ea"/>
                <a:ea typeface="+mj-ea"/>
              </a:rPr>
            </a:br>
            <a:br>
              <a:rPr kumimoji="1" lang="en-US" altLang="ja-JP" b="1" dirty="0">
                <a:solidFill>
                  <a:schemeClr val="tx1"/>
                </a:solidFill>
                <a:latin typeface="+mj-ea"/>
                <a:ea typeface="+mj-ea"/>
              </a:rPr>
            </a:br>
            <a:endParaRPr kumimoji="1" lang="en-US" altLang="ja-JP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ER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図（</a:t>
            </a:r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Entity Relationship Diagram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46E4A6C-9FE7-8349-5C38-216C3E2F7CBA}"/>
              </a:ext>
            </a:extLst>
          </p:cNvPr>
          <p:cNvGrpSpPr/>
          <p:nvPr/>
        </p:nvGrpSpPr>
        <p:grpSpPr>
          <a:xfrm>
            <a:off x="1209806" y="1676400"/>
            <a:ext cx="10074012" cy="3368325"/>
            <a:chOff x="1209806" y="1981200"/>
            <a:chExt cx="10074012" cy="3368325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65C2E4DF-8408-6458-E18B-F76DB1BD9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9806" y="2057400"/>
              <a:ext cx="8725656" cy="3292125"/>
            </a:xfrm>
            <a:prstGeom prst="rect">
              <a:avLst/>
            </a:prstGeom>
          </p:spPr>
        </p:pic>
        <p:sp>
          <p:nvSpPr>
            <p:cNvPr id="5" name="吹き出し: 角を丸めた四角形 4">
              <a:extLst>
                <a:ext uri="{FF2B5EF4-FFF2-40B4-BE49-F238E27FC236}">
                  <a16:creationId xmlns:a16="http://schemas.microsoft.com/office/drawing/2014/main" id="{1EF909C0-6F78-37E6-38BE-129B56655794}"/>
                </a:ext>
              </a:extLst>
            </p:cNvPr>
            <p:cNvSpPr/>
            <p:nvPr/>
          </p:nvSpPr>
          <p:spPr>
            <a:xfrm>
              <a:off x="1903412" y="1981200"/>
              <a:ext cx="914400" cy="228902"/>
            </a:xfrm>
            <a:prstGeom prst="wedgeRoundRectCallout">
              <a:avLst>
                <a:gd name="adj1" fmla="val -20833"/>
                <a:gd name="adj2" fmla="val 9511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エンティティ</a:t>
              </a:r>
            </a:p>
          </p:txBody>
        </p:sp>
        <p:sp>
          <p:nvSpPr>
            <p:cNvPr id="7" name="吹き出し: 角を丸めた四角形 6">
              <a:extLst>
                <a:ext uri="{FF2B5EF4-FFF2-40B4-BE49-F238E27FC236}">
                  <a16:creationId xmlns:a16="http://schemas.microsoft.com/office/drawing/2014/main" id="{BC6BE227-0843-E184-E7BA-120F4B8F9827}"/>
                </a:ext>
              </a:extLst>
            </p:cNvPr>
            <p:cNvSpPr/>
            <p:nvPr/>
          </p:nvSpPr>
          <p:spPr>
            <a:xfrm>
              <a:off x="2817812" y="2549111"/>
              <a:ext cx="1143000" cy="228600"/>
            </a:xfrm>
            <a:prstGeom prst="wedgeRoundRectCallout">
              <a:avLst>
                <a:gd name="adj1" fmla="val -20833"/>
                <a:gd name="adj2" fmla="val 9511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リレーションシップ</a:t>
              </a:r>
            </a:p>
          </p:txBody>
        </p:sp>
        <p:sp>
          <p:nvSpPr>
            <p:cNvPr id="8" name="吹き出し: 角を丸めた四角形 7">
              <a:extLst>
                <a:ext uri="{FF2B5EF4-FFF2-40B4-BE49-F238E27FC236}">
                  <a16:creationId xmlns:a16="http://schemas.microsoft.com/office/drawing/2014/main" id="{85B5DF53-3CB7-4316-CC8A-9603CC95FFC8}"/>
                </a:ext>
              </a:extLst>
            </p:cNvPr>
            <p:cNvSpPr/>
            <p:nvPr/>
          </p:nvSpPr>
          <p:spPr>
            <a:xfrm>
              <a:off x="5103812" y="3589162"/>
              <a:ext cx="1143000" cy="228600"/>
            </a:xfrm>
            <a:prstGeom prst="wedgeRoundRectCallout">
              <a:avLst>
                <a:gd name="adj1" fmla="val -21649"/>
                <a:gd name="adj2" fmla="val -108972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カーディナリティ</a:t>
              </a:r>
            </a:p>
          </p:txBody>
        </p:sp>
        <p:sp>
          <p:nvSpPr>
            <p:cNvPr id="9" name="吹き出し: 角を丸めた四角形 8">
              <a:extLst>
                <a:ext uri="{FF2B5EF4-FFF2-40B4-BE49-F238E27FC236}">
                  <a16:creationId xmlns:a16="http://schemas.microsoft.com/office/drawing/2014/main" id="{F69D9178-903D-D6DD-AD5C-CF7ECF8F2B87}"/>
                </a:ext>
              </a:extLst>
            </p:cNvPr>
            <p:cNvSpPr/>
            <p:nvPr/>
          </p:nvSpPr>
          <p:spPr>
            <a:xfrm>
              <a:off x="10140818" y="3733800"/>
              <a:ext cx="1143000" cy="228600"/>
            </a:xfrm>
            <a:prstGeom prst="wedgeRoundRectCallout">
              <a:avLst>
                <a:gd name="adj1" fmla="val -55119"/>
                <a:gd name="adj2" fmla="val 3796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アトリビュート</a:t>
              </a:r>
            </a:p>
          </p:txBody>
        </p:sp>
        <p:sp>
          <p:nvSpPr>
            <p:cNvPr id="10" name="左中かっこ 9">
              <a:extLst>
                <a:ext uri="{FF2B5EF4-FFF2-40B4-BE49-F238E27FC236}">
                  <a16:creationId xmlns:a16="http://schemas.microsoft.com/office/drawing/2014/main" id="{BAE37596-BDA3-D944-A259-179C807C49BE}"/>
                </a:ext>
              </a:extLst>
            </p:cNvPr>
            <p:cNvSpPr/>
            <p:nvPr/>
          </p:nvSpPr>
          <p:spPr>
            <a:xfrm rot="10800000">
              <a:off x="9699056" y="3200399"/>
              <a:ext cx="381000" cy="1676400"/>
            </a:xfrm>
            <a:prstGeom prst="leftBrace">
              <a:avLst>
                <a:gd name="adj1" fmla="val 8333"/>
                <a:gd name="adj2" fmla="val 5667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001E73B-EB48-2B48-D215-3AE85258E456}"/>
              </a:ext>
            </a:extLst>
          </p:cNvPr>
          <p:cNvSpPr txBox="1"/>
          <p:nvPr/>
        </p:nvSpPr>
        <p:spPr>
          <a:xfrm>
            <a:off x="528637" y="5181600"/>
            <a:ext cx="1165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エンティティ・・・テーブルのこと。</a:t>
            </a:r>
            <a:endParaRPr kumimoji="1" lang="en-US" altLang="ja-JP" dirty="0"/>
          </a:p>
          <a:p>
            <a:r>
              <a:rPr kumimoji="1" lang="ja-JP" altLang="en-US" dirty="0"/>
              <a:t>アトリビュート・・・カラム（属性）のこと。</a:t>
            </a:r>
            <a:r>
              <a:rPr kumimoji="1" lang="en-US" altLang="ja-JP" dirty="0"/>
              <a:t>pk</a:t>
            </a:r>
            <a:r>
              <a:rPr kumimoji="1" lang="ja-JP" altLang="en-US" dirty="0"/>
              <a:t>や</a:t>
            </a:r>
            <a:r>
              <a:rPr kumimoji="1" lang="en-US" altLang="ja-JP" dirty="0" err="1"/>
              <a:t>fk</a:t>
            </a:r>
            <a:r>
              <a:rPr kumimoji="1" lang="ja-JP" altLang="en-US" dirty="0"/>
              <a:t>も表現する。</a:t>
            </a:r>
            <a:endParaRPr kumimoji="1" lang="en-US" altLang="ja-JP" dirty="0"/>
          </a:p>
          <a:p>
            <a:r>
              <a:rPr kumimoji="1" lang="ja-JP" altLang="en-US" dirty="0"/>
              <a:t>リレーションシップ・・・テーブル同士の関連。</a:t>
            </a:r>
            <a:endParaRPr kumimoji="1" lang="en-US" altLang="ja-JP" dirty="0"/>
          </a:p>
          <a:p>
            <a:r>
              <a:rPr kumimoji="1" lang="ja-JP" altLang="en-US" dirty="0"/>
              <a:t>カーディナリティ（多重度）・・・</a:t>
            </a:r>
            <a:r>
              <a:rPr lang="ja-JP" altLang="en-US" dirty="0"/>
              <a:t>「１対１」「１対多」「多対多」など、リレーションシップの詳細を表現。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00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FB23D82A-74F7-BAFB-AF9D-BC65D5F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45720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カーディナリティ</a:t>
            </a: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A94A8148-610C-853C-36EA-FF90B18C7014}"/>
              </a:ext>
            </a:extLst>
          </p:cNvPr>
          <p:cNvGrpSpPr/>
          <p:nvPr/>
        </p:nvGrpSpPr>
        <p:grpSpPr>
          <a:xfrm>
            <a:off x="1217612" y="1442109"/>
            <a:ext cx="7777456" cy="1632323"/>
            <a:chOff x="1217612" y="1442109"/>
            <a:chExt cx="7777456" cy="1632323"/>
          </a:xfrm>
        </p:grpSpPr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13A9FACD-7248-4800-337B-1C9737E633A6}"/>
                </a:ext>
              </a:extLst>
            </p:cNvPr>
            <p:cNvGrpSpPr/>
            <p:nvPr/>
          </p:nvGrpSpPr>
          <p:grpSpPr>
            <a:xfrm>
              <a:off x="1674812" y="1828800"/>
              <a:ext cx="1754188" cy="1245632"/>
              <a:chOff x="1292224" y="1244084"/>
              <a:chExt cx="1754188" cy="1245632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30811511-D919-CBFE-2073-19DE0508CE5A}"/>
                  </a:ext>
                </a:extLst>
              </p:cNvPr>
              <p:cNvGrpSpPr/>
              <p:nvPr/>
            </p:nvGrpSpPr>
            <p:grpSpPr>
              <a:xfrm>
                <a:off x="1293812" y="1752600"/>
                <a:ext cx="1143000" cy="228600"/>
                <a:chOff x="1293812" y="1638300"/>
                <a:chExt cx="1143000" cy="228600"/>
              </a:xfrm>
            </p:grpSpPr>
            <p:cxnSp>
              <p:nvCxnSpPr>
                <p:cNvPr id="8" name="直線コネクタ 7">
                  <a:extLst>
                    <a:ext uri="{FF2B5EF4-FFF2-40B4-BE49-F238E27FC236}">
                      <a16:creationId xmlns:a16="http://schemas.microsoft.com/office/drawing/2014/main" id="{D8DAA8D5-2A0D-E992-65D0-77D3647CFB9F}"/>
                    </a:ext>
                  </a:extLst>
                </p:cNvPr>
                <p:cNvCxnSpPr/>
                <p:nvPr/>
              </p:nvCxnSpPr>
              <p:spPr>
                <a:xfrm>
                  <a:off x="1293812" y="1752600"/>
                  <a:ext cx="1143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線コネクタ 9">
                  <a:extLst>
                    <a:ext uri="{FF2B5EF4-FFF2-40B4-BE49-F238E27FC236}">
                      <a16:creationId xmlns:a16="http://schemas.microsoft.com/office/drawing/2014/main" id="{86922986-EC66-B3FA-AC9A-6E157DD864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4412" y="1638300"/>
                  <a:ext cx="0" cy="2286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E44A872A-2DD0-DF8D-5E5C-92DDBDD9C495}"/>
                  </a:ext>
                </a:extLst>
              </p:cNvPr>
              <p:cNvGrpSpPr/>
              <p:nvPr/>
            </p:nvGrpSpPr>
            <p:grpSpPr>
              <a:xfrm>
                <a:off x="1292224" y="2209800"/>
                <a:ext cx="1144588" cy="152400"/>
                <a:chOff x="1292224" y="2057400"/>
                <a:chExt cx="1144588" cy="152400"/>
              </a:xfrm>
            </p:grpSpPr>
            <p:cxnSp>
              <p:nvCxnSpPr>
                <p:cNvPr id="9" name="直線コネクタ 8">
                  <a:extLst>
                    <a:ext uri="{FF2B5EF4-FFF2-40B4-BE49-F238E27FC236}">
                      <a16:creationId xmlns:a16="http://schemas.microsoft.com/office/drawing/2014/main" id="{5C1814D0-5FA6-A0D4-AE1B-E528C23EFA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224" y="2133600"/>
                  <a:ext cx="992188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線コネクタ 12">
                  <a:extLst>
                    <a:ext uri="{FF2B5EF4-FFF2-40B4-BE49-F238E27FC236}">
                      <a16:creationId xmlns:a16="http://schemas.microsoft.com/office/drawing/2014/main" id="{F0D966A2-C882-F475-C6C2-A3AE9976A5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84412" y="2057400"/>
                  <a:ext cx="152400" cy="762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コネクタ 15">
                  <a:extLst>
                    <a:ext uri="{FF2B5EF4-FFF2-40B4-BE49-F238E27FC236}">
                      <a16:creationId xmlns:a16="http://schemas.microsoft.com/office/drawing/2014/main" id="{7831494A-0E2C-C958-4FF7-EE2565669C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4412" y="2133600"/>
                  <a:ext cx="1524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コネクタ 18">
                  <a:extLst>
                    <a:ext uri="{FF2B5EF4-FFF2-40B4-BE49-F238E27FC236}">
                      <a16:creationId xmlns:a16="http://schemas.microsoft.com/office/drawing/2014/main" id="{6C297B79-643E-F8D7-2668-3893596909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4412" y="2133600"/>
                  <a:ext cx="152400" cy="762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E5D43E1C-CAF8-893D-1217-A10DCB5223EA}"/>
                  </a:ext>
                </a:extLst>
              </p:cNvPr>
              <p:cNvGrpSpPr/>
              <p:nvPr/>
            </p:nvGrpSpPr>
            <p:grpSpPr>
              <a:xfrm>
                <a:off x="1293812" y="1354051"/>
                <a:ext cx="1143000" cy="126000"/>
                <a:chOff x="1293812" y="1371600"/>
                <a:chExt cx="1143000" cy="126000"/>
              </a:xfrm>
            </p:grpSpPr>
            <p:cxnSp>
              <p:nvCxnSpPr>
                <p:cNvPr id="25" name="直線コネクタ 24">
                  <a:extLst>
                    <a:ext uri="{FF2B5EF4-FFF2-40B4-BE49-F238E27FC236}">
                      <a16:creationId xmlns:a16="http://schemas.microsoft.com/office/drawing/2014/main" id="{7A51E389-66A3-7E80-1792-C63622558294}"/>
                    </a:ext>
                  </a:extLst>
                </p:cNvPr>
                <p:cNvCxnSpPr/>
                <p:nvPr/>
              </p:nvCxnSpPr>
              <p:spPr>
                <a:xfrm>
                  <a:off x="1293812" y="1447800"/>
                  <a:ext cx="1143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楕円 26">
                  <a:extLst>
                    <a:ext uri="{FF2B5EF4-FFF2-40B4-BE49-F238E27FC236}">
                      <a16:creationId xmlns:a16="http://schemas.microsoft.com/office/drawing/2014/main" id="{1E3DF40C-681B-2BDD-F5E2-BEB783BEDA26}"/>
                    </a:ext>
                  </a:extLst>
                </p:cNvPr>
                <p:cNvSpPr/>
                <p:nvPr/>
              </p:nvSpPr>
              <p:spPr>
                <a:xfrm>
                  <a:off x="2208212" y="1371600"/>
                  <a:ext cx="126000" cy="126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70A067-CD8E-3B0F-09F5-17A13A08B1A7}"/>
                  </a:ext>
                </a:extLst>
              </p:cNvPr>
              <p:cNvSpPr txBox="1"/>
              <p:nvPr/>
            </p:nvSpPr>
            <p:spPr>
              <a:xfrm>
                <a:off x="2665412" y="1244084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0</a:t>
                </a:r>
                <a:endParaRPr kumimoji="1" lang="ja-JP" altLang="en-US" dirty="0"/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CF8F8511-C1FF-93F3-8BB5-F1C854BED822}"/>
                  </a:ext>
                </a:extLst>
              </p:cNvPr>
              <p:cNvSpPr txBox="1"/>
              <p:nvPr/>
            </p:nvSpPr>
            <p:spPr>
              <a:xfrm>
                <a:off x="2665412" y="1682234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1</a:t>
                </a:r>
                <a:endParaRPr kumimoji="1" lang="ja-JP" altLang="en-US" dirty="0"/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48390A1-9605-3787-92C1-1C5072EC7E60}"/>
                  </a:ext>
                </a:extLst>
              </p:cNvPr>
              <p:cNvSpPr txBox="1"/>
              <p:nvPr/>
            </p:nvSpPr>
            <p:spPr>
              <a:xfrm>
                <a:off x="2630914" y="2120384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多</a:t>
                </a:r>
              </a:p>
            </p:txBody>
          </p:sp>
        </p:grp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4C43B531-6EA1-5E1C-62D5-1E27A761660B}"/>
                </a:ext>
              </a:extLst>
            </p:cNvPr>
            <p:cNvSpPr txBox="1"/>
            <p:nvPr/>
          </p:nvSpPr>
          <p:spPr>
            <a:xfrm>
              <a:off x="1217612" y="144780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基本：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FFBE9774-D489-DF5B-9E9E-6045F28D86DE}"/>
                </a:ext>
              </a:extLst>
            </p:cNvPr>
            <p:cNvSpPr txBox="1"/>
            <p:nvPr/>
          </p:nvSpPr>
          <p:spPr>
            <a:xfrm>
              <a:off x="5865812" y="144210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組み合わせ：</a:t>
              </a:r>
            </a:p>
          </p:txBody>
        </p: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886C63D6-DEE2-C6D4-D5C8-1CEE1CAF5E4B}"/>
                </a:ext>
              </a:extLst>
            </p:cNvPr>
            <p:cNvGrpSpPr/>
            <p:nvPr/>
          </p:nvGrpSpPr>
          <p:grpSpPr>
            <a:xfrm>
              <a:off x="6475412" y="2794516"/>
              <a:ext cx="1144588" cy="152400"/>
              <a:chOff x="6475412" y="2794516"/>
              <a:chExt cx="1144588" cy="152400"/>
            </a:xfrm>
          </p:grpSpPr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DD68A5A8-444A-5547-9534-4D38289CE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5412" y="2870716"/>
                <a:ext cx="9921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線コネクタ 51">
                <a:extLst>
                  <a:ext uri="{FF2B5EF4-FFF2-40B4-BE49-F238E27FC236}">
                    <a16:creationId xmlns:a16="http://schemas.microsoft.com/office/drawing/2014/main" id="{228096DD-B7CA-C22B-17BF-947B7DDEF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67600" y="2794516"/>
                <a:ext cx="152400" cy="76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2CA19558-8A75-DFA9-FA25-0C19E12AA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7600" y="2870716"/>
                <a:ext cx="152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線コネクタ 53">
                <a:extLst>
                  <a:ext uri="{FF2B5EF4-FFF2-40B4-BE49-F238E27FC236}">
                    <a16:creationId xmlns:a16="http://schemas.microsoft.com/office/drawing/2014/main" id="{E6A7A33B-386E-7A31-81F5-6B20F47C3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7600" y="2870716"/>
                <a:ext cx="152400" cy="76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88F67A2F-3323-F6DC-84CF-C039A50A600E}"/>
                </a:ext>
              </a:extLst>
            </p:cNvPr>
            <p:cNvGrpSpPr/>
            <p:nvPr/>
          </p:nvGrpSpPr>
          <p:grpSpPr>
            <a:xfrm>
              <a:off x="6477000" y="1938767"/>
              <a:ext cx="1143000" cy="126000"/>
              <a:chOff x="1293812" y="1371600"/>
              <a:chExt cx="1143000" cy="126000"/>
            </a:xfrm>
          </p:grpSpPr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36C6E10C-AC80-F2BC-2F19-98736D59C6D0}"/>
                  </a:ext>
                </a:extLst>
              </p:cNvPr>
              <p:cNvCxnSpPr/>
              <p:nvPr/>
            </p:nvCxnSpPr>
            <p:spPr>
              <a:xfrm>
                <a:off x="1293812" y="1447800"/>
                <a:ext cx="1143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楕円 49">
                <a:extLst>
                  <a:ext uri="{FF2B5EF4-FFF2-40B4-BE49-F238E27FC236}">
                    <a16:creationId xmlns:a16="http://schemas.microsoft.com/office/drawing/2014/main" id="{D2A15E95-BB53-07D4-757A-E2C4A1FE3571}"/>
                  </a:ext>
                </a:extLst>
              </p:cNvPr>
              <p:cNvSpPr/>
              <p:nvPr/>
            </p:nvSpPr>
            <p:spPr>
              <a:xfrm>
                <a:off x="2130424" y="1371600"/>
                <a:ext cx="126000" cy="126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BBDB319A-496B-09BF-AA99-78D1A10ED5AE}"/>
                </a:ext>
              </a:extLst>
            </p:cNvPr>
            <p:cNvSpPr txBox="1"/>
            <p:nvPr/>
          </p:nvSpPr>
          <p:spPr>
            <a:xfrm>
              <a:off x="7848600" y="1828800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0</a:t>
              </a:r>
              <a:r>
                <a:rPr kumimoji="1" lang="ja-JP" altLang="en-US" dirty="0"/>
                <a:t>または</a:t>
              </a:r>
              <a:r>
                <a:rPr kumimoji="1" lang="en-US" altLang="ja-JP" dirty="0"/>
                <a:t>1</a:t>
              </a: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16C5AAA7-D0DD-2D94-DB3C-A8BADED69A56}"/>
                </a:ext>
              </a:extLst>
            </p:cNvPr>
            <p:cNvSpPr txBox="1"/>
            <p:nvPr/>
          </p:nvSpPr>
          <p:spPr>
            <a:xfrm>
              <a:off x="7848600" y="2266950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0</a:t>
              </a:r>
              <a:r>
                <a:rPr kumimoji="1" lang="ja-JP" altLang="en-US" dirty="0"/>
                <a:t>以上</a:t>
              </a: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A40DD7F-9E83-28F2-E865-5D583FDDAA95}"/>
                </a:ext>
              </a:extLst>
            </p:cNvPr>
            <p:cNvSpPr txBox="1"/>
            <p:nvPr/>
          </p:nvSpPr>
          <p:spPr>
            <a:xfrm>
              <a:off x="7847012" y="2705100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1</a:t>
              </a:r>
              <a:r>
                <a:rPr kumimoji="1" lang="ja-JP" altLang="en-US" dirty="0"/>
                <a:t>以上</a:t>
              </a:r>
            </a:p>
          </p:txBody>
        </p: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90562060-21E7-46B4-B373-8004E8EC23C2}"/>
                </a:ext>
              </a:extLst>
            </p:cNvPr>
            <p:cNvCxnSpPr>
              <a:cxnSpLocks/>
            </p:cNvCxnSpPr>
            <p:nvPr/>
          </p:nvCxnSpPr>
          <p:spPr>
            <a:xfrm>
              <a:off x="7466012" y="1899166"/>
              <a:ext cx="0" cy="228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4B56654B-CF10-D18E-5F03-8BB6E4DC883E}"/>
                </a:ext>
              </a:extLst>
            </p:cNvPr>
            <p:cNvSpPr/>
            <p:nvPr/>
          </p:nvSpPr>
          <p:spPr>
            <a:xfrm>
              <a:off x="7308947" y="2371067"/>
              <a:ext cx="126000" cy="126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4E019B1E-9E94-79AD-DBCA-7F6682D33577}"/>
                </a:ext>
              </a:extLst>
            </p:cNvPr>
            <p:cNvGrpSpPr/>
            <p:nvPr/>
          </p:nvGrpSpPr>
          <p:grpSpPr>
            <a:xfrm>
              <a:off x="6476206" y="2366642"/>
              <a:ext cx="1144588" cy="152400"/>
              <a:chOff x="6475412" y="2794516"/>
              <a:chExt cx="1144588" cy="152400"/>
            </a:xfrm>
          </p:grpSpPr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8D5FCF33-7FB5-51B4-0C0E-8946CEE99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5412" y="2870716"/>
                <a:ext cx="9921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06B209EF-6A0E-F613-A791-27EFE52E9A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67600" y="2794516"/>
                <a:ext cx="152400" cy="76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853DA39C-B681-C552-E4F1-685E10CEF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7600" y="2870716"/>
                <a:ext cx="1524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4D101EA4-2B5C-03EF-8F85-66FA69B3E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7600" y="2870716"/>
                <a:ext cx="152400" cy="762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455B79A3-EB9E-6710-B4D9-21C839969A3A}"/>
                </a:ext>
              </a:extLst>
            </p:cNvPr>
            <p:cNvCxnSpPr>
              <a:cxnSpLocks/>
            </p:cNvCxnSpPr>
            <p:nvPr/>
          </p:nvCxnSpPr>
          <p:spPr>
            <a:xfrm>
              <a:off x="7389812" y="2753692"/>
              <a:ext cx="0" cy="228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209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</TotalTime>
  <Words>109</Words>
  <Application>Microsoft Office PowerPoint</Application>
  <PresentationFormat>ユーザー設定</PresentationFormat>
  <Paragraphs>20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 UI</vt:lpstr>
      <vt:lpstr>Arial</vt:lpstr>
      <vt:lpstr>Franklin Gothic Medium</vt:lpstr>
      <vt:lpstr>コントラストにより注目を集めるビジネス用プレゼンテーション (16x9)</vt:lpstr>
      <vt:lpstr>ER図（Entity Relationship Diagram）</vt:lpstr>
      <vt:lpstr>カーディナリティ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187</cp:revision>
  <dcterms:created xsi:type="dcterms:W3CDTF">2013-04-05T19:55:11Z</dcterms:created>
  <dcterms:modified xsi:type="dcterms:W3CDTF">2025-09-08T03:31:55Z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