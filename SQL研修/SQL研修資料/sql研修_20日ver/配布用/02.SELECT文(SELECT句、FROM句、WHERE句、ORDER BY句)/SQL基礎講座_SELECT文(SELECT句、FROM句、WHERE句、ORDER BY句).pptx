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8" r:id="rId5"/>
    <p:sldId id="284" r:id="rId6"/>
    <p:sldId id="272" r:id="rId7"/>
    <p:sldId id="289" r:id="rId8"/>
    <p:sldId id="290" r:id="rId9"/>
    <p:sldId id="285" r:id="rId10"/>
    <p:sldId id="291" r:id="rId11"/>
    <p:sldId id="292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8/29/2025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2025/8/29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925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478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10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064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0860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817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4033-9FE7-8436-7755-97236569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6F42B2-7271-086B-ADD8-FC547DC1A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A87B2D8-C13B-4B4A-D476-B84C86A8B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B7AFAC-7FB5-EAEB-F6E8-632EC2567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81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963204" y="122209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①</a:t>
            </a:r>
            <a:r>
              <a:rPr kumimoji="1" lang="en-US" altLang="ja-JP" b="1">
                <a:latin typeface="Meiryo UI" charset="0"/>
                <a:ea typeface="Meiryo UI" charset="0"/>
              </a:rPr>
              <a:t>SELECT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テーブルからデータを取り出すには、「</a:t>
            </a:r>
            <a:r>
              <a:rPr kumimoji="1" lang="en-US" altLang="ja-JP" b="1">
                <a:latin typeface="Meiryo UI" charset="0"/>
                <a:ea typeface="Meiryo UI" charset="0"/>
              </a:rPr>
              <a:t>SELECT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  <a:r>
              <a:rPr kumimoji="1" lang="ja-JP" altLang="en-US">
                <a:latin typeface="Meiryo UI" charset="0"/>
                <a:ea typeface="Meiryo UI" charset="0"/>
              </a:rPr>
              <a:t>」を使用する。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  </a:t>
            </a:r>
            <a:r>
              <a:rPr kumimoji="1" lang="en-US" altLang="ja-JP">
                <a:latin typeface="Meiryo UI" charset="0"/>
                <a:ea typeface="Meiryo UI" charset="0"/>
              </a:rPr>
              <a:t>(a) SELECT 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 ・テーブルから取り出したい列をカンマ区切りで指定する。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　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全ての列を取り出したい場合、「*」を指定することも可能。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(b) FROM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 ・データの取り出す元となるテーブルを指定する。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SQL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の基礎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09725" y="2286000"/>
            <a:ext cx="7192795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[,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]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</a:p>
          <a:p>
            <a:r>
              <a:rPr lang="en-US" altLang="ja-JP">
                <a:latin typeface="Meiryo UI"/>
                <a:ea typeface="Meiryo UI"/>
              </a:rPr>
              <a:t>     (</a:t>
            </a:r>
            <a:r>
              <a:rPr lang="ja-JP" altLang="en-US">
                <a:latin typeface="Meiryo UI"/>
                <a:ea typeface="Meiryo UI"/>
              </a:rPr>
              <a:t>ａ</a:t>
            </a:r>
            <a:r>
              <a:rPr lang="en-US" altLang="ja-JP">
                <a:latin typeface="Meiryo UI"/>
                <a:ea typeface="Meiryo UI"/>
              </a:rPr>
              <a:t>)</a:t>
            </a:r>
            <a:r>
              <a:rPr lang="ja-JP" altLang="en-US">
                <a:latin typeface="Meiryo UI"/>
                <a:ea typeface="Meiryo UI"/>
              </a:rPr>
              <a:t>　　　　　　　　　　　　　　　　　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（ｂ）</a:t>
            </a:r>
          </a:p>
          <a:p>
            <a:r>
              <a:rPr lang="ja-JP" altLang="en-US" sz="240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088274" y="2990505"/>
            <a:ext cx="2395305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>
            <a:off x="1997947" y="2976128"/>
            <a:ext cx="2992627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71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37809"/>
            <a:ext cx="9199562" cy="552169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特定のデータを取り出す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テーブルから特定データのみ取り出すには、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文に条件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en-US" altLang="ja-JP" b="1">
                <a:latin typeface="Meiryo UI" charset="0"/>
                <a:ea typeface="Meiryo UI" charset="0"/>
              </a:rPr>
              <a:t>WHERE</a:t>
            </a:r>
            <a:r>
              <a:rPr kumimoji="1" lang="ja-JP" altLang="en-US" b="1">
                <a:latin typeface="Meiryo UI" charset="0"/>
                <a:ea typeface="Meiryo UI" charset="0"/>
              </a:rPr>
              <a:t>句</a:t>
            </a:r>
            <a:r>
              <a:rPr kumimoji="1" lang="en-US" altLang="ja-JP" b="1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(c) WHERE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・テーブルから取り出したいデータの条件式を指定する。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09859" y="2645448"/>
            <a:ext cx="77856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*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WHERE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= '0001' 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>
                <a:latin typeface="Meiryo UI"/>
                <a:ea typeface="Meiryo UI"/>
              </a:rPr>
              <a:t>                        </a:t>
            </a:r>
            <a:r>
              <a:rPr lang="ja-JP" altLang="en-US">
                <a:latin typeface="Meiryo UI"/>
                <a:ea typeface="Meiryo UI"/>
              </a:rPr>
              <a:t>　　　　　　　　　　　　　　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</a:t>
            </a:r>
            <a:r>
              <a:rPr lang="en-US" altLang="ja-JP">
                <a:latin typeface="Meiryo UI"/>
                <a:ea typeface="Meiryo UI"/>
              </a:rPr>
              <a:t>c</a:t>
            </a:r>
            <a:r>
              <a:rPr lang="ja-JP" altLang="en-US">
                <a:latin typeface="Meiryo UI"/>
                <a:ea typeface="Meiryo UI"/>
              </a:rPr>
              <a:t>）</a:t>
            </a:r>
          </a:p>
          <a:p>
            <a:r>
              <a:rPr lang="ja-JP" altLang="en-US" sz="240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907570" y="3321184"/>
            <a:ext cx="3226875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73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【WHERE</a:t>
            </a:r>
            <a:r>
              <a:rPr kumimoji="1" lang="ja-JP" altLang="en-US" b="1">
                <a:latin typeface="Meiryo UI" charset="0"/>
                <a:ea typeface="Meiryo UI" charset="0"/>
              </a:rPr>
              <a:t>句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WHERE</a:t>
            </a:r>
            <a:r>
              <a:rPr kumimoji="1" lang="ja-JP" altLang="en-US">
                <a:latin typeface="Meiryo UI" charset="0"/>
                <a:ea typeface="Meiryo UI" charset="0"/>
              </a:rPr>
              <a:t>句に値や数値を演算子を使用して比較する条件式を作りデータを特定する。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>
                <a:latin typeface="Meiryo UI" charset="0"/>
                <a:ea typeface="Meiryo UI" charset="0"/>
              </a:rPr>
              <a:t>比較演算子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　</a:t>
            </a:r>
            <a:r>
              <a:rPr kumimoji="1" lang="ja-JP" altLang="en-US">
                <a:latin typeface="Meiryo UI" charset="0"/>
                <a:ea typeface="Meiryo UI" charset="0"/>
              </a:rPr>
              <a:t>条件式で使用する演算子。演算の結果、条件が成立した場合、「</a:t>
            </a:r>
            <a:r>
              <a:rPr kumimoji="1" lang="en-US" altLang="ja-JP">
                <a:latin typeface="Meiryo UI" charset="0"/>
                <a:ea typeface="Meiryo UI" charset="0"/>
              </a:rPr>
              <a:t>TRUE(</a:t>
            </a:r>
            <a:r>
              <a:rPr kumimoji="1" lang="ja-JP" altLang="en-US">
                <a:latin typeface="Meiryo UI" charset="0"/>
                <a:ea typeface="Meiryo UI" charset="0"/>
              </a:rPr>
              <a:t>真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」、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成立しない場合「</a:t>
            </a:r>
            <a:r>
              <a:rPr kumimoji="1" lang="en-US" altLang="ja-JP">
                <a:latin typeface="Meiryo UI" charset="0"/>
                <a:ea typeface="Meiryo UI" charset="0"/>
              </a:rPr>
              <a:t>FALSE(</a:t>
            </a:r>
            <a:r>
              <a:rPr kumimoji="1" lang="ja-JP" altLang="en-US">
                <a:latin typeface="Meiryo UI" charset="0"/>
                <a:ea typeface="Meiryo UI" charset="0"/>
              </a:rPr>
              <a:t>偽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」と評価し、「</a:t>
            </a:r>
            <a:r>
              <a:rPr kumimoji="1" lang="en-US" altLang="ja-JP">
                <a:latin typeface="Meiryo UI" charset="0"/>
                <a:ea typeface="Meiryo UI" charset="0"/>
              </a:rPr>
              <a:t>TRUE</a:t>
            </a:r>
            <a:r>
              <a:rPr kumimoji="1" lang="ja-JP" altLang="en-US">
                <a:latin typeface="Meiryo UI" charset="0"/>
                <a:ea typeface="Meiryo UI" charset="0"/>
              </a:rPr>
              <a:t>」のデータのみを取り出す。</a:t>
            </a:r>
          </a:p>
        </p:txBody>
      </p:sp>
      <p:pic>
        <p:nvPicPr>
          <p:cNvPr id="4" name="図 3" descr="enzan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46" y="3640084"/>
            <a:ext cx="4338457" cy="25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>
                <a:latin typeface="Meiryo UI" charset="0"/>
                <a:ea typeface="Meiryo UI" charset="0"/>
              </a:rPr>
              <a:t>論理演算子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　</a:t>
            </a:r>
            <a:r>
              <a:rPr kumimoji="1" lang="ja-JP" altLang="en-US">
                <a:latin typeface="Meiryo UI" charset="0"/>
                <a:ea typeface="Meiryo UI" charset="0"/>
              </a:rPr>
              <a:t>複数の条件式を組み合わせて、より複雑な条件式を作るための演算子。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例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 </a:t>
            </a:r>
            <a:r>
              <a:rPr kumimoji="1" lang="en-US" altLang="ja-JP">
                <a:latin typeface="Meiryo UI" charset="0"/>
                <a:ea typeface="Meiryo UI" charset="0"/>
              </a:rPr>
              <a:t>WHERE (</a:t>
            </a:r>
            <a:r>
              <a:rPr kumimoji="1" lang="ja-JP" altLang="en-US">
                <a:latin typeface="Meiryo UI" charset="0"/>
                <a:ea typeface="Meiryo UI" charset="0"/>
              </a:rPr>
              <a:t>社員番号 </a:t>
            </a:r>
            <a:r>
              <a:rPr kumimoji="1" lang="en-US" altLang="ja-JP">
                <a:latin typeface="Meiryo UI" charset="0"/>
                <a:ea typeface="Meiryo UI" charset="0"/>
              </a:rPr>
              <a:t>= '0001' OR  </a:t>
            </a:r>
            <a:r>
              <a:rPr kumimoji="1" lang="ja-JP" altLang="en-US">
                <a:latin typeface="Meiryo UI" charset="0"/>
                <a:ea typeface="Meiryo UI" charset="0"/>
              </a:rPr>
              <a:t>社員番号 </a:t>
            </a:r>
            <a:r>
              <a:rPr kumimoji="1" lang="en-US" altLang="ja-JP">
                <a:latin typeface="Meiryo UI" charset="0"/>
                <a:ea typeface="Meiryo UI" charset="0"/>
              </a:rPr>
              <a:t>=</a:t>
            </a:r>
            <a:r>
              <a:rPr kumimoji="1" lang="ja-JP" altLang="en-US">
                <a:latin typeface="Meiryo UI" charset="0"/>
                <a:ea typeface="Meiryo UI" charset="0"/>
              </a:rPr>
              <a:t> </a:t>
            </a:r>
            <a:r>
              <a:rPr kumimoji="1" lang="en-US" altLang="ja-JP">
                <a:latin typeface="Meiryo UI" charset="0"/>
                <a:ea typeface="Meiryo UI" charset="0"/>
              </a:rPr>
              <a:t>'0002') AND </a:t>
            </a:r>
            <a:r>
              <a:rPr kumimoji="1" lang="ja-JP" altLang="en-US">
                <a:latin typeface="Meiryo UI" charset="0"/>
                <a:ea typeface="Meiryo UI" charset="0"/>
              </a:rPr>
              <a:t>給与 </a:t>
            </a:r>
            <a:r>
              <a:rPr kumimoji="1" lang="en-US" altLang="ja-JP">
                <a:latin typeface="Meiryo UI" charset="0"/>
                <a:ea typeface="Meiryo UI" charset="0"/>
              </a:rPr>
              <a:t>&gt; 10</a:t>
            </a:r>
            <a:r>
              <a:rPr kumimoji="1" lang="ja-JP" altLang="en-US">
                <a:latin typeface="Meiryo UI" charset="0"/>
                <a:ea typeface="Meiryo UI" charset="0"/>
              </a:rPr>
              <a:t>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→ 社員番号が</a:t>
            </a:r>
            <a:r>
              <a:rPr kumimoji="1" lang="en-US" altLang="ja-JP">
                <a:latin typeface="Meiryo UI" charset="0"/>
                <a:ea typeface="Meiryo UI" charset="0"/>
              </a:rPr>
              <a:t>'0001'</a:t>
            </a:r>
            <a:r>
              <a:rPr kumimoji="1" lang="ja-JP" altLang="en-US">
                <a:latin typeface="Meiryo UI" charset="0"/>
                <a:ea typeface="Meiryo UI" charset="0"/>
              </a:rPr>
              <a:t>または、</a:t>
            </a:r>
            <a:r>
              <a:rPr kumimoji="1" lang="en-US" altLang="ja-JP">
                <a:latin typeface="Meiryo UI" charset="0"/>
                <a:ea typeface="Meiryo UI" charset="0"/>
              </a:rPr>
              <a:t>'0002' </a:t>
            </a:r>
            <a:r>
              <a:rPr kumimoji="1" lang="ja-JP" altLang="en-US">
                <a:latin typeface="Meiryo UI" charset="0"/>
                <a:ea typeface="Meiryo UI" charset="0"/>
              </a:rPr>
              <a:t>かつ、給与が</a:t>
            </a:r>
            <a:r>
              <a:rPr kumimoji="1" lang="en-US" altLang="ja-JP">
                <a:latin typeface="Meiryo UI" charset="0"/>
                <a:ea typeface="Meiryo UI" charset="0"/>
              </a:rPr>
              <a:t>10</a:t>
            </a:r>
            <a:r>
              <a:rPr kumimoji="1" lang="ja-JP" altLang="en-US">
                <a:latin typeface="Meiryo UI" charset="0"/>
                <a:ea typeface="Meiryo UI" charset="0"/>
              </a:rPr>
              <a:t>万より大きい</a:t>
            </a:r>
          </a:p>
        </p:txBody>
      </p:sp>
      <p:pic>
        <p:nvPicPr>
          <p:cNvPr id="2" name="図 1" descr="ron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838" y="1643063"/>
            <a:ext cx="6916513" cy="303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5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その他演算子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WHERE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句で使用できるその他の演算子。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9117D49-7849-C9EE-3133-37A61571D960}"/>
              </a:ext>
            </a:extLst>
          </p:cNvPr>
          <p:cNvGrpSpPr/>
          <p:nvPr/>
        </p:nvGrpSpPr>
        <p:grpSpPr>
          <a:xfrm>
            <a:off x="1522412" y="1695450"/>
            <a:ext cx="8894762" cy="3562350"/>
            <a:chOff x="1522412" y="1695450"/>
            <a:chExt cx="8894762" cy="3562350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2412" y="1695450"/>
              <a:ext cx="8894762" cy="356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DDDAC3FB-8E38-FD5E-966C-9A07B4FD28C4}"/>
                </a:ext>
              </a:extLst>
            </p:cNvPr>
            <p:cNvSpPr/>
            <p:nvPr/>
          </p:nvSpPr>
          <p:spPr>
            <a:xfrm>
              <a:off x="1522412" y="4191000"/>
              <a:ext cx="8894762" cy="10668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398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34915" y="445712"/>
            <a:ext cx="9199562" cy="5697836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データを並び替えて取得する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テーブルからデータを並び替えて取得する場合、「</a:t>
            </a:r>
            <a:r>
              <a:rPr kumimoji="1" lang="en-US" altLang="ja-JP" b="1">
                <a:latin typeface="Meiryo UI" charset="0"/>
                <a:ea typeface="Meiryo UI" charset="0"/>
              </a:rPr>
              <a:t>ORDER BY</a:t>
            </a:r>
            <a:r>
              <a:rPr kumimoji="1" lang="ja-JP" altLang="en-US">
                <a:latin typeface="Meiryo UI" charset="0"/>
                <a:ea typeface="Meiryo UI" charset="0"/>
              </a:rPr>
              <a:t>句」を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文の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最後に指定する。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(d) ORDER BY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・データ取得時の、並び順を指定したい列名をカンマ区切りで指定する。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</a:t>
            </a:r>
            <a:r>
              <a:rPr kumimoji="1" lang="en-US" altLang="ja-JP">
                <a:latin typeface="Meiryo UI" charset="0"/>
                <a:ea typeface="Meiryo UI" charset="0"/>
              </a:rPr>
              <a:t>※ </a:t>
            </a:r>
            <a:r>
              <a:rPr kumimoji="1" lang="ja-JP" altLang="en-US">
                <a:latin typeface="Meiryo UI" charset="0"/>
                <a:ea typeface="Meiryo UI" charset="0"/>
              </a:rPr>
              <a:t>列名のみ指定した場合、昇順となる。降順としたい場合、列名の後に降順を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    示す「</a:t>
            </a:r>
            <a:r>
              <a:rPr kumimoji="1" lang="en-US" altLang="ja-JP" b="1">
                <a:latin typeface="Meiryo UI" charset="0"/>
                <a:ea typeface="Meiryo UI" charset="0"/>
              </a:rPr>
              <a:t>DESC</a:t>
            </a:r>
            <a:r>
              <a:rPr kumimoji="1" lang="ja-JP" altLang="en-US">
                <a:latin typeface="Meiryo UI" charset="0"/>
                <a:ea typeface="Meiryo UI" charset="0"/>
              </a:rPr>
              <a:t>」を指定する。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  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 列名のみの場合、</a:t>
            </a:r>
            <a:r>
              <a:rPr kumimoji="1" lang="en-US" altLang="ja-JP">
                <a:latin typeface="Meiryo UI" charset="0"/>
                <a:ea typeface="Meiryo UI" charset="0"/>
              </a:rPr>
              <a:t>RDBMS</a:t>
            </a:r>
            <a:r>
              <a:rPr kumimoji="1" lang="ja-JP" altLang="en-US">
                <a:latin typeface="Meiryo UI" charset="0"/>
                <a:ea typeface="Meiryo UI" charset="0"/>
              </a:rPr>
              <a:t>が昇順を示す「</a:t>
            </a:r>
            <a:r>
              <a:rPr kumimoji="1" lang="en-US" altLang="ja-JP" b="1">
                <a:latin typeface="Meiryo UI" charset="0"/>
                <a:ea typeface="Meiryo UI" charset="0"/>
              </a:rPr>
              <a:t>ASC</a:t>
            </a:r>
            <a:r>
              <a:rPr kumimoji="1" lang="ja-JP" altLang="en-US">
                <a:latin typeface="Meiryo UI" charset="0"/>
                <a:ea typeface="Meiryo UI" charset="0"/>
              </a:rPr>
              <a:t>」が省略されていると解釈している。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81112" y="2286014"/>
            <a:ext cx="82423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*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ORDER BY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[,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] 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>
                <a:latin typeface="Meiryo UI"/>
                <a:ea typeface="Meiryo UI"/>
              </a:rPr>
              <a:t>                        </a:t>
            </a:r>
            <a:r>
              <a:rPr lang="ja-JP" altLang="en-US">
                <a:latin typeface="Meiryo UI"/>
                <a:ea typeface="Meiryo UI"/>
              </a:rPr>
              <a:t>　　　　　　　　　　　　　　　（</a:t>
            </a:r>
            <a:r>
              <a:rPr lang="en-US" altLang="ja-JP">
                <a:latin typeface="Meiryo UI"/>
                <a:ea typeface="Meiryo UI"/>
              </a:rPr>
              <a:t>d</a:t>
            </a:r>
            <a:r>
              <a:rPr lang="ja-JP" altLang="en-US">
                <a:latin typeface="Meiryo UI"/>
                <a:ea typeface="Meiryo UI"/>
              </a:rPr>
              <a:t>）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850075" y="2976128"/>
            <a:ext cx="3498408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04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A8B3-D247-D702-61B4-F9AFF786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3B48B8-628C-261E-BE53-ED21A9752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4915" y="445712"/>
            <a:ext cx="9199562" cy="569783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別名（エイリアス）を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付ける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】</a:t>
            </a: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lang="ja-JP" altLang="en-US" dirty="0">
                <a:latin typeface="Meiryo UI" charset="0"/>
                <a:ea typeface="Meiryo UI" charset="0"/>
              </a:rPr>
              <a:t>カラム名やテーブルには別名を付けることができる。</a:t>
            </a:r>
            <a:endParaRPr kumimoji="1"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215CCE-6780-E90C-EE5D-365BB06AC739}"/>
              </a:ext>
            </a:extLst>
          </p:cNvPr>
          <p:cNvSpPr txBox="1"/>
          <p:nvPr/>
        </p:nvSpPr>
        <p:spPr>
          <a:xfrm>
            <a:off x="1581112" y="2286014"/>
            <a:ext cx="8242300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	</a:t>
            </a:r>
            <a:r>
              <a:rPr lang="ja-JP" altLang="en-US" sz="2400" dirty="0">
                <a:solidFill>
                  <a:schemeClr val="tx1"/>
                </a:solidFill>
                <a:latin typeface="Meiryo UI"/>
                <a:ea typeface="Meiryo UI"/>
              </a:rPr>
              <a:t>カラム</a:t>
            </a:r>
            <a:r>
              <a:rPr lang="en-US" altLang="ja-JP" sz="2400" dirty="0">
                <a:solidFill>
                  <a:schemeClr val="tx1"/>
                </a:solidFill>
                <a:latin typeface="Meiryo UI"/>
                <a:ea typeface="Meiryo UI"/>
              </a:rPr>
              <a:t>1</a:t>
            </a:r>
            <a:r>
              <a:rPr lang="ja-JP" altLang="en-US" sz="2400" dirty="0">
                <a:latin typeface="Meiryo UI"/>
                <a:ea typeface="Meiryo UI"/>
              </a:rPr>
              <a:t> </a:t>
            </a:r>
            <a:r>
              <a:rPr lang="en-US" altLang="ja-JP" sz="2400" dirty="0">
                <a:latin typeface="Meiryo UI"/>
                <a:ea typeface="Meiryo UI"/>
              </a:rPr>
              <a:t>[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AS</a:t>
            </a:r>
            <a:r>
              <a:rPr lang="en-US" altLang="ja-JP" sz="2400">
                <a:latin typeface="Meiryo UI"/>
                <a:ea typeface="Meiryo UI"/>
              </a:rPr>
              <a:t>] </a:t>
            </a:r>
            <a:r>
              <a:rPr lang="ja-JP" altLang="en-US" sz="2400">
                <a:solidFill>
                  <a:schemeClr val="tx1"/>
                </a:solidFill>
                <a:latin typeface="Meiryo UI"/>
                <a:ea typeface="Meiryo UI"/>
              </a:rPr>
              <a:t>別名</a:t>
            </a:r>
            <a:r>
              <a:rPr lang="en-US" altLang="ja-JP" sz="2400" dirty="0">
                <a:solidFill>
                  <a:schemeClr val="tx1"/>
                </a:solidFill>
                <a:latin typeface="Meiryo UI"/>
                <a:ea typeface="Meiryo UI"/>
              </a:rPr>
              <a:t>1,</a:t>
            </a: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	</a:t>
            </a:r>
            <a:r>
              <a:rPr lang="ja-JP" altLang="en-US" sz="2400" dirty="0">
                <a:solidFill>
                  <a:schemeClr val="tx1"/>
                </a:solidFill>
                <a:latin typeface="Meiryo UI"/>
                <a:ea typeface="Meiryo UI"/>
              </a:rPr>
              <a:t>カラム</a:t>
            </a:r>
            <a:r>
              <a:rPr lang="en-US" altLang="ja-JP" sz="2400" dirty="0">
                <a:solidFill>
                  <a:schemeClr val="tx1"/>
                </a:solidFill>
                <a:latin typeface="Meiryo UI"/>
                <a:ea typeface="Meiryo UI"/>
              </a:rPr>
              <a:t>2</a:t>
            </a:r>
            <a:r>
              <a:rPr lang="ja-JP" altLang="en-US" sz="2400" dirty="0">
                <a:latin typeface="Meiryo UI"/>
                <a:ea typeface="Meiryo UI"/>
              </a:rPr>
              <a:t> </a:t>
            </a:r>
            <a:r>
              <a:rPr lang="en-US" altLang="ja-JP" sz="2400" dirty="0">
                <a:latin typeface="Meiryo UI"/>
                <a:ea typeface="Meiryo UI"/>
              </a:rPr>
              <a:t>[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AS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ja-JP" altLang="en-US" sz="2400" dirty="0">
                <a:solidFill>
                  <a:schemeClr val="tx1"/>
                </a:solidFill>
                <a:latin typeface="Meiryo UI"/>
                <a:ea typeface="Meiryo UI"/>
              </a:rPr>
              <a:t>別名</a:t>
            </a:r>
            <a:r>
              <a:rPr lang="en-US" altLang="ja-JP" sz="2400" dirty="0">
                <a:solidFill>
                  <a:schemeClr val="tx1"/>
                </a:solidFill>
                <a:latin typeface="Meiryo UI"/>
                <a:ea typeface="Meiryo UI"/>
              </a:rPr>
              <a:t>2</a:t>
            </a:r>
          </a:p>
          <a:p>
            <a:r>
              <a:rPr lang="en-US" altLang="ja-JP" sz="2400" dirty="0">
                <a:solidFill>
                  <a:schemeClr val="tx1"/>
                </a:solidFill>
                <a:latin typeface="Meiryo UI"/>
                <a:ea typeface="Meiryo UI"/>
              </a:rPr>
              <a:t>	</a:t>
            </a:r>
            <a:r>
              <a:rPr lang="ja-JP" altLang="en-US" sz="2400" dirty="0">
                <a:solidFill>
                  <a:schemeClr val="tx1"/>
                </a:solidFill>
                <a:latin typeface="Meiryo UI"/>
                <a:ea typeface="Meiryo UI"/>
              </a:rPr>
              <a:t>・・・</a:t>
            </a:r>
            <a:endParaRPr lang="en-US" altLang="ja-JP" sz="2400" dirty="0">
              <a:solidFill>
                <a:schemeClr val="tx1"/>
              </a:solidFill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	</a:t>
            </a:r>
            <a:r>
              <a:rPr lang="ja-JP" altLang="en-US" sz="2400" dirty="0">
                <a:latin typeface="Meiryo UI"/>
                <a:ea typeface="Meiryo UI"/>
              </a:rPr>
              <a:t>テーブル名 </a:t>
            </a:r>
            <a:r>
              <a:rPr lang="en-US" altLang="ja-JP" sz="2400" dirty="0">
                <a:latin typeface="Meiryo UI"/>
                <a:ea typeface="Meiryo UI"/>
              </a:rPr>
              <a:t>[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AS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ja-JP" altLang="en-US" sz="2400" dirty="0">
                <a:latin typeface="Meiryo UI"/>
                <a:ea typeface="Meiryo UI"/>
              </a:rPr>
              <a:t>別名</a:t>
            </a:r>
          </a:p>
        </p:txBody>
      </p:sp>
    </p:spTree>
    <p:extLst>
      <p:ext uri="{BB962C8B-B14F-4D97-AF65-F5344CB8AC3E}">
        <p14:creationId xmlns:p14="http://schemas.microsoft.com/office/powerpoint/2010/main" val="17819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4CB1A61F-C28A-ADFB-3287-1EA157556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533400"/>
          </a:xfrm>
        </p:spPr>
        <p:txBody>
          <a:bodyPr>
            <a:normAutofit/>
          </a:bodyPr>
          <a:lstStyle/>
          <a:p>
            <a:r>
              <a:rPr lang="en-US" altLang="ja-JP" sz="2800" dirty="0" err="1"/>
              <a:t>sql</a:t>
            </a:r>
            <a:r>
              <a:rPr lang="ja-JP" altLang="en-US" sz="2800" dirty="0"/>
              <a:t>の論理実行順（重要）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265C4AE-4B7C-0DE2-C9B6-E4FC1D60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19200"/>
            <a:ext cx="8686801" cy="1371600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altLang="ja-JP" sz="1800" dirty="0">
                <a:solidFill>
                  <a:schemeClr val="tx1"/>
                </a:solidFill>
              </a:rPr>
              <a:t>SQL</a:t>
            </a:r>
            <a:r>
              <a:rPr lang="ja-JP" altLang="en-US" sz="1800" dirty="0">
                <a:solidFill>
                  <a:schemeClr val="tx1"/>
                </a:solidFill>
              </a:rPr>
              <a:t>は宣言的に記載される言語であるため、実行順（手続き的な内容）が分かりづらい。何（</a:t>
            </a:r>
            <a:r>
              <a:rPr lang="en-US" altLang="ja-JP" sz="1800" dirty="0">
                <a:solidFill>
                  <a:schemeClr val="tx1"/>
                </a:solidFill>
              </a:rPr>
              <a:t>WHAT</a:t>
            </a:r>
            <a:r>
              <a:rPr lang="ja-JP" altLang="en-US" sz="1800" dirty="0">
                <a:solidFill>
                  <a:schemeClr val="tx1"/>
                </a:solidFill>
              </a:rPr>
              <a:t>）をするかを記載し、どうやって（</a:t>
            </a:r>
            <a:r>
              <a:rPr lang="en-US" altLang="ja-JP" sz="1800" dirty="0">
                <a:solidFill>
                  <a:schemeClr val="tx1"/>
                </a:solidFill>
              </a:rPr>
              <a:t>HOW</a:t>
            </a:r>
            <a:r>
              <a:rPr lang="ja-JP" altLang="en-US" sz="1800" dirty="0">
                <a:solidFill>
                  <a:schemeClr val="tx1"/>
                </a:solidFill>
              </a:rPr>
              <a:t>）やるかは記載しない。</a:t>
            </a:r>
            <a:endParaRPr lang="en-US" altLang="ja-JP" sz="18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ja-JP" altLang="en-US" sz="1800" dirty="0">
                <a:solidFill>
                  <a:schemeClr val="tx1"/>
                </a:solidFill>
              </a:rPr>
              <a:t>また、書いた通りに実行しないので、一概には言えないが、基本的に下記順番で処理される。（詳しくは実行計画の章で説明）</a:t>
            </a:r>
            <a:br>
              <a:rPr lang="en-US" altLang="ja-JP" sz="1800" dirty="0">
                <a:solidFill>
                  <a:schemeClr val="tx1"/>
                </a:solidFill>
              </a:rPr>
            </a:br>
            <a:r>
              <a:rPr lang="ja-JP" altLang="en-US" sz="1800" dirty="0">
                <a:solidFill>
                  <a:schemeClr val="tx1"/>
                </a:solidFill>
                <a:highlight>
                  <a:srgbClr val="FF0000"/>
                </a:highlight>
              </a:rPr>
              <a:t>テーブルを操作していく際は必ずこれをイメージして行うこと！</a:t>
            </a:r>
            <a:endParaRPr lang="en-US" altLang="ja-JP" sz="1800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0ED4392E-5129-7953-2E98-13B1B32DF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58961"/>
              </p:ext>
            </p:extLst>
          </p:nvPr>
        </p:nvGraphicFramePr>
        <p:xfrm>
          <a:off x="1217612" y="2716452"/>
          <a:ext cx="8125883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5883">
                  <a:extLst>
                    <a:ext uri="{9D8B030D-6E8A-4147-A177-3AD203B41FA5}">
                      <a16:colId xmlns:a16="http://schemas.microsoft.com/office/drawing/2014/main" val="3213597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処</a:t>
                      </a:r>
                      <a:r>
                        <a:rPr kumimoji="1" lang="ja-JP" altLang="en-US"/>
                        <a:t>理順（目安）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14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2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33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1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 BY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07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HAVING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49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80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 BY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10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467163"/>
                  </a:ext>
                </a:extLst>
              </a:tr>
            </a:tbl>
          </a:graphicData>
        </a:graphic>
      </p:graphicFrame>
      <p:sp>
        <p:nvSpPr>
          <p:cNvPr id="8" name="矢印: 下 7">
            <a:extLst>
              <a:ext uri="{FF2B5EF4-FFF2-40B4-BE49-F238E27FC236}">
                <a16:creationId xmlns:a16="http://schemas.microsoft.com/office/drawing/2014/main" id="{47CFBEC2-9A4B-11FA-94F6-377D95146AF3}"/>
              </a:ext>
            </a:extLst>
          </p:cNvPr>
          <p:cNvSpPr/>
          <p:nvPr/>
        </p:nvSpPr>
        <p:spPr>
          <a:xfrm>
            <a:off x="7313612" y="2861232"/>
            <a:ext cx="1143000" cy="3048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38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965</Words>
  <Application>Microsoft Office PowerPoint</Application>
  <PresentationFormat>ユーザー設定</PresentationFormat>
  <Paragraphs>98</Paragraphs>
  <Slides>8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Meiryo UI</vt:lpstr>
      <vt:lpstr>Arial</vt:lpstr>
      <vt:lpstr>Franklin Gothic Medium</vt:lpstr>
      <vt:lpstr>コントラストにより注目を集めるビジネス用プレゼンテーション (16x9)</vt:lpstr>
      <vt:lpstr>SQLの基礎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sqlの論理実行順（重要）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97</cp:revision>
  <dcterms:created xsi:type="dcterms:W3CDTF">2013-04-05T19:55:11Z</dcterms:created>
  <dcterms:modified xsi:type="dcterms:W3CDTF">2025-08-29T03:46:14Z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