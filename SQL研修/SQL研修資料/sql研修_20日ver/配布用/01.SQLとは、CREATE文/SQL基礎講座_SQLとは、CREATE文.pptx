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91" r:id="rId5"/>
    <p:sldId id="297" r:id="rId6"/>
    <p:sldId id="298" r:id="rId7"/>
    <p:sldId id="293" r:id="rId8"/>
    <p:sldId id="299" r:id="rId9"/>
    <p:sldId id="282" r:id="rId1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8/28/2025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2025/8/28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731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6C4B0-8507-595B-5A05-4F1F02A5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CEE0AAC-B6A3-60BD-CAEC-4AF762603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4D31C6C-2232-F15E-D994-FC44D0819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8352EF7-FE1A-782F-CC5D-CD2FC2D2C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493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359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3167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98496"/>
            <a:ext cx="9199562" cy="5361004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⑤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DB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の作成</a:t>
            </a:r>
            <a:endParaRPr kumimoji="1" lang="ja-JP" altLang="en-US" b="1" dirty="0">
              <a:latin typeface="MS PGothic" charset="0"/>
              <a:ea typeface="MS PGothic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新しくデータベースを作成する場合に使用。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※ </a:t>
            </a:r>
            <a:r>
              <a:rPr kumimoji="1" lang="ja-JP" altLang="en-US" dirty="0">
                <a:latin typeface="Meiryo UI" charset="0"/>
                <a:ea typeface="Meiryo UI" charset="0"/>
              </a:rPr>
              <a:t>基本的にソフトウェア開発者は、実行しない。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⑥表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テーブルの作成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)</a:t>
            </a:r>
            <a:endParaRPr kumimoji="1" lang="ja-JP" altLang="en-US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新しくテーブルを作成する場合に使用。</a:t>
            </a:r>
            <a:endParaRPr kumimoji="1" lang="ja-JP" dirty="0">
              <a:latin typeface="MS PGothic" charset="0"/>
              <a:ea typeface="MS PGothic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24233" y="1754052"/>
            <a:ext cx="6801132" cy="4619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en-US" altLang="ja-JP" sz="2400" b="1">
                <a:solidFill>
                  <a:srgbClr val="0070C0"/>
                </a:solidFill>
                <a:latin typeface="Meiryo UI"/>
                <a:ea typeface="Meiryo UI"/>
              </a:rPr>
              <a:t>CREATE DATABASE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データベース名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633538" y="3636963"/>
            <a:ext cx="6833486" cy="19383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en-US" altLang="ja-JP" sz="2400" b="1">
                <a:solidFill>
                  <a:srgbClr val="0070C0"/>
                </a:solidFill>
                <a:latin typeface="Meiryo UI"/>
                <a:ea typeface="Meiryo UI"/>
              </a:rPr>
              <a:t>CREATE TABLE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  <a:r>
              <a:rPr lang="en-US" altLang="ja-JP" sz="2400">
                <a:latin typeface="Meiryo UI"/>
                <a:ea typeface="Meiryo UI"/>
              </a:rPr>
              <a:t>(</a:t>
            </a:r>
            <a:endParaRPr lang="ja-JP" altLang="en-US" sz="2400">
              <a:latin typeface="Meiryo UI"/>
              <a:ea typeface="Meiryo UI"/>
            </a:endParaRPr>
          </a:p>
          <a:p>
            <a:r>
              <a:rPr lang="en-US" altLang="ja-JP" sz="2400">
                <a:latin typeface="Meiryo UI"/>
                <a:ea typeface="Meiryo UI"/>
              </a:rPr>
              <a:t>     </a:t>
            </a:r>
            <a:r>
              <a:rPr lang="ja-JP" altLang="en-US" sz="2400">
                <a:latin typeface="Meiryo UI"/>
                <a:ea typeface="Meiryo UI"/>
              </a:rPr>
              <a:t>列名</a:t>
            </a:r>
            <a:r>
              <a:rPr lang="en-US" altLang="ja-JP" sz="2400">
                <a:latin typeface="Meiryo UI"/>
                <a:ea typeface="Meiryo UI"/>
              </a:rPr>
              <a:t>1 </a:t>
            </a:r>
            <a:r>
              <a:rPr lang="ja-JP" altLang="en-US" sz="2400">
                <a:latin typeface="Meiryo UI"/>
                <a:ea typeface="Meiryo UI"/>
              </a:rPr>
              <a:t>属性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列制約</a:t>
            </a:r>
            <a:r>
              <a:rPr lang="en-US" altLang="ja-JP" sz="2400">
                <a:latin typeface="Meiryo UI"/>
                <a:ea typeface="Meiryo UI"/>
              </a:rPr>
              <a:t>,</a:t>
            </a:r>
            <a:endParaRPr lang="ja-JP" altLang="en-US" sz="2400">
              <a:latin typeface="Meiryo UI"/>
              <a:ea typeface="Meiryo UI"/>
            </a:endParaRPr>
          </a:p>
          <a:p>
            <a:r>
              <a:rPr lang="en-US" altLang="ja-JP" sz="2400">
                <a:latin typeface="Meiryo UI"/>
                <a:ea typeface="Meiryo UI"/>
              </a:rPr>
              <a:t>     </a:t>
            </a:r>
            <a:r>
              <a:rPr lang="ja-JP" altLang="en-US" sz="2400">
                <a:latin typeface="Meiryo UI"/>
                <a:ea typeface="Meiryo UI"/>
              </a:rPr>
              <a:t>列名</a:t>
            </a:r>
            <a:r>
              <a:rPr lang="en-US" altLang="ja-JP" sz="2400">
                <a:latin typeface="Meiryo UI"/>
                <a:ea typeface="Meiryo UI"/>
              </a:rPr>
              <a:t>2 </a:t>
            </a:r>
            <a:r>
              <a:rPr lang="ja-JP" altLang="en-US" sz="2400">
                <a:latin typeface="Meiryo UI"/>
                <a:ea typeface="Meiryo UI"/>
              </a:rPr>
              <a:t>属性</a:t>
            </a:r>
            <a:r>
              <a:rPr lang="en-US" altLang="ja-JP" sz="2400">
                <a:latin typeface="Meiryo UI"/>
                <a:ea typeface="Meiryo UI"/>
              </a:rPr>
              <a:t>,</a:t>
            </a:r>
            <a:endParaRPr lang="ja-JP" altLang="en-US" sz="2400">
              <a:latin typeface="Meiryo UI"/>
              <a:ea typeface="Meiryo UI"/>
            </a:endParaRPr>
          </a:p>
          <a:p>
            <a:r>
              <a:rPr lang="en-US" altLang="ja-JP" sz="2400">
                <a:latin typeface="Meiryo UI"/>
                <a:ea typeface="Meiryo UI"/>
              </a:rPr>
              <a:t>     </a:t>
            </a:r>
            <a:r>
              <a:rPr lang="ja-JP" altLang="en-US" sz="2400">
                <a:latin typeface="Meiryo UI"/>
                <a:ea typeface="Meiryo UI"/>
              </a:rPr>
              <a:t>テーブル制約</a:t>
            </a:r>
            <a:endParaRPr lang="en-US" altLang="ja-JP" sz="2400">
              <a:latin typeface="Meiryo UI"/>
              <a:ea typeface="Meiryo UI"/>
            </a:endParaRPr>
          </a:p>
          <a:p>
            <a:r>
              <a:rPr lang="ja-JP" altLang="en-US" sz="2400">
                <a:latin typeface="Meiryo UI"/>
                <a:ea typeface="Meiryo UI"/>
              </a:rPr>
              <a:t> </a:t>
            </a:r>
            <a:r>
              <a:rPr lang="en-US" altLang="ja-JP" sz="2400">
                <a:latin typeface="Meiryo UI"/>
                <a:ea typeface="Meiryo UI"/>
              </a:rPr>
              <a:t>)</a:t>
            </a:r>
            <a:r>
              <a:rPr lang="ja-JP" altLang="en-US" sz="2400">
                <a:latin typeface="Meiryo UI"/>
                <a:ea typeface="Meiryo UI"/>
              </a:rPr>
              <a:t> 　</a:t>
            </a:r>
          </a:p>
        </p:txBody>
      </p:sp>
    </p:spTree>
    <p:extLst>
      <p:ext uri="{BB962C8B-B14F-4D97-AF65-F5344CB8AC3E}">
        <p14:creationId xmlns:p14="http://schemas.microsoft.com/office/powerpoint/2010/main" val="306659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9464A-CC96-92E3-8770-786DADFE6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21D844-9D3C-5C3A-0C25-A99937642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4212" y="169782"/>
            <a:ext cx="10972799" cy="651843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 dirty="0">
                <a:latin typeface="Meiryo UI" charset="0"/>
                <a:ea typeface="Meiryo UI" charset="0"/>
              </a:rPr>
              <a:t>【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列の属性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データ型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)】</a:t>
            </a:r>
            <a:endParaRPr kumimoji="1" lang="ja-JP" altLang="en-US" b="1" dirty="0">
              <a:latin typeface="MS PGothic" charset="0"/>
              <a:ea typeface="MS PGothic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表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テーブル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を構成する列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カラム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には属性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データ型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を定義する。</a:t>
            </a: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sz="1400" dirty="0">
                <a:latin typeface="Meiryo UI" charset="0"/>
                <a:ea typeface="Meiryo UI" charset="0"/>
              </a:rPr>
              <a:t>数値型：</a:t>
            </a:r>
            <a:endParaRPr kumimoji="1" lang="en-US" altLang="ja-JP" sz="1400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lang="en-US" altLang="ja-JP" sz="1400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en-US" altLang="ja-JP" sz="1400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lang="en-US" altLang="ja-JP" sz="1400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en-US" altLang="ja-JP" sz="1400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 sz="1400" dirty="0">
                <a:latin typeface="Meiryo UI" charset="0"/>
                <a:ea typeface="Meiryo UI" charset="0"/>
              </a:rPr>
              <a:t>文字型：</a:t>
            </a:r>
            <a:endParaRPr lang="en-US" altLang="ja-JP" sz="1400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lang="en-US" altLang="ja-JP" sz="1400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lang="en-US" altLang="ja-JP" sz="1400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 sz="1400" dirty="0">
                <a:latin typeface="Meiryo UI" charset="0"/>
                <a:ea typeface="Meiryo UI" charset="0"/>
              </a:rPr>
              <a:t>日付型：</a:t>
            </a:r>
          </a:p>
          <a:p>
            <a:pPr marL="45720" indent="0">
              <a:buNone/>
            </a:pPr>
            <a:endParaRPr kumimoji="1" lang="ja-JP" altLang="en-US" sz="1400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A41940-1508-FC43-70D2-8A534FC2FE96}"/>
              </a:ext>
            </a:extLst>
          </p:cNvPr>
          <p:cNvSpPr txBox="1"/>
          <p:nvPr/>
        </p:nvSpPr>
        <p:spPr>
          <a:xfrm>
            <a:off x="8761412" y="169783"/>
            <a:ext cx="3517900" cy="830997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 altLang="ja-JP" sz="1600" dirty="0">
              <a:latin typeface="ＭＳ ゴシック"/>
              <a:ea typeface="ＭＳ ゴシック"/>
            </a:endParaRPr>
          </a:p>
          <a:p>
            <a:r>
              <a:rPr lang="en-US" altLang="ja-JP" sz="1600" dirty="0">
                <a:latin typeface="ＭＳ ゴシック"/>
                <a:ea typeface="ＭＳ ゴシック"/>
              </a:rPr>
              <a:t>※ RDBMS</a:t>
            </a:r>
            <a:r>
              <a:rPr lang="ja-JP" altLang="en-US" sz="1600" dirty="0">
                <a:latin typeface="ＭＳ ゴシック"/>
                <a:ea typeface="ＭＳ ゴシック"/>
              </a:rPr>
              <a:t>によって表現</a:t>
            </a:r>
            <a:r>
              <a:rPr lang="en-US" altLang="ja-JP" sz="1600" dirty="0">
                <a:latin typeface="ＭＳ ゴシック"/>
                <a:ea typeface="ＭＳ ゴシック"/>
              </a:rPr>
              <a:t>(</a:t>
            </a:r>
            <a:r>
              <a:rPr lang="ja-JP" altLang="en-US" sz="1600" dirty="0">
                <a:latin typeface="ＭＳ ゴシック"/>
                <a:ea typeface="ＭＳ ゴシック"/>
              </a:rPr>
              <a:t>使い方</a:t>
            </a:r>
            <a:r>
              <a:rPr lang="en-US" altLang="ja-JP" sz="1600" dirty="0">
                <a:latin typeface="ＭＳ ゴシック"/>
                <a:ea typeface="ＭＳ ゴシック"/>
              </a:rPr>
              <a:t>)</a:t>
            </a:r>
            <a:r>
              <a:rPr lang="ja-JP" altLang="en-US" sz="1600" dirty="0">
                <a:latin typeface="ＭＳ ゴシック"/>
                <a:ea typeface="ＭＳ ゴシック"/>
              </a:rPr>
              <a:t>が</a:t>
            </a:r>
          </a:p>
          <a:p>
            <a:r>
              <a:rPr lang="ja-JP" altLang="en-US" sz="1600" dirty="0">
                <a:latin typeface="ＭＳ ゴシック"/>
                <a:ea typeface="ＭＳ ゴシック"/>
              </a:rPr>
              <a:t>　</a:t>
            </a:r>
            <a:r>
              <a:rPr lang="en-US" altLang="ja-JP" sz="1600" dirty="0">
                <a:latin typeface="ＭＳ ゴシック"/>
                <a:ea typeface="ＭＳ ゴシック"/>
              </a:rPr>
              <a:t> </a:t>
            </a:r>
            <a:r>
              <a:rPr lang="ja-JP" altLang="en-US" sz="1600" dirty="0">
                <a:latin typeface="ＭＳ ゴシック"/>
                <a:ea typeface="ＭＳ ゴシック"/>
              </a:rPr>
              <a:t>異なる。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1656803E-32FA-310E-D94B-C1E2888F6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946411"/>
              </p:ext>
            </p:extLst>
          </p:nvPr>
        </p:nvGraphicFramePr>
        <p:xfrm>
          <a:off x="1190363" y="3572099"/>
          <a:ext cx="10314250" cy="975360"/>
        </p:xfrm>
        <a:graphic>
          <a:graphicData uri="http://schemas.openxmlformats.org/drawingml/2006/table">
            <a:tbl>
              <a:tblPr/>
              <a:tblGrid>
                <a:gridCol w="5157125">
                  <a:extLst>
                    <a:ext uri="{9D8B030D-6E8A-4147-A177-3AD203B41FA5}">
                      <a16:colId xmlns:a16="http://schemas.microsoft.com/office/drawing/2014/main" val="1916822893"/>
                    </a:ext>
                  </a:extLst>
                </a:gridCol>
                <a:gridCol w="5157125">
                  <a:extLst>
                    <a:ext uri="{9D8B030D-6E8A-4147-A177-3AD203B41FA5}">
                      <a16:colId xmlns:a16="http://schemas.microsoft.com/office/drawing/2014/main" val="147824019"/>
                    </a:ext>
                  </a:extLst>
                </a:gridCol>
              </a:tblGrid>
              <a:tr h="230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型名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説明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708676"/>
                  </a:ext>
                </a:extLst>
              </a:tr>
              <a:tr h="230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effectLst/>
                        </a:rPr>
                        <a:t>character varying(</a:t>
                      </a:r>
                      <a:r>
                        <a:rPr lang="pt-BR" sz="1000" i="1" dirty="0">
                          <a:effectLst/>
                        </a:rPr>
                        <a:t>n</a:t>
                      </a:r>
                      <a:r>
                        <a:rPr lang="pt-BR" sz="1000" dirty="0">
                          <a:effectLst/>
                        </a:rPr>
                        <a:t>), varchar(</a:t>
                      </a:r>
                      <a:r>
                        <a:rPr lang="pt-BR" sz="1000" i="1" dirty="0">
                          <a:effectLst/>
                        </a:rPr>
                        <a:t>n</a:t>
                      </a:r>
                      <a:r>
                        <a:rPr lang="pt-BR" sz="1000" dirty="0">
                          <a:effectLst/>
                        </a:rPr>
                        <a:t>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上限付き可変長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635075"/>
                  </a:ext>
                </a:extLst>
              </a:tr>
              <a:tr h="230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>
                          <a:effectLst/>
                        </a:rPr>
                        <a:t>character(</a:t>
                      </a:r>
                      <a:r>
                        <a:rPr lang="pt-BR" sz="1000" i="1" dirty="0">
                          <a:effectLst/>
                        </a:rPr>
                        <a:t>n</a:t>
                      </a:r>
                      <a:r>
                        <a:rPr lang="pt-BR" sz="1000" dirty="0">
                          <a:effectLst/>
                        </a:rPr>
                        <a:t>), char(</a:t>
                      </a:r>
                      <a:r>
                        <a:rPr lang="pt-BR" sz="1000" i="1" dirty="0">
                          <a:effectLst/>
                        </a:rPr>
                        <a:t>n</a:t>
                      </a:r>
                      <a:r>
                        <a:rPr lang="pt-BR" sz="1000" dirty="0">
                          <a:effectLst/>
                        </a:rPr>
                        <a:t>), bpchar(</a:t>
                      </a:r>
                      <a:r>
                        <a:rPr lang="pt-BR" sz="1000" i="1" dirty="0">
                          <a:effectLst/>
                        </a:rPr>
                        <a:t>n</a:t>
                      </a:r>
                      <a:r>
                        <a:rPr lang="pt-BR" sz="1000" dirty="0">
                          <a:effectLst/>
                        </a:rPr>
                        <a:t>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空白で埋められた固定長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777698"/>
                  </a:ext>
                </a:extLst>
              </a:tr>
              <a:tr h="230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text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dirty="0">
                          <a:effectLst/>
                        </a:rPr>
                        <a:t>制限なし可変長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922853"/>
                  </a:ext>
                </a:extLst>
              </a:tr>
            </a:tbl>
          </a:graphicData>
        </a:graphic>
      </p:graphicFrame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71C5A06D-BABA-76C2-6F11-D35A1D64C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428425"/>
              </p:ext>
            </p:extLst>
          </p:nvPr>
        </p:nvGraphicFramePr>
        <p:xfrm>
          <a:off x="1179511" y="1477317"/>
          <a:ext cx="10363200" cy="1782629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159629714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560088025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387174905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092343217"/>
                    </a:ext>
                  </a:extLst>
                </a:gridCol>
              </a:tblGrid>
              <a:tr h="176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dirty="0">
                          <a:effectLst/>
                        </a:rPr>
                        <a:t>型名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dirty="0">
                          <a:effectLst/>
                        </a:rPr>
                        <a:t>格納サイズ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説明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範囲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49662"/>
                  </a:ext>
                </a:extLst>
              </a:tr>
              <a:tr h="176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smallint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000">
                          <a:effectLst/>
                        </a:rPr>
                        <a:t>2</a:t>
                      </a:r>
                      <a:r>
                        <a:rPr lang="ja-JP" altLang="en-US" sz="1000">
                          <a:effectLst/>
                        </a:rPr>
                        <a:t>バイト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狭範囲の整数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000">
                          <a:effectLst/>
                        </a:rPr>
                        <a:t>-32768</a:t>
                      </a:r>
                      <a:r>
                        <a:rPr lang="ja-JP" altLang="en-US" sz="1000">
                          <a:effectLst/>
                        </a:rPr>
                        <a:t>から</a:t>
                      </a:r>
                      <a:r>
                        <a:rPr lang="en-US" altLang="ja-JP" sz="1000">
                          <a:effectLst/>
                        </a:rPr>
                        <a:t>+32767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038022"/>
                  </a:ext>
                </a:extLst>
              </a:tr>
              <a:tr h="195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integer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000">
                          <a:effectLst/>
                        </a:rPr>
                        <a:t>4</a:t>
                      </a:r>
                      <a:r>
                        <a:rPr lang="ja-JP" altLang="en-US" sz="1000">
                          <a:effectLst/>
                        </a:rPr>
                        <a:t>バイト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典型的に使用する整数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000">
                          <a:effectLst/>
                        </a:rPr>
                        <a:t>-2147483648</a:t>
                      </a:r>
                      <a:r>
                        <a:rPr lang="ja-JP" altLang="en-US" sz="1000">
                          <a:effectLst/>
                        </a:rPr>
                        <a:t>から</a:t>
                      </a:r>
                      <a:r>
                        <a:rPr lang="en-US" altLang="ja-JP" sz="1000">
                          <a:effectLst/>
                        </a:rPr>
                        <a:t>+2147483647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260267"/>
                  </a:ext>
                </a:extLst>
              </a:tr>
              <a:tr h="447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effectLst/>
                        </a:rPr>
                        <a:t>bigint</a:t>
                      </a:r>
                      <a:endParaRPr lang="en-US" sz="1000" dirty="0">
                        <a:effectLst/>
                      </a:endParaRP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000">
                          <a:effectLst/>
                        </a:rPr>
                        <a:t>8</a:t>
                      </a:r>
                      <a:r>
                        <a:rPr lang="ja-JP" altLang="en-US" sz="1000">
                          <a:effectLst/>
                        </a:rPr>
                        <a:t>バイト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広範囲整数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000">
                          <a:effectLst/>
                        </a:rPr>
                        <a:t>-9223372036854775808</a:t>
                      </a:r>
                      <a:r>
                        <a:rPr lang="ja-JP" altLang="en-US" sz="1000">
                          <a:effectLst/>
                        </a:rPr>
                        <a:t>から</a:t>
                      </a:r>
                      <a:r>
                        <a:rPr lang="en-US" altLang="ja-JP" sz="1000">
                          <a:effectLst/>
                        </a:rPr>
                        <a:t>+9223372036854775807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455125"/>
                  </a:ext>
                </a:extLst>
              </a:tr>
              <a:tr h="363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decimal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dirty="0">
                          <a:effectLst/>
                        </a:rPr>
                        <a:t>可変長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ユーザ指定精度、正確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小数点より上は</a:t>
                      </a:r>
                      <a:r>
                        <a:rPr lang="en-US" altLang="ja-JP" sz="1000">
                          <a:effectLst/>
                        </a:rPr>
                        <a:t>131072</a:t>
                      </a:r>
                      <a:r>
                        <a:rPr lang="ja-JP" altLang="en-US" sz="1000">
                          <a:effectLst/>
                        </a:rPr>
                        <a:t>桁まで、小数点より下は</a:t>
                      </a:r>
                      <a:r>
                        <a:rPr lang="en-US" altLang="ja-JP" sz="1000">
                          <a:effectLst/>
                        </a:rPr>
                        <a:t>16383</a:t>
                      </a:r>
                      <a:r>
                        <a:rPr lang="ja-JP" altLang="en-US" sz="1000">
                          <a:effectLst/>
                        </a:rPr>
                        <a:t>桁まで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692514"/>
                  </a:ext>
                </a:extLst>
              </a:tr>
              <a:tr h="363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numeric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可変長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ユーザ指定精度、正確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dirty="0">
                          <a:effectLst/>
                        </a:rPr>
                        <a:t>小数点より上は</a:t>
                      </a:r>
                      <a:r>
                        <a:rPr lang="en-US" altLang="ja-JP" sz="1000" dirty="0">
                          <a:effectLst/>
                        </a:rPr>
                        <a:t>131072</a:t>
                      </a:r>
                      <a:r>
                        <a:rPr lang="ja-JP" altLang="en-US" sz="1000" dirty="0">
                          <a:effectLst/>
                        </a:rPr>
                        <a:t>桁まで、小数点より下は</a:t>
                      </a:r>
                      <a:r>
                        <a:rPr lang="en-US" altLang="ja-JP" sz="1000" dirty="0">
                          <a:effectLst/>
                        </a:rPr>
                        <a:t>16383</a:t>
                      </a:r>
                      <a:r>
                        <a:rPr lang="ja-JP" altLang="en-US" sz="1000" dirty="0">
                          <a:effectLst/>
                        </a:rPr>
                        <a:t>桁まで</a:t>
                      </a:r>
                    </a:p>
                  </a:txBody>
                  <a:tcPr marL="50494" marR="50494" marT="25247" marB="2524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677334"/>
                  </a:ext>
                </a:extLst>
              </a:tr>
            </a:tbl>
          </a:graphicData>
        </a:graphic>
      </p:graphicFrame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4620CE1B-9A48-8F85-5733-C4FA4F03A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161558"/>
              </p:ext>
            </p:extLst>
          </p:nvPr>
        </p:nvGraphicFramePr>
        <p:xfrm>
          <a:off x="1190364" y="4843180"/>
          <a:ext cx="10352346" cy="1405220"/>
        </p:xfrm>
        <a:graphic>
          <a:graphicData uri="http://schemas.openxmlformats.org/drawingml/2006/table">
            <a:tbl>
              <a:tblPr/>
              <a:tblGrid>
                <a:gridCol w="1725391">
                  <a:extLst>
                    <a:ext uri="{9D8B030D-6E8A-4147-A177-3AD203B41FA5}">
                      <a16:colId xmlns:a16="http://schemas.microsoft.com/office/drawing/2014/main" val="3967551559"/>
                    </a:ext>
                  </a:extLst>
                </a:gridCol>
                <a:gridCol w="1725391">
                  <a:extLst>
                    <a:ext uri="{9D8B030D-6E8A-4147-A177-3AD203B41FA5}">
                      <a16:colId xmlns:a16="http://schemas.microsoft.com/office/drawing/2014/main" val="1153041942"/>
                    </a:ext>
                  </a:extLst>
                </a:gridCol>
                <a:gridCol w="1725391">
                  <a:extLst>
                    <a:ext uri="{9D8B030D-6E8A-4147-A177-3AD203B41FA5}">
                      <a16:colId xmlns:a16="http://schemas.microsoft.com/office/drawing/2014/main" val="3174615516"/>
                    </a:ext>
                  </a:extLst>
                </a:gridCol>
                <a:gridCol w="1725391">
                  <a:extLst>
                    <a:ext uri="{9D8B030D-6E8A-4147-A177-3AD203B41FA5}">
                      <a16:colId xmlns:a16="http://schemas.microsoft.com/office/drawing/2014/main" val="91510775"/>
                    </a:ext>
                  </a:extLst>
                </a:gridCol>
                <a:gridCol w="1725391">
                  <a:extLst>
                    <a:ext uri="{9D8B030D-6E8A-4147-A177-3AD203B41FA5}">
                      <a16:colId xmlns:a16="http://schemas.microsoft.com/office/drawing/2014/main" val="2654464338"/>
                    </a:ext>
                  </a:extLst>
                </a:gridCol>
                <a:gridCol w="1725391">
                  <a:extLst>
                    <a:ext uri="{9D8B030D-6E8A-4147-A177-3AD203B41FA5}">
                      <a16:colId xmlns:a16="http://schemas.microsoft.com/office/drawing/2014/main" val="2329909580"/>
                    </a:ext>
                  </a:extLst>
                </a:gridCol>
              </a:tblGrid>
              <a:tr h="158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型名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格納サイズ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説明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最遠の過去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dirty="0">
                          <a:effectLst/>
                        </a:rPr>
                        <a:t>最遠の未来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精度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566062"/>
                  </a:ext>
                </a:extLst>
              </a:tr>
              <a:tr h="514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timestamp [ (</a:t>
                      </a:r>
                      <a:r>
                        <a:rPr lang="en-US" sz="1000" i="1">
                          <a:effectLst/>
                        </a:rPr>
                        <a:t>p</a:t>
                      </a:r>
                      <a:r>
                        <a:rPr lang="en-US" sz="1000">
                          <a:effectLst/>
                        </a:rPr>
                        <a:t>) ] [ without time zone ]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000">
                          <a:effectLst/>
                        </a:rPr>
                        <a:t>8 </a:t>
                      </a:r>
                      <a:r>
                        <a:rPr lang="ja-JP" altLang="en-US" sz="1000">
                          <a:effectLst/>
                        </a:rPr>
                        <a:t>バイト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日付と時刻両方（時間帯なし）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4713 BC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294276 AD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000">
                          <a:effectLst/>
                        </a:rPr>
                        <a:t>1</a:t>
                      </a:r>
                      <a:r>
                        <a:rPr lang="ja-JP" altLang="en-US" sz="1000">
                          <a:effectLst/>
                        </a:rPr>
                        <a:t>マイクロ秒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778374"/>
                  </a:ext>
                </a:extLst>
              </a:tr>
              <a:tr h="395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timestamp [ (</a:t>
                      </a:r>
                      <a:r>
                        <a:rPr lang="en-US" sz="1000" i="1">
                          <a:effectLst/>
                        </a:rPr>
                        <a:t>p</a:t>
                      </a:r>
                      <a:r>
                        <a:rPr lang="en-US" sz="1000">
                          <a:effectLst/>
                        </a:rPr>
                        <a:t>) ] with time zone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000">
                          <a:effectLst/>
                        </a:rPr>
                        <a:t>8</a:t>
                      </a:r>
                      <a:r>
                        <a:rPr lang="ja-JP" altLang="en-US" sz="1000">
                          <a:effectLst/>
                        </a:rPr>
                        <a:t>バイト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日付と時刻両方、時間帯付き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4713 BC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294276 AD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000">
                          <a:effectLst/>
                        </a:rPr>
                        <a:t>1</a:t>
                      </a:r>
                      <a:r>
                        <a:rPr lang="ja-JP" altLang="en-US" sz="1000">
                          <a:effectLst/>
                        </a:rPr>
                        <a:t>マイクロ秒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83360"/>
                  </a:ext>
                </a:extLst>
              </a:tr>
              <a:tr h="277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date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000">
                          <a:effectLst/>
                        </a:rPr>
                        <a:t>4</a:t>
                      </a:r>
                      <a:r>
                        <a:rPr lang="ja-JP" altLang="en-US" sz="1000">
                          <a:effectLst/>
                        </a:rPr>
                        <a:t>バイト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日付（時刻なし）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4713 BC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5874897 AD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000" dirty="0">
                          <a:effectLst/>
                        </a:rPr>
                        <a:t>1</a:t>
                      </a:r>
                      <a:r>
                        <a:rPr lang="ja-JP" altLang="en-US" sz="1000" dirty="0">
                          <a:effectLst/>
                        </a:rPr>
                        <a:t>日</a:t>
                      </a:r>
                    </a:p>
                  </a:txBody>
                  <a:tcPr marL="65484" marR="65484" marT="32742" marB="32742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186413"/>
                  </a:ext>
                </a:extLst>
              </a:tr>
            </a:tbl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EA7D108-59B9-7B96-EACC-13B13C8617EE}"/>
              </a:ext>
            </a:extLst>
          </p:cNvPr>
          <p:cNvSpPr txBox="1"/>
          <p:nvPr/>
        </p:nvSpPr>
        <p:spPr>
          <a:xfrm>
            <a:off x="1903412" y="6270171"/>
            <a:ext cx="7376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その他にもバイナリ列デー型や、論理値型などがあります。（</a:t>
            </a:r>
            <a:r>
              <a:rPr kumimoji="1" lang="en-US" altLang="ja-JP" sz="1000" dirty="0"/>
              <a:t> https://www.postgresql.jp/docs/9.4/datatype.html </a:t>
            </a:r>
            <a:r>
              <a:rPr kumimoji="1" lang="ja-JP" altLang="en-US" sz="10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2943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34EC8CA1-8A40-2AC2-017D-81DDFB9E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1219200"/>
            <a:ext cx="8686801" cy="1752600"/>
          </a:xfrm>
        </p:spPr>
        <p:txBody>
          <a:bodyPr>
            <a:normAutofit/>
          </a:bodyPr>
          <a:lstStyle/>
          <a:p>
            <a:r>
              <a:rPr lang="en-US" altLang="ja-JP" sz="2000" dirty="0">
                <a:solidFill>
                  <a:schemeClr val="tx1"/>
                </a:solidFill>
                <a:latin typeface="Meiryo UI" charset="0"/>
                <a:ea typeface="Meiryo UI" charset="0"/>
              </a:rPr>
              <a:t>【</a:t>
            </a:r>
            <a:r>
              <a:rPr lang="ja-JP" altLang="en-US" sz="2000" dirty="0">
                <a:solidFill>
                  <a:schemeClr val="tx1"/>
                </a:solidFill>
                <a:latin typeface="Meiryo UI" charset="0"/>
                <a:ea typeface="Meiryo UI" charset="0"/>
              </a:rPr>
              <a:t>列の属性</a:t>
            </a:r>
            <a:r>
              <a:rPr lang="en-US" altLang="ja-JP" sz="2000" dirty="0">
                <a:solidFill>
                  <a:schemeClr val="tx1"/>
                </a:solidFill>
                <a:latin typeface="Meiryo UI" charset="0"/>
                <a:ea typeface="Meiryo UI" charset="0"/>
              </a:rPr>
              <a:t>(</a:t>
            </a:r>
            <a:r>
              <a:rPr lang="ja-JP" altLang="en-US" sz="2000" dirty="0">
                <a:solidFill>
                  <a:schemeClr val="tx1"/>
                </a:solidFill>
                <a:latin typeface="Meiryo UI" charset="0"/>
                <a:ea typeface="Meiryo UI" charset="0"/>
              </a:rPr>
              <a:t>汎用データ型</a:t>
            </a:r>
            <a:r>
              <a:rPr lang="en-US" altLang="ja-JP" sz="2000" dirty="0">
                <a:solidFill>
                  <a:schemeClr val="tx1"/>
                </a:solidFill>
                <a:latin typeface="Meiryo UI" charset="0"/>
                <a:ea typeface="Meiryo UI" charset="0"/>
              </a:rPr>
              <a:t>)】</a:t>
            </a:r>
            <a:br>
              <a:rPr lang="en-US" altLang="ja-JP" sz="2000" b="0" dirty="0">
                <a:solidFill>
                  <a:schemeClr val="tx1"/>
                </a:solidFill>
                <a:latin typeface="Meiryo UI" charset="0"/>
                <a:ea typeface="Meiryo UI" charset="0"/>
              </a:rPr>
            </a:br>
            <a:br>
              <a:rPr lang="en-US" altLang="ja-JP" sz="2000" b="0" dirty="0">
                <a:solidFill>
                  <a:schemeClr val="tx1"/>
                </a:solidFill>
                <a:latin typeface="Meiryo UI" charset="0"/>
                <a:ea typeface="Meiryo UI" charset="0"/>
              </a:rPr>
            </a:br>
            <a:r>
              <a:rPr lang="en-US" altLang="ja-JP" sz="1400" b="0" dirty="0">
                <a:solidFill>
                  <a:schemeClr val="tx1"/>
                </a:solidFill>
              </a:rPr>
              <a:t>PostgreSQL</a:t>
            </a:r>
            <a:r>
              <a:rPr lang="ja-JP" altLang="en-US" sz="1400" b="0" dirty="0">
                <a:solidFill>
                  <a:schemeClr val="tx1"/>
                </a:solidFill>
              </a:rPr>
              <a:t>にはユーザが使用可能な豊富なデータ型が始めから備わっています。</a:t>
            </a:r>
            <a:br>
              <a:rPr lang="en-US" altLang="ja-JP" sz="1400" b="0" dirty="0">
                <a:solidFill>
                  <a:schemeClr val="tx1"/>
                </a:solidFill>
              </a:rPr>
            </a:br>
            <a:br>
              <a:rPr lang="en-US" altLang="ja-JP" sz="1400" b="0" dirty="0">
                <a:solidFill>
                  <a:schemeClr val="tx1"/>
                </a:solidFill>
              </a:rPr>
            </a:br>
            <a:r>
              <a:rPr lang="en-US" altLang="ja-JP" sz="1400" b="0" dirty="0">
                <a:solidFill>
                  <a:schemeClr val="tx1"/>
                </a:solidFill>
              </a:rPr>
              <a:t>SERIAL</a:t>
            </a:r>
            <a:r>
              <a:rPr lang="ja-JP" altLang="en-US" sz="1400" b="0" dirty="0">
                <a:solidFill>
                  <a:schemeClr val="tx1"/>
                </a:solidFill>
              </a:rPr>
              <a:t>型は、</a:t>
            </a:r>
            <a:r>
              <a:rPr lang="en-US" altLang="ja-JP" sz="1400" b="0" dirty="0">
                <a:solidFill>
                  <a:schemeClr val="tx1"/>
                </a:solidFill>
              </a:rPr>
              <a:t>PostgreSQL</a:t>
            </a:r>
            <a:r>
              <a:rPr lang="ja-JP" altLang="en-US" sz="1400" b="0" dirty="0">
                <a:solidFill>
                  <a:schemeClr val="tx1"/>
                </a:solidFill>
              </a:rPr>
              <a:t>でよく使うシーケンスを自動設定してくれる型です。</a:t>
            </a:r>
            <a:br>
              <a:rPr lang="en-US" altLang="ja-JP" sz="1400" b="0" dirty="0">
                <a:solidFill>
                  <a:schemeClr val="tx1"/>
                </a:solidFill>
              </a:rPr>
            </a:br>
            <a:r>
              <a:rPr lang="ja-JP" altLang="en-US" sz="1400" b="0" dirty="0">
                <a:solidFill>
                  <a:schemeClr val="tx1"/>
                </a:solidFill>
              </a:rPr>
              <a:t>シーケンスとは</a:t>
            </a:r>
            <a:r>
              <a:rPr lang="en-US" altLang="ja-JP" sz="1400" b="0" dirty="0">
                <a:solidFill>
                  <a:schemeClr val="tx1"/>
                </a:solidFill>
              </a:rPr>
              <a:t>INSERT</a:t>
            </a:r>
            <a:r>
              <a:rPr lang="ja-JP" altLang="en-US" sz="1400" b="0" dirty="0">
                <a:solidFill>
                  <a:schemeClr val="tx1"/>
                </a:solidFill>
              </a:rPr>
              <a:t>で値を入れなくとも、自動で採番される列で、</a:t>
            </a:r>
            <a:r>
              <a:rPr lang="en-US" altLang="ja-JP" sz="1400" b="0" dirty="0">
                <a:solidFill>
                  <a:schemeClr val="tx1"/>
                </a:solidFill>
              </a:rPr>
              <a:t>CREATE SEQUENCE</a:t>
            </a:r>
            <a:r>
              <a:rPr lang="ja-JP" altLang="en-US" sz="1400" b="0" dirty="0">
                <a:solidFill>
                  <a:schemeClr val="tx1"/>
                </a:solidFill>
              </a:rPr>
              <a:t>文で作成することができます。シーケンスは自動で</a:t>
            </a:r>
            <a:r>
              <a:rPr lang="en-US" altLang="ja-JP" sz="1400" b="0" dirty="0">
                <a:solidFill>
                  <a:schemeClr val="tx1"/>
                </a:solidFill>
              </a:rPr>
              <a:t>1</a:t>
            </a:r>
            <a:r>
              <a:rPr lang="ja-JP" altLang="en-US" sz="1400" b="0" dirty="0">
                <a:solidFill>
                  <a:schemeClr val="tx1"/>
                </a:solidFill>
              </a:rPr>
              <a:t>から採番され、＋</a:t>
            </a:r>
            <a:r>
              <a:rPr lang="en-US" altLang="ja-JP" sz="1400" b="0" dirty="0">
                <a:solidFill>
                  <a:schemeClr val="tx1"/>
                </a:solidFill>
              </a:rPr>
              <a:t>1</a:t>
            </a:r>
            <a:r>
              <a:rPr lang="ja-JP" altLang="en-US" sz="1400" b="0" dirty="0">
                <a:solidFill>
                  <a:schemeClr val="tx1"/>
                </a:solidFill>
              </a:rPr>
              <a:t>ずつされます。また範囲は、</a:t>
            </a:r>
            <a:r>
              <a:rPr lang="en-US" altLang="ja-JP" sz="1400" b="0" dirty="0">
                <a:solidFill>
                  <a:schemeClr val="tx1"/>
                </a:solidFill>
              </a:rPr>
              <a:t>1~2,147,483,647</a:t>
            </a:r>
            <a:r>
              <a:rPr lang="ja-JP" altLang="en-US" sz="1400" b="0" dirty="0">
                <a:solidFill>
                  <a:schemeClr val="tx1"/>
                </a:solidFill>
              </a:rPr>
              <a:t>の間になります。</a:t>
            </a:r>
            <a:br>
              <a:rPr lang="ja-JP" altLang="en-US" sz="1400" dirty="0">
                <a:solidFill>
                  <a:schemeClr val="tx1"/>
                </a:solidFill>
              </a:rPr>
            </a:br>
            <a:endParaRPr lang="ja-JP" altLang="en-US" sz="1400" b="0" dirty="0">
              <a:solidFill>
                <a:schemeClr val="tx1"/>
              </a:solidFill>
              <a:latin typeface="MS PGothic" charset="0"/>
              <a:ea typeface="MS PGothic" charset="0"/>
            </a:endParaRPr>
          </a:p>
        </p:txBody>
      </p:sp>
      <p:graphicFrame>
        <p:nvGraphicFramePr>
          <p:cNvPr id="7" name="コンテンツ プレースホルダー 6">
            <a:extLst>
              <a:ext uri="{FF2B5EF4-FFF2-40B4-BE49-F238E27FC236}">
                <a16:creationId xmlns:a16="http://schemas.microsoft.com/office/drawing/2014/main" id="{CE3BFBE3-7939-5A73-0BF2-11724229C4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5050939"/>
              </p:ext>
            </p:extLst>
          </p:nvPr>
        </p:nvGraphicFramePr>
        <p:xfrm>
          <a:off x="1065212" y="3657600"/>
          <a:ext cx="8686800" cy="609600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1692449172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228599229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23029746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dirty="0">
                          <a:effectLst/>
                        </a:rPr>
                        <a:t>名称</a:t>
                      </a:r>
                    </a:p>
                  </a:txBody>
                  <a:tcPr marL="23155" marR="23155" marT="11577" marB="1157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dirty="0">
                          <a:effectLst/>
                        </a:rPr>
                        <a:t>別名</a:t>
                      </a:r>
                    </a:p>
                  </a:txBody>
                  <a:tcPr marL="23155" marR="23155" marT="11577" marB="1157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effectLst/>
                        </a:rPr>
                        <a:t>説明</a:t>
                      </a:r>
                    </a:p>
                  </a:txBody>
                  <a:tcPr marL="23155" marR="23155" marT="11577" marB="1157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9804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serial</a:t>
                      </a:r>
                    </a:p>
                  </a:txBody>
                  <a:tcPr marL="23155" marR="23155" marT="11577" marB="1157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serial4</a:t>
                      </a:r>
                    </a:p>
                  </a:txBody>
                  <a:tcPr marL="23155" marR="23155" marT="11577" marB="1157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dirty="0">
                          <a:effectLst/>
                        </a:rPr>
                        <a:t>自動増分</a:t>
                      </a:r>
                      <a:r>
                        <a:rPr lang="en-US" altLang="ja-JP" sz="1000" dirty="0">
                          <a:effectLst/>
                        </a:rPr>
                        <a:t>4</a:t>
                      </a:r>
                      <a:r>
                        <a:rPr lang="ja-JP" altLang="en-US" sz="1000" dirty="0">
                          <a:effectLst/>
                        </a:rPr>
                        <a:t>バイト整数</a:t>
                      </a:r>
                    </a:p>
                  </a:txBody>
                  <a:tcPr marL="23155" marR="23155" marT="11577" marB="11577" anchor="ctr">
                    <a:lnL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7C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6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57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597466"/>
            <a:ext cx="9199562" cy="5803334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kumimoji="1" lang="en-US" altLang="ja-JP" b="1" dirty="0">
                <a:latin typeface="Meiryo UI" charset="0"/>
                <a:ea typeface="Meiryo UI" charset="0"/>
              </a:rPr>
              <a:t>【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制約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】</a:t>
            </a:r>
            <a:endParaRPr kumimoji="1" lang="ja-JP" altLang="en-US" b="1" dirty="0">
              <a:latin typeface="MS PGothic" charset="0"/>
              <a:ea typeface="MS PGothic" charset="0"/>
            </a:endParaRPr>
          </a:p>
          <a:p>
            <a:pPr marL="45720" indent="0">
              <a:buNone/>
            </a:pPr>
            <a:r>
              <a:rPr kumimoji="1" lang="en-US" altLang="ja-JP" dirty="0">
                <a:latin typeface="Meiryo UI" charset="0"/>
                <a:ea typeface="Meiryo UI" charset="0"/>
              </a:rPr>
              <a:t>   </a:t>
            </a:r>
            <a:r>
              <a:rPr kumimoji="1" lang="ja-JP" altLang="en-US" dirty="0">
                <a:latin typeface="Meiryo UI" charset="0"/>
                <a:ea typeface="Meiryo UI" charset="0"/>
              </a:rPr>
              <a:t>制約とは、登録するデータを常に正しい状態に保つための条件。</a:t>
            </a:r>
          </a:p>
          <a:p>
            <a:pPr marL="45720" indent="0">
              <a:buNone/>
            </a:pPr>
            <a:r>
              <a:rPr kumimoji="1" lang="en-US" altLang="ja-JP" dirty="0">
                <a:latin typeface="Meiryo UI" charset="0"/>
                <a:ea typeface="Meiryo UI" charset="0"/>
              </a:rPr>
              <a:t>   </a:t>
            </a:r>
            <a:r>
              <a:rPr kumimoji="1" lang="ja-JP" altLang="en-US" dirty="0">
                <a:latin typeface="Meiryo UI" charset="0"/>
                <a:ea typeface="Meiryo UI" charset="0"/>
              </a:rPr>
              <a:t>テーブルの作成時に制約を設定すると、データの登録時に制限をかけることができる。</a:t>
            </a:r>
          </a:p>
          <a:p>
            <a:pPr marL="45720" indent="0">
              <a:buNone/>
            </a:pPr>
            <a:r>
              <a:rPr kumimoji="1" lang="en-US" altLang="ja-JP" dirty="0">
                <a:latin typeface="Meiryo UI" charset="0"/>
                <a:ea typeface="Meiryo UI" charset="0"/>
              </a:rPr>
              <a:t> </a:t>
            </a:r>
            <a:r>
              <a:rPr kumimoji="1" lang="ja-JP" altLang="en-US" dirty="0">
                <a:latin typeface="Meiryo UI" charset="0"/>
                <a:ea typeface="Meiryo UI" charset="0"/>
              </a:rPr>
              <a:t>■ 制約の種類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制約の種類には主に以下のようなものがある。</a:t>
            </a:r>
            <a:br>
              <a:rPr lang="en-US" altLang="ja-JP" dirty="0">
                <a:latin typeface="Meiryo UI" charset="0"/>
                <a:ea typeface="Meiryo UI" charset="0"/>
              </a:rPr>
            </a:br>
            <a:r>
              <a:rPr lang="ja-JP" altLang="en-US" sz="1400" dirty="0">
                <a:latin typeface="Meiryo UI" charset="0"/>
                <a:ea typeface="Meiryo UI" charset="0"/>
              </a:rPr>
              <a:t>　　　</a:t>
            </a:r>
            <a:r>
              <a:rPr lang="en-US" altLang="ja-JP" sz="1400" dirty="0">
                <a:latin typeface="Meiryo UI" charset="0"/>
                <a:ea typeface="Meiryo UI" charset="0"/>
              </a:rPr>
              <a:t>※</a:t>
            </a:r>
            <a:r>
              <a:rPr lang="ja-JP" altLang="en-US" sz="1400" dirty="0">
                <a:latin typeface="Meiryo UI" charset="0"/>
                <a:ea typeface="Meiryo UI" charset="0"/>
              </a:rPr>
              <a:t>基本的にどの制約も列制約、テーブル制約どちらでも書けるが、列単体の制約は列制約に書くことが多い。</a:t>
            </a:r>
            <a:endParaRPr kumimoji="1" lang="ja-JP" altLang="en-US" sz="1400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lang="en-US" altLang="ja-JP" dirty="0">
                <a:latin typeface="Meiryo UI" charset="0"/>
                <a:ea typeface="Meiryo UI" charset="0"/>
              </a:rPr>
              <a:t> </a:t>
            </a:r>
            <a:r>
              <a:rPr lang="ja-JP" altLang="en-US" dirty="0">
                <a:latin typeface="Meiryo UI" charset="0"/>
                <a:ea typeface="Meiryo UI" charset="0"/>
              </a:rPr>
              <a:t>　　　</a:t>
            </a:r>
            <a:r>
              <a:rPr lang="ja-JP" altLang="en-US" sz="1200" dirty="0">
                <a:latin typeface="Meiryo UI" charset="0"/>
                <a:ea typeface="Meiryo UI" charset="0"/>
              </a:rPr>
              <a:t>参考：</a:t>
            </a:r>
            <a:r>
              <a:rPr lang="en-US" altLang="ja-JP" sz="1200" dirty="0">
                <a:latin typeface="Meiryo UI" charset="0"/>
                <a:ea typeface="Meiryo UI" charset="0"/>
              </a:rPr>
              <a:t>https://www.postgresql.jp/docs/9.4/ddl-constraints.html</a:t>
            </a:r>
            <a:endParaRPr kumimoji="1" lang="ja-JP" altLang="en-US" dirty="0">
              <a:latin typeface="Meiryo UI" charset="0"/>
              <a:ea typeface="Meiryo UI" charset="0"/>
            </a:endParaRPr>
          </a:p>
        </p:txBody>
      </p:sp>
      <p:pic>
        <p:nvPicPr>
          <p:cNvPr id="7" name="図 6" descr="constr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3276600"/>
            <a:ext cx="6183864" cy="272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3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5">
            <a:extLst>
              <a:ext uri="{FF2B5EF4-FFF2-40B4-BE49-F238E27FC236}">
                <a16:creationId xmlns:a16="http://schemas.microsoft.com/office/drawing/2014/main" id="{4FA263BC-D5DD-9B81-F6DB-C40993226F93}"/>
              </a:ext>
            </a:extLst>
          </p:cNvPr>
          <p:cNvSpPr txBox="1">
            <a:spLocks/>
          </p:cNvSpPr>
          <p:nvPr/>
        </p:nvSpPr>
        <p:spPr>
          <a:xfrm>
            <a:off x="1065213" y="597466"/>
            <a:ext cx="9199562" cy="5562034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7772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0972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Arial" pitchFamily="34" charset="0"/>
              <a:buNone/>
            </a:pPr>
            <a:r>
              <a:rPr lang="en-US" altLang="ja-JP" b="1" dirty="0">
                <a:latin typeface="Meiryo UI" charset="0"/>
                <a:ea typeface="Meiryo UI" charset="0"/>
              </a:rPr>
              <a:t>【</a:t>
            </a:r>
            <a:r>
              <a:rPr lang="ja-JP" altLang="en-US" b="1" dirty="0">
                <a:latin typeface="Meiryo UI" charset="0"/>
                <a:ea typeface="Meiryo UI" charset="0"/>
              </a:rPr>
              <a:t>制約続き</a:t>
            </a:r>
            <a:r>
              <a:rPr lang="en-US" altLang="ja-JP" b="1" dirty="0">
                <a:latin typeface="Meiryo UI" charset="0"/>
                <a:ea typeface="Meiryo UI" charset="0"/>
              </a:rPr>
              <a:t>】</a:t>
            </a:r>
            <a:endParaRPr lang="ja-JP" altLang="en-US" b="1" dirty="0">
              <a:latin typeface="MS PGothic" charset="0"/>
              <a:ea typeface="MS PGothic" charset="0"/>
            </a:endParaRPr>
          </a:p>
          <a:p>
            <a:pPr marL="45720" indent="0">
              <a:buFont typeface="Arial" pitchFamily="34" charset="0"/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　外部キーとは？：参照整合性を保つための制約　　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7A4A573-9CE2-5348-E9F6-B1217EF1A2B8}"/>
              </a:ext>
            </a:extLst>
          </p:cNvPr>
          <p:cNvSpPr txBox="1"/>
          <p:nvPr/>
        </p:nvSpPr>
        <p:spPr>
          <a:xfrm>
            <a:off x="1511493" y="1524000"/>
            <a:ext cx="960120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"/>
            <a:r>
              <a:rPr kumimoji="1" lang="ja-JP" altLang="en-US" sz="1400" dirty="0">
                <a:latin typeface="Meiryo UI" charset="0"/>
                <a:ea typeface="Meiryo UI" charset="0"/>
              </a:rPr>
              <a:t>例えば、都市テーブルと天気テーブルがあったとする。</a:t>
            </a:r>
            <a:endParaRPr kumimoji="1" lang="en-US" altLang="ja-JP" sz="1400" dirty="0">
              <a:latin typeface="Meiryo UI" charset="0"/>
              <a:ea typeface="Meiryo UI" charset="0"/>
            </a:endParaRPr>
          </a:p>
          <a:p>
            <a:pPr marL="45720"/>
            <a:r>
              <a:rPr kumimoji="1" lang="ja-JP" altLang="en-US" sz="1400" dirty="0">
                <a:latin typeface="Meiryo UI" charset="0"/>
                <a:ea typeface="Meiryo UI" charset="0"/>
              </a:rPr>
              <a:t>そして</a:t>
            </a:r>
            <a:r>
              <a:rPr kumimoji="1" lang="en-US" altLang="ja-JP" sz="1400" dirty="0">
                <a:latin typeface="Meiryo UI" charset="0"/>
                <a:ea typeface="Meiryo UI" charset="0"/>
              </a:rPr>
              <a:t>cities</a:t>
            </a:r>
            <a:r>
              <a:rPr kumimoji="1" lang="ja-JP" altLang="en-US" sz="1400" dirty="0">
                <a:latin typeface="Meiryo UI" charset="0"/>
                <a:ea typeface="Meiryo UI" charset="0"/>
              </a:rPr>
              <a:t>テーブルに一致する項目がない行は絶対に</a:t>
            </a:r>
            <a:r>
              <a:rPr kumimoji="1" lang="en-US" altLang="ja-JP" sz="1400" dirty="0">
                <a:latin typeface="Meiryo UI" charset="0"/>
                <a:ea typeface="Meiryo UI" charset="0"/>
              </a:rPr>
              <a:t>weather</a:t>
            </a:r>
            <a:r>
              <a:rPr kumimoji="1" lang="ja-JP" altLang="en-US" sz="1400" dirty="0">
                <a:latin typeface="Meiryo UI" charset="0"/>
                <a:ea typeface="Meiryo UI" charset="0"/>
              </a:rPr>
              <a:t>テーブルに挿入できなくしたいとします。</a:t>
            </a:r>
            <a:br>
              <a:rPr kumimoji="1" lang="en-US" altLang="ja-JP" sz="1400" dirty="0">
                <a:latin typeface="Meiryo UI" charset="0"/>
                <a:ea typeface="Meiryo UI" charset="0"/>
              </a:rPr>
            </a:br>
            <a:r>
              <a:rPr kumimoji="1" lang="ja-JP" altLang="en-US" sz="1400" dirty="0">
                <a:latin typeface="Meiryo UI" charset="0"/>
                <a:ea typeface="Meiryo UI" charset="0"/>
              </a:rPr>
              <a:t>これをデータの参照整合性の保全と呼びます。</a:t>
            </a:r>
            <a:endParaRPr kumimoji="1" lang="en-US" altLang="ja-JP" sz="1400" dirty="0">
              <a:latin typeface="Meiryo UI" charset="0"/>
              <a:ea typeface="Meiryo UI" charset="0"/>
            </a:endParaRPr>
          </a:p>
          <a:p>
            <a:pPr marL="45720"/>
            <a:endParaRPr kumimoji="1" lang="en-US" altLang="ja-JP" sz="1400" dirty="0">
              <a:latin typeface="Meiryo UI" charset="0"/>
              <a:ea typeface="Meiryo UI" charset="0"/>
            </a:endParaRPr>
          </a:p>
          <a:p>
            <a:pPr marL="45720"/>
            <a:r>
              <a:rPr kumimoji="1" lang="ja-JP" altLang="en-US" sz="1400" dirty="0">
                <a:latin typeface="Meiryo UI" charset="0"/>
                <a:ea typeface="Meiryo UI" charset="0"/>
              </a:rPr>
              <a:t>下記は、天気テーブルから、都市テーブルの国と都市の名前（複合主キー）を参照してる。</a:t>
            </a:r>
            <a:endParaRPr kumimoji="1" lang="en-US" altLang="ja-JP" sz="1400" dirty="0">
              <a:latin typeface="Meiryo UI" charset="0"/>
              <a:ea typeface="Meiryo UI" charset="0"/>
            </a:endParaRPr>
          </a:p>
          <a:p>
            <a:pPr marL="45720"/>
            <a:endParaRPr lang="en-US" altLang="ja-JP" sz="1400" dirty="0">
              <a:latin typeface="Meiryo UI" charset="0"/>
              <a:ea typeface="Meiryo UI" charset="0"/>
            </a:endParaRP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CREATE TABLE CITIES (</a:t>
            </a: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	COUNTRY VARCHAR(80),</a:t>
            </a: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	CITY VARCHAR(80),</a:t>
            </a: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	LOCATION POINT,</a:t>
            </a: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	PRIMARY KEY (COUNTRY, CITY)</a:t>
            </a: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);</a:t>
            </a:r>
          </a:p>
          <a:p>
            <a:pPr marL="45720" indent="0">
              <a:buFont typeface="Arial" pitchFamily="34" charset="0"/>
              <a:buNone/>
            </a:pPr>
            <a:endParaRPr lang="en-US" altLang="ja-JP" sz="1400" dirty="0">
              <a:latin typeface="Meiryo UI" charset="0"/>
              <a:ea typeface="Meiryo UI" charset="0"/>
            </a:endParaRP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CREATE TABLE WEATHER (</a:t>
            </a: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	COUNTRY VARCHAR(80),</a:t>
            </a: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	CITY VARCHAR(80),</a:t>
            </a: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	TEMP_LO INT,</a:t>
            </a: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	TEMP_HI INT,</a:t>
            </a: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	PRCP REAL,</a:t>
            </a: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	DATE </a:t>
            </a:r>
            <a:r>
              <a:rPr lang="en-US" altLang="ja-JP" sz="1400" dirty="0" err="1">
                <a:latin typeface="Meiryo UI" charset="0"/>
                <a:ea typeface="Meiryo UI" charset="0"/>
              </a:rPr>
              <a:t>DATE</a:t>
            </a:r>
            <a:r>
              <a:rPr lang="en-US" altLang="ja-JP" sz="1400" dirty="0">
                <a:latin typeface="Meiryo UI" charset="0"/>
                <a:ea typeface="Meiryo UI" charset="0"/>
              </a:rPr>
              <a:t>,</a:t>
            </a: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	</a:t>
            </a:r>
            <a:r>
              <a:rPr lang="en-US" altLang="ja-JP" sz="1400" dirty="0">
                <a:solidFill>
                  <a:srgbClr val="FF0000"/>
                </a:solidFill>
                <a:latin typeface="Meiryo UI" charset="0"/>
                <a:ea typeface="Meiryo UI" charset="0"/>
              </a:rPr>
              <a:t>FOREIGN KEY (COUNTRY, CITY) REFERENCES CITIES (COUNTRY, CITY) </a:t>
            </a:r>
            <a:r>
              <a:rPr lang="ja-JP" altLang="en-US" sz="1400" dirty="0">
                <a:solidFill>
                  <a:srgbClr val="FF0000"/>
                </a:solidFill>
                <a:latin typeface="Meiryo UI" charset="0"/>
                <a:ea typeface="Meiryo UI" charset="0"/>
              </a:rPr>
              <a:t>←複合外部キー制約</a:t>
            </a:r>
            <a:endParaRPr lang="en-US" altLang="ja-JP" sz="1400" dirty="0">
              <a:solidFill>
                <a:srgbClr val="FF0000"/>
              </a:solidFill>
              <a:latin typeface="Meiryo UI" charset="0"/>
              <a:ea typeface="Meiryo UI" charset="0"/>
            </a:endParaRPr>
          </a:p>
          <a:p>
            <a:pPr marL="45720" indent="0">
              <a:buFont typeface="Arial" pitchFamily="34" charset="0"/>
              <a:buNone/>
            </a:pPr>
            <a:r>
              <a:rPr lang="en-US" altLang="ja-JP" sz="1400" dirty="0">
                <a:latin typeface="Meiryo UI" charset="0"/>
                <a:ea typeface="Meiryo UI" charset="0"/>
              </a:rPr>
              <a:t>);</a:t>
            </a:r>
          </a:p>
          <a:p>
            <a:pPr marL="45720" indent="0">
              <a:buFont typeface="Arial" pitchFamily="34" charset="0"/>
              <a:buNone/>
            </a:pPr>
            <a:endParaRPr kumimoji="1" lang="en-US" altLang="ja-JP" sz="1400" dirty="0">
              <a:latin typeface="Meiryo UI" charset="0"/>
              <a:ea typeface="Meiryo UI" charset="0"/>
            </a:endParaRPr>
          </a:p>
          <a:p>
            <a:pPr marL="45720" indent="0">
              <a:buFont typeface="Arial" pitchFamily="34" charset="0"/>
              <a:buNone/>
            </a:pPr>
            <a:endParaRPr kumimoji="1" lang="en-US" altLang="ja-JP" sz="1100" dirty="0"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16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1065213" y="643856"/>
            <a:ext cx="8686800" cy="5674394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>
                <a:latin typeface="Meiryo UI" charset="0"/>
                <a:ea typeface="Meiryo UI" charset="0"/>
              </a:rPr>
              <a:t>【</a:t>
            </a:r>
            <a:r>
              <a:rPr kumimoji="1" lang="ja-JP" altLang="en-US" b="1">
                <a:latin typeface="Meiryo UI" charset="0"/>
                <a:ea typeface="Meiryo UI" charset="0"/>
              </a:rPr>
              <a:t>参考</a:t>
            </a:r>
            <a:r>
              <a:rPr kumimoji="1" lang="en-US" altLang="ja-JP" b="1">
                <a:latin typeface="Meiryo UI" charset="0"/>
                <a:ea typeface="Meiryo UI" charset="0"/>
              </a:rPr>
              <a:t>】SQL</a:t>
            </a:r>
            <a:r>
              <a:rPr kumimoji="1" lang="ja-JP" altLang="en-US" b="1">
                <a:latin typeface="Meiryo UI" charset="0"/>
                <a:ea typeface="Meiryo UI" charset="0"/>
              </a:rPr>
              <a:t>の分類</a:t>
            </a: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・</a:t>
            </a:r>
            <a:r>
              <a:rPr kumimoji="1" lang="en-US" altLang="ja-JP">
                <a:latin typeface="Meiryo UI" charset="0"/>
                <a:ea typeface="Meiryo UI" charset="0"/>
              </a:rPr>
              <a:t>SQL</a:t>
            </a:r>
            <a:r>
              <a:rPr kumimoji="1" lang="ja-JP" altLang="en-US">
                <a:latin typeface="Meiryo UI" charset="0"/>
                <a:ea typeface="Meiryo UI" charset="0"/>
              </a:rPr>
              <a:t>は以下の役割に応じて分類されている。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en-US" altLang="ja-JP">
                <a:latin typeface="Meiryo UI" charset="0"/>
                <a:ea typeface="Meiryo UI" charset="0"/>
              </a:rPr>
              <a:t>(1)</a:t>
            </a:r>
            <a:r>
              <a:rPr kumimoji="1" lang="ja-JP" altLang="en-US">
                <a:latin typeface="Meiryo UI" charset="0"/>
                <a:ea typeface="Meiryo UI" charset="0"/>
              </a:rPr>
              <a:t>表のデータを参照したり更新するための言語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「データ操作言語</a:t>
            </a:r>
            <a:r>
              <a:rPr kumimoji="1" lang="en-US" altLang="ja-JP">
                <a:latin typeface="Meiryo UI" charset="0"/>
                <a:ea typeface="Meiryo UI" charset="0"/>
              </a:rPr>
              <a:t>(DML</a:t>
            </a:r>
            <a:r>
              <a:rPr kumimoji="1" lang="ja-JP" altLang="en-US">
                <a:latin typeface="Meiryo UI" charset="0"/>
                <a:ea typeface="Meiryo UI" charset="0"/>
              </a:rPr>
              <a:t>：</a:t>
            </a:r>
            <a:r>
              <a:rPr kumimoji="1" lang="en-US" altLang="ja-JP">
                <a:latin typeface="Meiryo UI" charset="0"/>
                <a:ea typeface="Meiryo UI" charset="0"/>
              </a:rPr>
              <a:t>Data Manipulation Language)</a:t>
            </a:r>
            <a:r>
              <a:rPr kumimoji="1" lang="ja-JP" altLang="en-US">
                <a:latin typeface="Meiryo UI" charset="0"/>
                <a:ea typeface="Meiryo UI" charset="0"/>
              </a:rPr>
              <a:t>」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en-US" altLang="ja-JP">
                <a:latin typeface="Meiryo UI" charset="0"/>
                <a:ea typeface="Meiryo UI" charset="0"/>
              </a:rPr>
              <a:t>(2)</a:t>
            </a:r>
            <a:r>
              <a:rPr kumimoji="1" lang="ja-JP" altLang="en-US">
                <a:latin typeface="Meiryo UI" charset="0"/>
                <a:ea typeface="Meiryo UI" charset="0"/>
              </a:rPr>
              <a:t>表を定義し管理するための言語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「データ定義言語</a:t>
            </a:r>
            <a:r>
              <a:rPr kumimoji="1" lang="en-US" altLang="ja-JP">
                <a:latin typeface="Meiryo UI" charset="0"/>
                <a:ea typeface="Meiryo UI" charset="0"/>
              </a:rPr>
              <a:t>(DDL</a:t>
            </a:r>
            <a:r>
              <a:rPr kumimoji="1" lang="ja-JP" altLang="en-US">
                <a:latin typeface="Meiryo UI" charset="0"/>
                <a:ea typeface="Meiryo UI" charset="0"/>
              </a:rPr>
              <a:t>：</a:t>
            </a:r>
            <a:r>
              <a:rPr kumimoji="1" lang="en-US" altLang="ja-JP">
                <a:latin typeface="Meiryo UI" charset="0"/>
                <a:ea typeface="Meiryo UI" charset="0"/>
              </a:rPr>
              <a:t>Data Difinition Language)</a:t>
            </a:r>
            <a:r>
              <a:rPr kumimoji="1" lang="ja-JP" altLang="en-US">
                <a:latin typeface="Meiryo UI" charset="0"/>
                <a:ea typeface="Meiryo UI" charset="0"/>
              </a:rPr>
              <a:t>」</a:t>
            </a:r>
            <a:r>
              <a:rPr kumimoji="1" lang="en-US" altLang="ja-JP">
                <a:latin typeface="Meiryo UI" charset="0"/>
                <a:ea typeface="Meiryo UI" charset="0"/>
              </a:rPr>
              <a:t> </a:t>
            </a:r>
          </a:p>
          <a:p>
            <a:pPr marL="45720" indent="0">
              <a:buNone/>
            </a:pPr>
            <a:endParaRPr kumimoji="1"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en-US" altLang="ja-JP">
                <a:latin typeface="Meiryo UI" charset="0"/>
                <a:ea typeface="Meiryo UI" charset="0"/>
              </a:rPr>
              <a:t>(3)</a:t>
            </a:r>
            <a:r>
              <a:rPr kumimoji="1" lang="ja-JP" altLang="en-US">
                <a:latin typeface="Meiryo UI" charset="0"/>
                <a:ea typeface="Meiryo UI" charset="0"/>
              </a:rPr>
              <a:t>表のデータを制御するための言語 </a:t>
            </a:r>
            <a:endParaRPr kumimoji="1"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「データ制御言語</a:t>
            </a:r>
            <a:r>
              <a:rPr kumimoji="1" lang="en-US" altLang="ja-JP">
                <a:latin typeface="Meiryo UI" charset="0"/>
                <a:ea typeface="Meiryo UI" charset="0"/>
              </a:rPr>
              <a:t>(DCL</a:t>
            </a:r>
            <a:r>
              <a:rPr kumimoji="1" lang="ja-JP" altLang="en-US">
                <a:latin typeface="Meiryo UI" charset="0"/>
                <a:ea typeface="Meiryo UI" charset="0"/>
              </a:rPr>
              <a:t>：</a:t>
            </a:r>
            <a:r>
              <a:rPr kumimoji="1" lang="en-US" altLang="ja-JP">
                <a:latin typeface="Meiryo UI" charset="0"/>
                <a:ea typeface="Meiryo UI" charset="0"/>
              </a:rPr>
              <a:t>Data Control Language)</a:t>
            </a:r>
            <a:r>
              <a:rPr kumimoji="1" lang="ja-JP" altLang="en-US">
                <a:latin typeface="Meiryo UI" charset="0"/>
                <a:ea typeface="Meiryo UI" charset="0"/>
              </a:rPr>
              <a:t>」</a:t>
            </a:r>
            <a:r>
              <a:rPr kumimoji="1" lang="en-US" altLang="ja-JP">
                <a:latin typeface="Meiryo UI" charset="0"/>
                <a:ea typeface="Meiryo UI" charset="0"/>
              </a:rPr>
              <a:t> </a:t>
            </a:r>
            <a:endParaRPr kumimoji="1" lang="ja-JP"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21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</TotalTime>
  <Words>849</Words>
  <Application>Microsoft Office PowerPoint</Application>
  <PresentationFormat>ユーザー設定</PresentationFormat>
  <Paragraphs>141</Paragraphs>
  <Slides>6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Meiryo UI</vt:lpstr>
      <vt:lpstr>ＭＳ Ｐゴシック</vt:lpstr>
      <vt:lpstr>ＭＳ ゴシック</vt:lpstr>
      <vt:lpstr>Arial</vt:lpstr>
      <vt:lpstr>Franklin Gothic Medium</vt:lpstr>
      <vt:lpstr>コントラストにより注目を集めるビジネス用プレゼンテーション (16x9)</vt:lpstr>
      <vt:lpstr>PowerPoint プレゼンテーション</vt:lpstr>
      <vt:lpstr>PowerPoint プレゼンテーション</vt:lpstr>
      <vt:lpstr>【列の属性(汎用データ型)】  PostgreSQLにはユーザが使用可能な豊富なデータ型が始めから備わっています。  SERIAL型は、PostgreSQLでよく使うシーケンスを自動設定してくれる型です。 シーケンスとはINSERTで値を入れなくとも、自動で採番される列で、CREATE SEQUENCE文で作成することができます。シーケンスは自動で1から採番され、＋1ずつされます。また範囲は、1~2,147,483,647の間になります。 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administrator</cp:lastModifiedBy>
  <cp:revision>117</cp:revision>
  <dcterms:created xsi:type="dcterms:W3CDTF">2013-04-05T19:55:11Z</dcterms:created>
  <dcterms:modified xsi:type="dcterms:W3CDTF">2025-08-28T06:27:27Z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