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83" r:id="rId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8/19/2025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2025/8/19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9291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8/19/2025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8/19/2025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8/19/2025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723133"/>
            <a:ext cx="9199562" cy="543636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②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INSERT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文</a:t>
            </a:r>
            <a:r>
              <a:rPr kumimoji="1" lang="ja-JP" altLang="en-US" b="1" dirty="0">
                <a:latin typeface="MS PGothic" charset="0"/>
                <a:ea typeface="MS PGothic" charset="0"/>
              </a:rPr>
              <a:t> 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テーブルに新しいデータ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行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を追加するには、「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INSERT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文</a:t>
            </a:r>
            <a:r>
              <a:rPr kumimoji="1" lang="ja-JP" altLang="en-US" dirty="0">
                <a:latin typeface="Meiryo UI" charset="0"/>
                <a:ea typeface="Meiryo UI" charset="0"/>
              </a:rPr>
              <a:t>」を使用する。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(a) INSERT INTO 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　・データ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行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を追加したいテーブルおよび列名を指定する。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列名は、省略可能。ただし、</a:t>
            </a:r>
            <a:r>
              <a:rPr kumimoji="1" lang="en-US" altLang="ja-JP" dirty="0">
                <a:latin typeface="Meiryo UI" charset="0"/>
                <a:ea typeface="Meiryo UI" charset="0"/>
              </a:rPr>
              <a:t>VALUES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句には全列の値を指定する必要がある。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 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(b) VALUES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　・追加するデータを指定する。</a:t>
            </a:r>
            <a:r>
              <a:rPr kumimoji="1" lang="en-US" altLang="ja-JP" dirty="0">
                <a:latin typeface="Meiryo UI" charset="0"/>
                <a:ea typeface="Meiryo UI" charset="0"/>
              </a:rPr>
              <a:t>(INSERT INTO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句の列に対応する値を指定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S PGothic" charset="0"/>
                <a:ea typeface="MS PGothic" charset="0"/>
              </a:rPr>
              <a:t> </a:t>
            </a:r>
            <a:endParaRPr kumimoji="1" lang="ja-JP" dirty="0">
              <a:latin typeface="MS PGothic" charset="0"/>
              <a:ea typeface="MS PGothic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370012" y="1858959"/>
            <a:ext cx="9226621" cy="1384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INSERT INTO </a:t>
            </a:r>
            <a:r>
              <a:rPr lang="ja-JP" altLang="en-US" sz="2400" dirty="0">
                <a:latin typeface="Meiryo UI"/>
                <a:ea typeface="Meiryo UI"/>
              </a:rPr>
              <a:t>テーブル名 </a:t>
            </a:r>
            <a:r>
              <a:rPr lang="en-US" altLang="ja-JP" sz="2400" dirty="0">
                <a:latin typeface="Meiryo UI"/>
                <a:ea typeface="Meiryo UI"/>
              </a:rPr>
              <a:t>(</a:t>
            </a:r>
            <a:r>
              <a:rPr lang="ja-JP" altLang="en-US" sz="2400" dirty="0">
                <a:latin typeface="Meiryo UI"/>
                <a:ea typeface="Meiryo UI"/>
              </a:rPr>
              <a:t>列名</a:t>
            </a:r>
            <a:r>
              <a:rPr lang="en-US" altLang="ja-JP" sz="2400" dirty="0">
                <a:latin typeface="Meiryo UI"/>
                <a:ea typeface="Meiryo UI"/>
              </a:rPr>
              <a:t>, </a:t>
            </a:r>
            <a:r>
              <a:rPr lang="ja-JP" altLang="en-US" sz="2400" dirty="0">
                <a:latin typeface="Meiryo UI"/>
                <a:ea typeface="Meiryo UI"/>
              </a:rPr>
              <a:t>列名</a:t>
            </a:r>
            <a:r>
              <a:rPr lang="en-US" altLang="ja-JP" sz="2400" dirty="0">
                <a:latin typeface="Meiryo UI"/>
                <a:ea typeface="Meiryo UI"/>
              </a:rPr>
              <a:t>) 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VALUES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dirty="0">
                <a:solidFill>
                  <a:srgbClr val="000000"/>
                </a:solidFill>
                <a:latin typeface="Meiryo UI"/>
                <a:ea typeface="Meiryo UI"/>
              </a:rPr>
              <a:t>('001', 'ABC ')</a:t>
            </a:r>
            <a:endParaRPr lang="ja-JP" altLang="en-US" sz="2400" dirty="0">
              <a:latin typeface="Meiryo UI"/>
              <a:ea typeface="Meiryo UI"/>
            </a:endParaRPr>
          </a:p>
          <a:p>
            <a:r>
              <a:rPr lang="en-US" altLang="ja-JP" dirty="0">
                <a:latin typeface="Meiryo UI"/>
                <a:ea typeface="Meiryo UI"/>
              </a:rPr>
              <a:t>     (</a:t>
            </a:r>
            <a:r>
              <a:rPr lang="ja-JP" altLang="en-US" dirty="0">
                <a:latin typeface="Meiryo UI"/>
                <a:ea typeface="Meiryo UI"/>
              </a:rPr>
              <a:t>ａ</a:t>
            </a:r>
            <a:r>
              <a:rPr lang="en-US" altLang="ja-JP" dirty="0">
                <a:latin typeface="Meiryo UI"/>
                <a:ea typeface="Meiryo UI"/>
              </a:rPr>
              <a:t>)</a:t>
            </a:r>
            <a:r>
              <a:rPr lang="ja-JP" altLang="en-US" dirty="0">
                <a:latin typeface="Meiryo UI"/>
                <a:ea typeface="Meiryo UI"/>
              </a:rPr>
              <a:t>　　　　　　　　　　　　　　　　　</a:t>
            </a:r>
            <a:r>
              <a:rPr lang="en-US" altLang="ja-JP" dirty="0">
                <a:latin typeface="Meiryo UI"/>
                <a:ea typeface="Meiryo UI"/>
              </a:rPr>
              <a:t> </a:t>
            </a:r>
            <a:r>
              <a:rPr lang="ja-JP" altLang="en-US" dirty="0">
                <a:latin typeface="Meiryo UI"/>
                <a:ea typeface="Meiryo UI"/>
              </a:rPr>
              <a:t>　　　　　　　　　　　　　　（ｂ）</a:t>
            </a:r>
          </a:p>
          <a:p>
            <a:r>
              <a:rPr lang="ja-JP" altLang="en-US" sz="2400" dirty="0">
                <a:latin typeface="Meiryo UI"/>
                <a:ea typeface="Meiryo UI"/>
              </a:rPr>
              <a:t>　　</a:t>
            </a:r>
          </a:p>
        </p:txBody>
      </p:sp>
      <p:cxnSp>
        <p:nvCxnSpPr>
          <p:cNvPr id="15" name="直線矢印コネクタ 14"/>
          <p:cNvCxnSpPr/>
          <p:nvPr/>
        </p:nvCxnSpPr>
        <p:spPr>
          <a:xfrm>
            <a:off x="1595486" y="2559184"/>
            <a:ext cx="5263374" cy="10906"/>
          </a:xfrm>
          <a:prstGeom prst="straightConnector1">
            <a:avLst/>
          </a:prstGeom>
          <a:ln w="57150">
            <a:solidFill>
              <a:schemeClr val="accent6"/>
            </a:solidFill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/>
          <p:nvPr/>
        </p:nvCxnSpPr>
        <p:spPr>
          <a:xfrm>
            <a:off x="7086206" y="2573562"/>
            <a:ext cx="3175963" cy="10906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" name="直線矢印コネクタ 2"/>
          <p:cNvCxnSpPr/>
          <p:nvPr/>
        </p:nvCxnSpPr>
        <p:spPr>
          <a:xfrm flipH="1">
            <a:off x="5850075" y="1955335"/>
            <a:ext cx="2024" cy="23539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直線矢印コネクタ 4"/>
          <p:cNvCxnSpPr/>
          <p:nvPr/>
        </p:nvCxnSpPr>
        <p:spPr>
          <a:xfrm flipV="1">
            <a:off x="5860816" y="1973978"/>
            <a:ext cx="2950899" cy="2263"/>
          </a:xfrm>
          <a:prstGeom prst="straightConnector1">
            <a:avLst/>
          </a:prstGeom>
          <a:ln>
            <a:solidFill>
              <a:schemeClr val="tx2"/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直線矢印コネクタ 13"/>
          <p:cNvCxnSpPr/>
          <p:nvPr/>
        </p:nvCxnSpPr>
        <p:spPr>
          <a:xfrm flipH="1">
            <a:off x="8796666" y="1998467"/>
            <a:ext cx="2024" cy="23539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直線矢印コネクタ 15"/>
          <p:cNvCxnSpPr/>
          <p:nvPr/>
        </p:nvCxnSpPr>
        <p:spPr>
          <a:xfrm flipH="1">
            <a:off x="9702204" y="2587939"/>
            <a:ext cx="2024" cy="49455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直線矢印コネクタ 18"/>
          <p:cNvCxnSpPr/>
          <p:nvPr/>
        </p:nvCxnSpPr>
        <p:spPr>
          <a:xfrm flipV="1">
            <a:off x="6741240" y="3048014"/>
            <a:ext cx="2950899" cy="2263"/>
          </a:xfrm>
          <a:prstGeom prst="straightConnector1">
            <a:avLst/>
          </a:prstGeom>
          <a:ln>
            <a:solidFill>
              <a:schemeClr val="tx2"/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直線矢印コネクタ 19"/>
          <p:cNvCxnSpPr/>
          <p:nvPr/>
        </p:nvCxnSpPr>
        <p:spPr>
          <a:xfrm flipH="1">
            <a:off x="6726866" y="2544807"/>
            <a:ext cx="2024" cy="494559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98923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124</Words>
  <Application>Microsoft Office PowerPoint</Application>
  <PresentationFormat>ユーザー設定</PresentationFormat>
  <Paragraphs>16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MS PGothic</vt:lpstr>
      <vt:lpstr>Arial</vt:lpstr>
      <vt:lpstr>Franklin Gothic Medium</vt:lpstr>
      <vt:lpstr>コントラストにより注目を集めるビジネス用プレゼンテーション (16x9)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administrator</cp:lastModifiedBy>
  <cp:revision>85</cp:revision>
  <dcterms:created xsi:type="dcterms:W3CDTF">2013-04-05T19:55:11Z</dcterms:created>
  <dcterms:modified xsi:type="dcterms:W3CDTF">2025-08-19T08:55:39Z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