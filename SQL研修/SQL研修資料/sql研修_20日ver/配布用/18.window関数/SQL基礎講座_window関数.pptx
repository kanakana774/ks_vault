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1"/>
  </p:notesMasterIdLst>
  <p:handoutMasterIdLst>
    <p:handoutMasterId r:id="rId12"/>
  </p:handoutMasterIdLst>
  <p:sldIdLst>
    <p:sldId id="294" r:id="rId5"/>
    <p:sldId id="301" r:id="rId6"/>
    <p:sldId id="299" r:id="rId7"/>
    <p:sldId id="297" r:id="rId8"/>
    <p:sldId id="298" r:id="rId9"/>
    <p:sldId id="300" r:id="rId10"/>
  </p:sldIdLst>
  <p:sldSz cx="12188825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8" pos="383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 showGuides="1">
      <p:cViewPr varScale="1">
        <p:scale>
          <a:sx n="82" d="100"/>
          <a:sy n="82" d="100"/>
        </p:scale>
        <p:origin x="691" y="72"/>
      </p:cViewPr>
      <p:guideLst>
        <p:guide orient="horz" pos="2160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63" d="100"/>
          <a:sy n="63" d="100"/>
        </p:scale>
        <p:origin x="2838" y="1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latinLnBrk="0">
              <a:defRPr kumimoji="1" lang="ja-JP" sz="1200"/>
            </a:lvl1pPr>
          </a:lstStyle>
          <a:p>
            <a:endParaRPr kumimoji="1" lang="ja-JP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latinLnBrk="0">
              <a:defRPr kumimoji="1" lang="ja-JP" sz="1200"/>
            </a:lvl1pPr>
          </a:lstStyle>
          <a:p>
            <a:fld id="{24CE221E-83ED-4F6C-BA5F-3F9E6FDB6953}" type="datetimeFigureOut">
              <a:rPr kumimoji="1" lang="en-US" altLang="ja-JP"/>
              <a:t>8/29/2025</a:t>
            </a:fld>
            <a:endParaRPr kumimoji="1" lang="ja-JP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latinLnBrk="0">
              <a:defRPr kumimoji="1" lang="ja-JP" sz="1200"/>
            </a:lvl1pPr>
          </a:lstStyle>
          <a:p>
            <a:endParaRPr kumimoji="1" lang="ja-JP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latinLnBrk="0">
              <a:defRPr kumimoji="1" lang="ja-JP" sz="1200"/>
            </a:lvl1pPr>
          </a:lstStyle>
          <a:p>
            <a:fld id="{CA4CBEF8-5CDE-472B-839B-B8BB0C881006}" type="slidenum">
              <a:rPr kumimoji="1" lang="en-US" altLang="ja-JP"/>
              <a:t>‹#›</a:t>
            </a:fld>
            <a:endParaRPr kumimoji="1" lang="ja-JP"/>
          </a:p>
        </p:txBody>
      </p:sp>
    </p:spTree>
    <p:extLst>
      <p:ext uri="{BB962C8B-B14F-4D97-AF65-F5344CB8AC3E}">
        <p14:creationId xmlns:p14="http://schemas.microsoft.com/office/powerpoint/2010/main" val="426328929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latinLnBrk="0">
              <a:defRPr kumimoji="1" lang="ja-JP" sz="1200"/>
            </a:lvl1pPr>
          </a:lstStyle>
          <a:p>
            <a:endParaRPr kumimoji="1" lang="ja-JP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latinLnBrk="0">
              <a:defRPr kumimoji="1" lang="ja-JP" sz="1200"/>
            </a:lvl1pPr>
          </a:lstStyle>
          <a:p>
            <a:fld id="{97853E5F-CE67-483C-A264-F17AC70E9CA2}" type="datetimeFigureOut">
              <a:t>2025/8/29</a:t>
            </a:fld>
            <a:endParaRPr kumimoji="1" lang="ja-JP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kumimoji="1" lang="ja-JP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/>
              <a:t>マスター テキストのスタイルを編集するには、ここをクリック</a:t>
            </a:r>
          </a:p>
          <a:p>
            <a:pPr lvl="1"/>
            <a:r>
              <a:rPr kumimoji="1" lang="ja-JP"/>
              <a:t>第 2 レベル</a:t>
            </a:r>
          </a:p>
          <a:p>
            <a:pPr lvl="2"/>
            <a:r>
              <a:rPr kumimoji="1" lang="ja-JP"/>
              <a:t>第 3 レベル</a:t>
            </a:r>
          </a:p>
          <a:p>
            <a:pPr lvl="3"/>
            <a:r>
              <a:rPr kumimoji="1" lang="ja-JP"/>
              <a:t>第 4 レベル</a:t>
            </a:r>
          </a:p>
          <a:p>
            <a:pPr lvl="4"/>
            <a:r>
              <a:rPr kumimoji="1" lang="ja-JP"/>
              <a:t>第 5 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latinLnBrk="0">
              <a:defRPr kumimoji="1" lang="ja-JP" sz="1200"/>
            </a:lvl1pPr>
          </a:lstStyle>
          <a:p>
            <a:endParaRPr kumimoji="1" lang="ja-JP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latinLnBrk="0">
              <a:defRPr kumimoji="1" lang="ja-JP" sz="1200"/>
            </a:lvl1pPr>
          </a:lstStyle>
          <a:p>
            <a:fld id="{6BB98AFB-CB0D-4DFE-87B9-B4B0D0DE73CD}" type="slidenum">
              <a:t>‹#›</a:t>
            </a:fld>
            <a:endParaRPr kumimoji="1" lang="ja-JP"/>
          </a:p>
        </p:txBody>
      </p:sp>
    </p:spTree>
    <p:extLst>
      <p:ext uri="{BB962C8B-B14F-4D97-AF65-F5344CB8AC3E}">
        <p14:creationId xmlns:p14="http://schemas.microsoft.com/office/powerpoint/2010/main" val="25128058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lang="ja-JP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lang="ja-JP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lang="ja-JP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lang="ja-JP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lang="ja-JP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lang="ja-JP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lang="ja-JP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lang="ja-JP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lang="ja-JP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B98AFB-CB0D-4DFE-87B9-B4B0D0DE73CD}" type="slidenum">
              <a:rPr lang="en-US" altLang="ja-JP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324125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B98AFB-CB0D-4DFE-87B9-B4B0D0DE73CD}" type="slidenum">
              <a:rPr lang="en-US" altLang="ja-JP"/>
              <a:t>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521711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1065214" y="533400"/>
            <a:ext cx="5029200" cy="2514601"/>
          </a:xfrm>
        </p:spPr>
        <p:txBody>
          <a:bodyPr>
            <a:normAutofit/>
          </a:bodyPr>
          <a:lstStyle>
            <a:lvl1pPr latinLnBrk="0">
              <a:defRPr kumimoji="1" lang="ja-JP" sz="540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</a:lstStyle>
          <a:p>
            <a:r>
              <a:rPr kumimoji="1" lang="ja-JP"/>
              <a:t>マスター タイトルのスタイルを編集するには、ここをクリック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065212" y="3403600"/>
            <a:ext cx="5029201" cy="1397000"/>
          </a:xfrm>
        </p:spPr>
        <p:txBody>
          <a:bodyPr>
            <a:normAutofit/>
          </a:bodyPr>
          <a:lstStyle>
            <a:lvl1pPr marL="0" indent="0" algn="l" latinLnBrk="0">
              <a:spcBef>
                <a:spcPts val="600"/>
              </a:spcBef>
              <a:buNone/>
              <a:defRPr kumimoji="1" lang="ja-JP" sz="240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  <a:lvl2pPr marL="457200" indent="0" algn="ctr" latinLnBrk="0">
              <a:buNone/>
              <a:defRPr kumimoji="1" lang="ja-JP"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 latinLnBrk="0">
              <a:buNone/>
              <a:defRPr kumimoji="1" lang="ja-JP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 latinLnBrk="0">
              <a:buNone/>
              <a:defRPr kumimoji="1" lang="ja-JP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 latinLnBrk="0">
              <a:buNone/>
              <a:defRPr kumimoji="1" lang="ja-JP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 latinLnBrk="0">
              <a:buNone/>
              <a:defRPr kumimoji="1" lang="ja-JP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 latinLnBrk="0">
              <a:buNone/>
              <a:defRPr kumimoji="1" lang="ja-JP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 latinLnBrk="0">
              <a:buNone/>
              <a:defRPr kumimoji="1" lang="ja-JP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 latinLnBrk="0">
              <a:buNone/>
              <a:defRPr kumimoji="1" lang="ja-JP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/>
              <a:t>マスター サブタイトルのスタイルを編集するには、ここをクリック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</a:lstStyle>
          <a:p>
            <a:fld id="{3E0FA9E5-6744-4841-888F-9E7CC0C2B7EC}" type="datetimeFigureOut">
              <a:rPr lang="en-US" altLang="ja-JP" smtClean="0"/>
              <a:pPr/>
              <a:t>8/29/2025</a:t>
            </a:fld>
            <a:endParaRPr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</a:lstStyle>
          <a:p>
            <a:endParaRPr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</a:lstStyle>
          <a:p>
            <a:fld id="{AAEAE4A8-A6E5-453E-B946-FB774B73F48C}" type="slidenum">
              <a:rPr lang="en-US" altLang="ja-JP" smtClean="0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6647520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</a:lstStyle>
          <a:p>
            <a:r>
              <a:rPr kumimoji="1" lang="ja-JP" dirty="0"/>
              <a:t>マスター タイトルのスタイルを編集するには、ここをクリック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  <a:lvl2pPr>
              <a:defRPr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2pPr>
            <a:lvl3pPr>
              <a:defRPr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3pPr>
            <a:lvl4pPr>
              <a:defRPr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4pPr>
            <a:lvl5pPr>
              <a:defRPr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5pPr>
          </a:lstStyle>
          <a:p>
            <a:pPr lvl="0"/>
            <a:r>
              <a:rPr kumimoji="1" lang="ja-JP" dirty="0"/>
              <a:t>マスター テキストのスタイルを編集するには、ここをクリック</a:t>
            </a:r>
          </a:p>
          <a:p>
            <a:pPr lvl="1"/>
            <a:r>
              <a:rPr kumimoji="1" lang="ja-JP" dirty="0"/>
              <a:t>第 2 レベル</a:t>
            </a:r>
          </a:p>
          <a:p>
            <a:pPr lvl="2"/>
            <a:r>
              <a:rPr kumimoji="1" lang="ja-JP" dirty="0"/>
              <a:t>第 3 レベル</a:t>
            </a:r>
          </a:p>
          <a:p>
            <a:pPr lvl="3"/>
            <a:r>
              <a:rPr kumimoji="1" lang="ja-JP" dirty="0"/>
              <a:t>第 4 レベル</a:t>
            </a:r>
          </a:p>
          <a:p>
            <a:pPr lvl="4"/>
            <a:r>
              <a:rPr kumimoji="1" lang="ja-JP" dirty="0"/>
              <a:t>第 5 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</a:lstStyle>
          <a:p>
            <a:fld id="{3E0FA9E5-6744-4841-888F-9E7CC0C2B7EC}" type="datetimeFigureOut">
              <a:rPr lang="en-US" altLang="ja-JP" smtClean="0"/>
              <a:pPr/>
              <a:t>8/29/2025</a:t>
            </a:fld>
            <a:endParaRPr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</a:lstStyle>
          <a:p>
            <a:endParaRPr lang="ja-JP" altLang="en-US" dirty="0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</a:lstStyle>
          <a:p>
            <a:fld id="{AAEAE4A8-A6E5-453E-B946-FB774B73F48C}" type="slidenum">
              <a:rPr lang="en-US" altLang="ja-JP" smtClean="0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4291533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065214" y="533400"/>
            <a:ext cx="8686800" cy="2286000"/>
          </a:xfrm>
        </p:spPr>
        <p:txBody>
          <a:bodyPr anchor="b">
            <a:normAutofit/>
          </a:bodyPr>
          <a:lstStyle>
            <a:lvl1pPr algn="l" latinLnBrk="0">
              <a:defRPr kumimoji="1" lang="ja-JP" sz="5400" b="1" cap="none" baseline="0"/>
            </a:lvl1pPr>
          </a:lstStyle>
          <a:p>
            <a:r>
              <a:rPr kumimoji="1" lang="ja-JP" dirty="0"/>
              <a:t>マスター タイトルのスタイルを編集するには、ここをクリック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1065214" y="3124200"/>
            <a:ext cx="8686800" cy="1371600"/>
          </a:xfrm>
        </p:spPr>
        <p:txBody>
          <a:bodyPr anchor="t">
            <a:normAutofit/>
          </a:bodyPr>
          <a:lstStyle>
            <a:lvl1pPr marL="0" indent="0" latinLnBrk="0">
              <a:spcBef>
                <a:spcPts val="600"/>
              </a:spcBef>
              <a:buNone/>
              <a:defRPr kumimoji="1" lang="ja-JP"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latinLnBrk="0">
              <a:buNone/>
              <a:defRPr kumimoji="1" lang="ja-JP"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 latinLnBrk="0">
              <a:buNone/>
              <a:defRPr kumimoji="1" lang="ja-JP"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latinLnBrk="0">
              <a:buNone/>
              <a:defRPr kumimoji="1" lang="ja-JP"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latinLnBrk="0">
              <a:buNone/>
              <a:defRPr kumimoji="1" lang="ja-JP"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latinLnBrk="0">
              <a:buNone/>
              <a:defRPr kumimoji="1" lang="ja-JP"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latinLnBrk="0">
              <a:buNone/>
              <a:defRPr kumimoji="1" lang="ja-JP"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latinLnBrk="0">
              <a:buNone/>
              <a:defRPr kumimoji="1" lang="ja-JP"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latinLnBrk="0">
              <a:buNone/>
              <a:defRPr kumimoji="1" lang="ja-JP"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dirty="0"/>
              <a:t>マスター テキストのスタイルを編集するには、ここをクリック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FA9E5-6744-4841-888F-9E7CC0C2B7EC}" type="datetimeFigureOut">
              <a:t>2025/8/29</a:t>
            </a:fld>
            <a:endParaRPr kumimoji="1" lang="ja-JP" dirty="0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dirty="0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t>‹#›</a:t>
            </a:fld>
            <a:endParaRPr kumimoji="1" lang="ja-JP"/>
          </a:p>
        </p:txBody>
      </p:sp>
    </p:spTree>
    <p:extLst>
      <p:ext uri="{BB962C8B-B14F-4D97-AF65-F5344CB8AC3E}">
        <p14:creationId xmlns:p14="http://schemas.microsoft.com/office/powerpoint/2010/main" val="37013312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dirty="0"/>
              <a:t>マスター タイトルのスタイルを編集するには、ここをクリック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1065212" y="1828800"/>
            <a:ext cx="4251960" cy="4191000"/>
          </a:xfrm>
        </p:spPr>
        <p:txBody>
          <a:bodyPr>
            <a:normAutofit/>
          </a:bodyPr>
          <a:lstStyle>
            <a:lvl1pPr latinLnBrk="0">
              <a:defRPr kumimoji="1" lang="ja-JP" sz="2000"/>
            </a:lvl1pPr>
            <a:lvl2pPr latinLnBrk="0">
              <a:defRPr kumimoji="1" lang="ja-JP" sz="1800"/>
            </a:lvl2pPr>
            <a:lvl3pPr latinLnBrk="0">
              <a:defRPr kumimoji="1" lang="ja-JP" sz="1600"/>
            </a:lvl3pPr>
            <a:lvl4pPr latinLnBrk="0">
              <a:defRPr kumimoji="1" lang="ja-JP" sz="1400"/>
            </a:lvl4pPr>
            <a:lvl5pPr latinLnBrk="0">
              <a:defRPr kumimoji="1" lang="ja-JP" sz="1400"/>
            </a:lvl5pPr>
            <a:lvl6pPr latinLnBrk="0">
              <a:defRPr kumimoji="1" lang="ja-JP" sz="1400"/>
            </a:lvl6pPr>
            <a:lvl7pPr latinLnBrk="0">
              <a:defRPr kumimoji="1" lang="ja-JP" sz="1400"/>
            </a:lvl7pPr>
            <a:lvl8pPr latinLnBrk="0">
              <a:defRPr kumimoji="1" lang="ja-JP" sz="1400"/>
            </a:lvl8pPr>
            <a:lvl9pPr latinLnBrk="0">
              <a:defRPr kumimoji="1" lang="ja-JP" sz="1400"/>
            </a:lvl9pPr>
          </a:lstStyle>
          <a:p>
            <a:pPr lvl="0"/>
            <a:r>
              <a:rPr kumimoji="1" lang="ja-JP" dirty="0"/>
              <a:t>マスター テキストのスタイルを編集するには、ここをクリック</a:t>
            </a:r>
          </a:p>
          <a:p>
            <a:pPr lvl="1"/>
            <a:r>
              <a:rPr kumimoji="1" lang="ja-JP" dirty="0"/>
              <a:t>第 2 レベル</a:t>
            </a:r>
          </a:p>
          <a:p>
            <a:pPr lvl="2"/>
            <a:r>
              <a:rPr kumimoji="1" lang="ja-JP" dirty="0"/>
              <a:t>第 3 レベル</a:t>
            </a:r>
          </a:p>
          <a:p>
            <a:pPr lvl="3"/>
            <a:r>
              <a:rPr kumimoji="1" lang="ja-JP" dirty="0"/>
              <a:t>第 4 レベル</a:t>
            </a:r>
          </a:p>
          <a:p>
            <a:pPr lvl="4"/>
            <a:r>
              <a:rPr kumimoji="1" lang="ja-JP" dirty="0"/>
              <a:t>第 5 レベル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5464598" y="1828800"/>
            <a:ext cx="4251960" cy="4191000"/>
          </a:xfrm>
        </p:spPr>
        <p:txBody>
          <a:bodyPr>
            <a:normAutofit/>
          </a:bodyPr>
          <a:lstStyle>
            <a:lvl1pPr latinLnBrk="0">
              <a:defRPr kumimoji="1" lang="ja-JP" sz="2000"/>
            </a:lvl1pPr>
            <a:lvl2pPr latinLnBrk="0">
              <a:defRPr kumimoji="1" lang="ja-JP" sz="1800"/>
            </a:lvl2pPr>
            <a:lvl3pPr latinLnBrk="0">
              <a:defRPr kumimoji="1" lang="ja-JP" sz="1600"/>
            </a:lvl3pPr>
            <a:lvl4pPr latinLnBrk="0">
              <a:defRPr kumimoji="1" lang="ja-JP" sz="1400"/>
            </a:lvl4pPr>
            <a:lvl5pPr latinLnBrk="0">
              <a:defRPr kumimoji="1" lang="ja-JP" sz="1400"/>
            </a:lvl5pPr>
            <a:lvl6pPr latinLnBrk="0">
              <a:defRPr kumimoji="1" lang="ja-JP" sz="1400"/>
            </a:lvl6pPr>
            <a:lvl7pPr latinLnBrk="0">
              <a:defRPr kumimoji="1" lang="ja-JP" sz="1400"/>
            </a:lvl7pPr>
            <a:lvl8pPr latinLnBrk="0">
              <a:defRPr kumimoji="1" lang="ja-JP" sz="1400"/>
            </a:lvl8pPr>
            <a:lvl9pPr latinLnBrk="0">
              <a:defRPr kumimoji="1" lang="ja-JP" sz="1400"/>
            </a:lvl9pPr>
          </a:lstStyle>
          <a:p>
            <a:pPr lvl="0"/>
            <a:r>
              <a:rPr kumimoji="1" lang="ja-JP" dirty="0"/>
              <a:t>マスター テキストのスタイルを編集するには、ここをクリック</a:t>
            </a:r>
          </a:p>
          <a:p>
            <a:pPr lvl="1"/>
            <a:r>
              <a:rPr kumimoji="1" lang="ja-JP" dirty="0"/>
              <a:t>第 2 レベル</a:t>
            </a:r>
          </a:p>
          <a:p>
            <a:pPr lvl="2"/>
            <a:r>
              <a:rPr kumimoji="1" lang="ja-JP" dirty="0"/>
              <a:t>第 3 レベル</a:t>
            </a:r>
          </a:p>
          <a:p>
            <a:pPr lvl="3"/>
            <a:r>
              <a:rPr kumimoji="1" lang="ja-JP" dirty="0"/>
              <a:t>第 4 レベル</a:t>
            </a:r>
          </a:p>
          <a:p>
            <a:pPr lvl="4"/>
            <a:r>
              <a:rPr kumimoji="1" lang="ja-JP" dirty="0"/>
              <a:t>第 5 レベル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FA9E5-6744-4841-888F-9E7CC0C2B7EC}" type="datetimeFigureOut">
              <a:t>2025/8/29</a:t>
            </a:fld>
            <a:endParaRPr kumimoji="1" lang="ja-JP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t>‹#›</a:t>
            </a:fld>
            <a:endParaRPr kumimoji="1" lang="ja-JP"/>
          </a:p>
        </p:txBody>
      </p:sp>
    </p:spTree>
    <p:extLst>
      <p:ext uri="{BB962C8B-B14F-4D97-AF65-F5344CB8AC3E}">
        <p14:creationId xmlns:p14="http://schemas.microsoft.com/office/powerpoint/2010/main" val="34137094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latinLnBrk="0">
              <a:defRPr kumimoji="1" lang="ja-JP"/>
            </a:lvl1pPr>
          </a:lstStyle>
          <a:p>
            <a:r>
              <a:rPr kumimoji="1" lang="ja-JP" dirty="0"/>
              <a:t>マスター タイトルのスタイルを編集するには、ここをクリック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1065213" y="1828799"/>
            <a:ext cx="4251960" cy="685801"/>
          </a:xfrm>
        </p:spPr>
        <p:txBody>
          <a:bodyPr anchor="ctr">
            <a:normAutofit/>
          </a:bodyPr>
          <a:lstStyle>
            <a:lvl1pPr marL="0" indent="0" latinLnBrk="0">
              <a:spcBef>
                <a:spcPts val="0"/>
              </a:spcBef>
              <a:buNone/>
              <a:defRPr kumimoji="1" lang="ja-JP" sz="2000" b="0"/>
            </a:lvl1pPr>
            <a:lvl2pPr marL="457200" indent="0" latinLnBrk="0">
              <a:buNone/>
              <a:defRPr kumimoji="1" lang="ja-JP" sz="2000" b="1"/>
            </a:lvl2pPr>
            <a:lvl3pPr marL="914400" indent="0" latinLnBrk="0">
              <a:buNone/>
              <a:defRPr kumimoji="1" lang="ja-JP" sz="1800" b="1"/>
            </a:lvl3pPr>
            <a:lvl4pPr marL="1371600" indent="0" latinLnBrk="0">
              <a:buNone/>
              <a:defRPr kumimoji="1" lang="ja-JP" sz="1600" b="1"/>
            </a:lvl4pPr>
            <a:lvl5pPr marL="1828800" indent="0" latinLnBrk="0">
              <a:buNone/>
              <a:defRPr kumimoji="1" lang="ja-JP" sz="1600" b="1"/>
            </a:lvl5pPr>
            <a:lvl6pPr marL="2286000" indent="0" latinLnBrk="0">
              <a:buNone/>
              <a:defRPr kumimoji="1" lang="ja-JP" sz="1600" b="1"/>
            </a:lvl6pPr>
            <a:lvl7pPr marL="2743200" indent="0" latinLnBrk="0">
              <a:buNone/>
              <a:defRPr kumimoji="1" lang="ja-JP" sz="1600" b="1"/>
            </a:lvl7pPr>
            <a:lvl8pPr marL="3200400" indent="0" latinLnBrk="0">
              <a:buNone/>
              <a:defRPr kumimoji="1" lang="ja-JP" sz="1600" b="1"/>
            </a:lvl8pPr>
            <a:lvl9pPr marL="3657600" indent="0" latinLnBrk="0">
              <a:buNone/>
              <a:defRPr kumimoji="1" lang="ja-JP" sz="1600" b="1"/>
            </a:lvl9pPr>
          </a:lstStyle>
          <a:p>
            <a:pPr lvl="0"/>
            <a:r>
              <a:rPr kumimoji="1" lang="ja-JP" dirty="0"/>
              <a:t>マスター テキストのスタイルを編集するには、ここをクリック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1065213" y="2590800"/>
            <a:ext cx="4251960" cy="3429000"/>
          </a:xfrm>
        </p:spPr>
        <p:txBody>
          <a:bodyPr>
            <a:normAutofit/>
          </a:bodyPr>
          <a:lstStyle>
            <a:lvl1pPr latinLnBrk="0">
              <a:defRPr kumimoji="1" lang="ja-JP" sz="2000"/>
            </a:lvl1pPr>
            <a:lvl2pPr latinLnBrk="0">
              <a:defRPr kumimoji="1" lang="ja-JP" sz="1800"/>
            </a:lvl2pPr>
            <a:lvl3pPr latinLnBrk="0">
              <a:defRPr kumimoji="1" lang="ja-JP" sz="1600"/>
            </a:lvl3pPr>
            <a:lvl4pPr latinLnBrk="0">
              <a:defRPr kumimoji="1" lang="ja-JP" sz="1400"/>
            </a:lvl4pPr>
            <a:lvl5pPr latinLnBrk="0">
              <a:defRPr kumimoji="1" lang="ja-JP" sz="1400"/>
            </a:lvl5pPr>
            <a:lvl6pPr latinLnBrk="0">
              <a:defRPr kumimoji="1" lang="ja-JP" sz="1400"/>
            </a:lvl6pPr>
            <a:lvl7pPr latinLnBrk="0">
              <a:defRPr kumimoji="1" lang="ja-JP" sz="1400"/>
            </a:lvl7pPr>
            <a:lvl8pPr latinLnBrk="0">
              <a:defRPr kumimoji="1" lang="ja-JP" sz="1400"/>
            </a:lvl8pPr>
            <a:lvl9pPr latinLnBrk="0">
              <a:defRPr kumimoji="1" lang="ja-JP" sz="1400"/>
            </a:lvl9pPr>
          </a:lstStyle>
          <a:p>
            <a:pPr lvl="0"/>
            <a:r>
              <a:rPr kumimoji="1" lang="ja-JP" dirty="0"/>
              <a:t>マスター テキストのスタイルを編集するには、ここをクリック</a:t>
            </a:r>
          </a:p>
          <a:p>
            <a:pPr lvl="1"/>
            <a:r>
              <a:rPr kumimoji="1" lang="ja-JP" dirty="0"/>
              <a:t>第 2 レベル</a:t>
            </a:r>
          </a:p>
          <a:p>
            <a:pPr lvl="2"/>
            <a:r>
              <a:rPr kumimoji="1" lang="ja-JP" dirty="0"/>
              <a:t>第 3 レベル</a:t>
            </a:r>
          </a:p>
          <a:p>
            <a:pPr lvl="3"/>
            <a:r>
              <a:rPr kumimoji="1" lang="ja-JP" dirty="0"/>
              <a:t>第 4 レベル</a:t>
            </a:r>
          </a:p>
          <a:p>
            <a:pPr lvl="4"/>
            <a:r>
              <a:rPr kumimoji="1" lang="ja-JP" dirty="0"/>
              <a:t>第 5 レベル</a:t>
            </a:r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5500053" y="1828799"/>
            <a:ext cx="4251960" cy="685801"/>
          </a:xfrm>
        </p:spPr>
        <p:txBody>
          <a:bodyPr anchor="ctr">
            <a:normAutofit/>
          </a:bodyPr>
          <a:lstStyle>
            <a:lvl1pPr marL="0" indent="0" latinLnBrk="0">
              <a:spcBef>
                <a:spcPts val="0"/>
              </a:spcBef>
              <a:buNone/>
              <a:defRPr kumimoji="1" lang="ja-JP" sz="2000" b="0"/>
            </a:lvl1pPr>
            <a:lvl2pPr marL="457200" indent="0" latinLnBrk="0">
              <a:buNone/>
              <a:defRPr kumimoji="1" lang="ja-JP" sz="2000" b="1"/>
            </a:lvl2pPr>
            <a:lvl3pPr marL="914400" indent="0" latinLnBrk="0">
              <a:buNone/>
              <a:defRPr kumimoji="1" lang="ja-JP" sz="1800" b="1"/>
            </a:lvl3pPr>
            <a:lvl4pPr marL="1371600" indent="0" latinLnBrk="0">
              <a:buNone/>
              <a:defRPr kumimoji="1" lang="ja-JP" sz="1600" b="1"/>
            </a:lvl4pPr>
            <a:lvl5pPr marL="1828800" indent="0" latinLnBrk="0">
              <a:buNone/>
              <a:defRPr kumimoji="1" lang="ja-JP" sz="1600" b="1"/>
            </a:lvl5pPr>
            <a:lvl6pPr marL="2286000" indent="0" latinLnBrk="0">
              <a:buNone/>
              <a:defRPr kumimoji="1" lang="ja-JP" sz="1600" b="1"/>
            </a:lvl6pPr>
            <a:lvl7pPr marL="2743200" indent="0" latinLnBrk="0">
              <a:buNone/>
              <a:defRPr kumimoji="1" lang="ja-JP" sz="1600" b="1"/>
            </a:lvl7pPr>
            <a:lvl8pPr marL="3200400" indent="0" latinLnBrk="0">
              <a:buNone/>
              <a:defRPr kumimoji="1" lang="ja-JP" sz="1600" b="1"/>
            </a:lvl8pPr>
            <a:lvl9pPr marL="3657600" indent="0" latinLnBrk="0">
              <a:buNone/>
              <a:defRPr kumimoji="1" lang="ja-JP" sz="1600" b="1"/>
            </a:lvl9pPr>
          </a:lstStyle>
          <a:p>
            <a:pPr lvl="0"/>
            <a:r>
              <a:rPr kumimoji="1" lang="ja-JP" dirty="0"/>
              <a:t>マスター テキストのスタイルを編集するには、ここをクリック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5500053" y="2590800"/>
            <a:ext cx="4251960" cy="3429000"/>
          </a:xfrm>
        </p:spPr>
        <p:txBody>
          <a:bodyPr>
            <a:normAutofit/>
          </a:bodyPr>
          <a:lstStyle>
            <a:lvl1pPr latinLnBrk="0">
              <a:defRPr kumimoji="1" lang="ja-JP" sz="2000"/>
            </a:lvl1pPr>
            <a:lvl2pPr latinLnBrk="0">
              <a:defRPr kumimoji="1" lang="ja-JP" sz="1800"/>
            </a:lvl2pPr>
            <a:lvl3pPr latinLnBrk="0">
              <a:defRPr kumimoji="1" lang="ja-JP" sz="1600"/>
            </a:lvl3pPr>
            <a:lvl4pPr latinLnBrk="0">
              <a:defRPr kumimoji="1" lang="ja-JP" sz="1400"/>
            </a:lvl4pPr>
            <a:lvl5pPr latinLnBrk="0">
              <a:defRPr kumimoji="1" lang="ja-JP" sz="1400"/>
            </a:lvl5pPr>
            <a:lvl6pPr latinLnBrk="0">
              <a:defRPr kumimoji="1" lang="ja-JP" sz="1400"/>
            </a:lvl6pPr>
            <a:lvl7pPr latinLnBrk="0">
              <a:defRPr kumimoji="1" lang="ja-JP" sz="1400"/>
            </a:lvl7pPr>
            <a:lvl8pPr latinLnBrk="0">
              <a:defRPr kumimoji="1" lang="ja-JP" sz="1400"/>
            </a:lvl8pPr>
            <a:lvl9pPr latinLnBrk="0">
              <a:defRPr kumimoji="1" lang="ja-JP" sz="1400"/>
            </a:lvl9pPr>
          </a:lstStyle>
          <a:p>
            <a:pPr lvl="0"/>
            <a:r>
              <a:rPr kumimoji="1" lang="ja-JP" dirty="0"/>
              <a:t>マスター テキストのスタイルを編集するには、ここをクリック</a:t>
            </a:r>
          </a:p>
          <a:p>
            <a:pPr lvl="1"/>
            <a:r>
              <a:rPr kumimoji="1" lang="ja-JP" dirty="0"/>
              <a:t>第 2 レベル</a:t>
            </a:r>
          </a:p>
          <a:p>
            <a:pPr lvl="2"/>
            <a:r>
              <a:rPr kumimoji="1" lang="ja-JP" dirty="0"/>
              <a:t>第 3 レベル</a:t>
            </a:r>
          </a:p>
          <a:p>
            <a:pPr lvl="3"/>
            <a:r>
              <a:rPr kumimoji="1" lang="ja-JP" dirty="0"/>
              <a:t>第 4 レベル</a:t>
            </a:r>
          </a:p>
          <a:p>
            <a:pPr lvl="4"/>
            <a:r>
              <a:rPr kumimoji="1" lang="ja-JP" dirty="0"/>
              <a:t>第 5 レベル</a:t>
            </a:r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FA9E5-6744-4841-888F-9E7CC0C2B7EC}" type="datetimeFigureOut">
              <a:t>2025/8/29</a:t>
            </a:fld>
            <a:endParaRPr kumimoji="1" lang="ja-JP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t>‹#›</a:t>
            </a:fld>
            <a:endParaRPr kumimoji="1" lang="ja-JP"/>
          </a:p>
        </p:txBody>
      </p:sp>
    </p:spTree>
    <p:extLst>
      <p:ext uri="{BB962C8B-B14F-4D97-AF65-F5344CB8AC3E}">
        <p14:creationId xmlns:p14="http://schemas.microsoft.com/office/powerpoint/2010/main" val="2000784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dirty="0"/>
              <a:t>マスター タイトルのスタイルを編集するには、ここをクリック</a:t>
            </a:r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FA9E5-6744-4841-888F-9E7CC0C2B7EC}" type="datetimeFigureOut">
              <a:t>2025/8/29</a:t>
            </a:fld>
            <a:endParaRPr kumimoji="1" lang="ja-JP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t>‹#›</a:t>
            </a:fld>
            <a:endParaRPr kumimoji="1" lang="ja-JP"/>
          </a:p>
        </p:txBody>
      </p:sp>
    </p:spTree>
    <p:extLst>
      <p:ext uri="{BB962C8B-B14F-4D97-AF65-F5344CB8AC3E}">
        <p14:creationId xmlns:p14="http://schemas.microsoft.com/office/powerpoint/2010/main" val="9071586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FA9E5-6744-4841-888F-9E7CC0C2B7EC}" type="datetimeFigureOut">
              <a:t>2025/8/29</a:t>
            </a:fld>
            <a:endParaRPr kumimoji="1" lang="ja-JP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t>‹#›</a:t>
            </a:fld>
            <a:endParaRPr kumimoji="1" lang="ja-JP"/>
          </a:p>
        </p:txBody>
      </p:sp>
    </p:spTree>
    <p:extLst>
      <p:ext uri="{BB962C8B-B14F-4D97-AF65-F5344CB8AC3E}">
        <p14:creationId xmlns:p14="http://schemas.microsoft.com/office/powerpoint/2010/main" val="24415315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キャプション付きのコンテンツ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065213" y="533400"/>
            <a:ext cx="4114800" cy="1524000"/>
          </a:xfrm>
        </p:spPr>
        <p:txBody>
          <a:bodyPr anchor="b">
            <a:normAutofit/>
          </a:bodyPr>
          <a:lstStyle>
            <a:lvl1pPr algn="l" latinLnBrk="0">
              <a:defRPr kumimoji="1" lang="ja-JP" sz="3600" b="1"/>
            </a:lvl1pPr>
          </a:lstStyle>
          <a:p>
            <a:r>
              <a:rPr kumimoji="1" lang="ja-JP" dirty="0"/>
              <a:t>マスター タイトルのスタイルを編集するには、ここをクリック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5865813" y="533400"/>
            <a:ext cx="5867400" cy="5486400"/>
          </a:xfrm>
        </p:spPr>
        <p:txBody>
          <a:bodyPr>
            <a:normAutofit/>
          </a:bodyPr>
          <a:lstStyle>
            <a:lvl1pPr latinLnBrk="0">
              <a:defRPr kumimoji="1" lang="ja-JP" sz="2000"/>
            </a:lvl1pPr>
            <a:lvl2pPr latinLnBrk="0">
              <a:defRPr kumimoji="1" lang="ja-JP" sz="1800"/>
            </a:lvl2pPr>
            <a:lvl3pPr latinLnBrk="0">
              <a:defRPr kumimoji="1" lang="ja-JP" sz="1600"/>
            </a:lvl3pPr>
            <a:lvl4pPr latinLnBrk="0">
              <a:defRPr kumimoji="1" lang="ja-JP" sz="1400"/>
            </a:lvl4pPr>
            <a:lvl5pPr latinLnBrk="0">
              <a:defRPr kumimoji="1" lang="ja-JP" sz="1400"/>
            </a:lvl5pPr>
            <a:lvl6pPr latinLnBrk="0">
              <a:defRPr kumimoji="1" lang="ja-JP" sz="1400"/>
            </a:lvl6pPr>
            <a:lvl7pPr latinLnBrk="0">
              <a:defRPr kumimoji="1" lang="ja-JP" sz="1400"/>
            </a:lvl7pPr>
            <a:lvl8pPr latinLnBrk="0">
              <a:defRPr kumimoji="1" lang="ja-JP" sz="1400"/>
            </a:lvl8pPr>
            <a:lvl9pPr latinLnBrk="0">
              <a:defRPr kumimoji="1" lang="ja-JP" sz="1400"/>
            </a:lvl9pPr>
          </a:lstStyle>
          <a:p>
            <a:pPr lvl="0"/>
            <a:r>
              <a:rPr kumimoji="1" lang="ja-JP" dirty="0"/>
              <a:t>マスター テキストのスタイルを編集するには、ここをクリック</a:t>
            </a:r>
          </a:p>
          <a:p>
            <a:pPr lvl="1"/>
            <a:r>
              <a:rPr kumimoji="1" lang="ja-JP" dirty="0"/>
              <a:t>第 2 レベル</a:t>
            </a:r>
          </a:p>
          <a:p>
            <a:pPr lvl="2"/>
            <a:r>
              <a:rPr kumimoji="1" lang="ja-JP" dirty="0"/>
              <a:t>第 3 レベル</a:t>
            </a:r>
          </a:p>
          <a:p>
            <a:pPr lvl="3"/>
            <a:r>
              <a:rPr kumimoji="1" lang="ja-JP" dirty="0"/>
              <a:t>第 4 レベル</a:t>
            </a:r>
          </a:p>
          <a:p>
            <a:pPr lvl="4"/>
            <a:r>
              <a:rPr kumimoji="1" lang="ja-JP" dirty="0"/>
              <a:t>第 5 レベル</a:t>
            </a:r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1065213" y="2209800"/>
            <a:ext cx="4114800" cy="3810000"/>
          </a:xfrm>
        </p:spPr>
        <p:txBody>
          <a:bodyPr>
            <a:normAutofit/>
          </a:bodyPr>
          <a:lstStyle>
            <a:lvl1pPr marL="0" indent="0" latinLnBrk="0">
              <a:lnSpc>
                <a:spcPct val="110000"/>
              </a:lnSpc>
              <a:spcBef>
                <a:spcPts val="600"/>
              </a:spcBef>
              <a:buNone/>
              <a:defRPr kumimoji="1" lang="ja-JP"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latinLnBrk="0">
              <a:buNone/>
              <a:defRPr kumimoji="1" lang="ja-JP" sz="1200"/>
            </a:lvl2pPr>
            <a:lvl3pPr marL="914400" indent="0" latinLnBrk="0">
              <a:buNone/>
              <a:defRPr kumimoji="1" lang="ja-JP" sz="1000"/>
            </a:lvl3pPr>
            <a:lvl4pPr marL="1371600" indent="0" latinLnBrk="0">
              <a:buNone/>
              <a:defRPr kumimoji="1" lang="ja-JP" sz="900"/>
            </a:lvl4pPr>
            <a:lvl5pPr marL="1828800" indent="0" latinLnBrk="0">
              <a:buNone/>
              <a:defRPr kumimoji="1" lang="ja-JP" sz="900"/>
            </a:lvl5pPr>
            <a:lvl6pPr marL="2286000" indent="0" latinLnBrk="0">
              <a:buNone/>
              <a:defRPr kumimoji="1" lang="ja-JP" sz="900"/>
            </a:lvl6pPr>
            <a:lvl7pPr marL="2743200" indent="0" latinLnBrk="0">
              <a:buNone/>
              <a:defRPr kumimoji="1" lang="ja-JP" sz="900"/>
            </a:lvl7pPr>
            <a:lvl8pPr marL="3200400" indent="0" latinLnBrk="0">
              <a:buNone/>
              <a:defRPr kumimoji="1" lang="ja-JP" sz="900"/>
            </a:lvl8pPr>
            <a:lvl9pPr marL="3657600" indent="0" latinLnBrk="0">
              <a:buNone/>
              <a:defRPr kumimoji="1" lang="ja-JP" sz="900"/>
            </a:lvl9pPr>
          </a:lstStyle>
          <a:p>
            <a:pPr lvl="0"/>
            <a:r>
              <a:rPr kumimoji="1" lang="ja-JP" dirty="0"/>
              <a:t>マスター テキストのスタイルを編集するには、ここをクリック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FA9E5-6744-4841-888F-9E7CC0C2B7EC}" type="datetimeFigureOut">
              <a:t>2025/8/29</a:t>
            </a:fld>
            <a:endParaRPr kumimoji="1" lang="ja-JP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t>‹#›</a:t>
            </a:fld>
            <a:endParaRPr kumimoji="1" lang="ja-JP"/>
          </a:p>
        </p:txBody>
      </p:sp>
    </p:spTree>
    <p:extLst>
      <p:ext uri="{BB962C8B-B14F-4D97-AF65-F5344CB8AC3E}">
        <p14:creationId xmlns:p14="http://schemas.microsoft.com/office/powerpoint/2010/main" val="21017111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画像とキャプション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065213" y="533400"/>
            <a:ext cx="4114800" cy="1524000"/>
          </a:xfrm>
        </p:spPr>
        <p:txBody>
          <a:bodyPr anchor="b">
            <a:noAutofit/>
          </a:bodyPr>
          <a:lstStyle>
            <a:lvl1pPr algn="l" latinLnBrk="0">
              <a:defRPr kumimoji="1" lang="ja-JP" sz="3600" b="1"/>
            </a:lvl1pPr>
          </a:lstStyle>
          <a:p>
            <a:r>
              <a:rPr kumimoji="1" lang="ja-JP" dirty="0"/>
              <a:t>マスター タイトルのスタイルを編集するには、ここをクリック</a:t>
            </a:r>
          </a:p>
        </p:txBody>
      </p:sp>
      <p:sp>
        <p:nvSpPr>
          <p:cNvPr id="3" name="画像プレースホルダー 2"/>
          <p:cNvSpPr>
            <a:spLocks noGrp="1"/>
          </p:cNvSpPr>
          <p:nvPr>
            <p:ph type="pic" idx="1"/>
          </p:nvPr>
        </p:nvSpPr>
        <p:spPr>
          <a:xfrm>
            <a:off x="5865812" y="533400"/>
            <a:ext cx="5780173" cy="5791200"/>
          </a:xfrm>
          <a:ln w="50800">
            <a:solidFill>
              <a:schemeClr val="tx1">
                <a:lumMod val="65000"/>
                <a:lumOff val="35000"/>
              </a:schemeClr>
            </a:solidFill>
            <a:miter lim="800000"/>
          </a:ln>
        </p:spPr>
        <p:txBody>
          <a:bodyPr>
            <a:normAutofit/>
          </a:bodyPr>
          <a:lstStyle>
            <a:lvl1pPr marL="0" indent="0" algn="ctr" latinLnBrk="0">
              <a:buNone/>
              <a:defRPr kumimoji="1" lang="ja-JP" sz="2400"/>
            </a:lvl1pPr>
            <a:lvl2pPr marL="457200" indent="0" latinLnBrk="0">
              <a:buNone/>
              <a:defRPr kumimoji="1" lang="ja-JP" sz="2800"/>
            </a:lvl2pPr>
            <a:lvl3pPr marL="914400" indent="0" latinLnBrk="0">
              <a:buNone/>
              <a:defRPr kumimoji="1" lang="ja-JP" sz="2400"/>
            </a:lvl3pPr>
            <a:lvl4pPr marL="1371600" indent="0" latinLnBrk="0">
              <a:buNone/>
              <a:defRPr kumimoji="1" lang="ja-JP" sz="2000"/>
            </a:lvl4pPr>
            <a:lvl5pPr marL="1828800" indent="0" latinLnBrk="0">
              <a:buNone/>
              <a:defRPr kumimoji="1" lang="ja-JP" sz="2000"/>
            </a:lvl5pPr>
            <a:lvl6pPr marL="2286000" indent="0" latinLnBrk="0">
              <a:buNone/>
              <a:defRPr kumimoji="1" lang="ja-JP" sz="2000"/>
            </a:lvl6pPr>
            <a:lvl7pPr marL="2743200" indent="0" latinLnBrk="0">
              <a:buNone/>
              <a:defRPr kumimoji="1" lang="ja-JP" sz="2000"/>
            </a:lvl7pPr>
            <a:lvl8pPr marL="3200400" indent="0" latinLnBrk="0">
              <a:buNone/>
              <a:defRPr kumimoji="1" lang="ja-JP" sz="2000"/>
            </a:lvl8pPr>
            <a:lvl9pPr marL="3657600" indent="0" latinLnBrk="0">
              <a:buNone/>
              <a:defRPr kumimoji="1" lang="ja-JP" sz="2000"/>
            </a:lvl9pPr>
          </a:lstStyle>
          <a:p>
            <a:endParaRPr kumimoji="1" lang="ja-JP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1065213" y="2209800"/>
            <a:ext cx="4114800" cy="3810000"/>
          </a:xfrm>
        </p:spPr>
        <p:txBody>
          <a:bodyPr>
            <a:normAutofit/>
          </a:bodyPr>
          <a:lstStyle>
            <a:lvl1pPr marL="0" indent="0" latinLnBrk="0">
              <a:lnSpc>
                <a:spcPct val="110000"/>
              </a:lnSpc>
              <a:spcBef>
                <a:spcPts val="600"/>
              </a:spcBef>
              <a:buNone/>
              <a:defRPr kumimoji="1" lang="ja-JP" sz="1800"/>
            </a:lvl1pPr>
            <a:lvl2pPr marL="457200" indent="0" latinLnBrk="0">
              <a:buNone/>
              <a:defRPr kumimoji="1" lang="ja-JP" sz="1200"/>
            </a:lvl2pPr>
            <a:lvl3pPr marL="914400" indent="0" latinLnBrk="0">
              <a:buNone/>
              <a:defRPr kumimoji="1" lang="ja-JP" sz="1000"/>
            </a:lvl3pPr>
            <a:lvl4pPr marL="1371600" indent="0" latinLnBrk="0">
              <a:buNone/>
              <a:defRPr kumimoji="1" lang="ja-JP" sz="900"/>
            </a:lvl4pPr>
            <a:lvl5pPr marL="1828800" indent="0" latinLnBrk="0">
              <a:buNone/>
              <a:defRPr kumimoji="1" lang="ja-JP" sz="900"/>
            </a:lvl5pPr>
            <a:lvl6pPr marL="2286000" indent="0" latinLnBrk="0">
              <a:buNone/>
              <a:defRPr kumimoji="1" lang="ja-JP" sz="900"/>
            </a:lvl6pPr>
            <a:lvl7pPr marL="2743200" indent="0" latinLnBrk="0">
              <a:buNone/>
              <a:defRPr kumimoji="1" lang="ja-JP" sz="900"/>
            </a:lvl7pPr>
            <a:lvl8pPr marL="3200400" indent="0" latinLnBrk="0">
              <a:buNone/>
              <a:defRPr kumimoji="1" lang="ja-JP" sz="900"/>
            </a:lvl8pPr>
            <a:lvl9pPr marL="3657600" indent="0" latinLnBrk="0">
              <a:buNone/>
              <a:defRPr kumimoji="1" lang="ja-JP" sz="900"/>
            </a:lvl9pPr>
          </a:lstStyle>
          <a:p>
            <a:pPr lvl="0"/>
            <a:r>
              <a:rPr kumimoji="1" lang="ja-JP" dirty="0"/>
              <a:t>マスター テキストのスタイルを編集するには、ここをクリック</a:t>
            </a:r>
          </a:p>
        </p:txBody>
      </p:sp>
    </p:spTree>
    <p:extLst>
      <p:ext uri="{BB962C8B-B14F-4D97-AF65-F5344CB8AC3E}">
        <p14:creationId xmlns:p14="http://schemas.microsoft.com/office/powerpoint/2010/main" val="14196082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dirty="0"/>
              <a:t>マスター タイトルのスタイルを編集するには、ここをクリック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dirty="0"/>
              <a:t>マスター テキストのスタイルを編集するには、ここをクリック</a:t>
            </a:r>
          </a:p>
          <a:p>
            <a:pPr lvl="1"/>
            <a:r>
              <a:rPr kumimoji="1" lang="ja-JP" dirty="0"/>
              <a:t>第 2 レベル</a:t>
            </a:r>
          </a:p>
          <a:p>
            <a:pPr lvl="2"/>
            <a:r>
              <a:rPr kumimoji="1" lang="ja-JP" dirty="0"/>
              <a:t>第 3 レベル</a:t>
            </a:r>
          </a:p>
          <a:p>
            <a:pPr lvl="3"/>
            <a:r>
              <a:rPr kumimoji="1" lang="ja-JP" dirty="0"/>
              <a:t>第 4 レベル</a:t>
            </a:r>
          </a:p>
          <a:p>
            <a:pPr lvl="4"/>
            <a:r>
              <a:rPr kumimoji="1" lang="ja-JP" dirty="0"/>
              <a:t>第 5 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FA9E5-6744-4841-888F-9E7CC0C2B7EC}" type="datetimeFigureOut">
              <a:t>2025/8/29</a:t>
            </a:fld>
            <a:endParaRPr kumimoji="1" lang="ja-JP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dirty="0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t>‹#›</a:t>
            </a:fld>
            <a:endParaRPr kumimoji="1" lang="ja-JP"/>
          </a:p>
        </p:txBody>
      </p:sp>
    </p:spTree>
    <p:extLst>
      <p:ext uri="{BB962C8B-B14F-4D97-AF65-F5344CB8AC3E}">
        <p14:creationId xmlns:p14="http://schemas.microsoft.com/office/powerpoint/2010/main" val="26680935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8761412" y="533400"/>
            <a:ext cx="2362201" cy="5486400"/>
          </a:xfrm>
        </p:spPr>
        <p:txBody>
          <a:bodyPr vert="eaVert"/>
          <a:lstStyle/>
          <a:p>
            <a:r>
              <a:rPr kumimoji="1" lang="ja-JP" dirty="0"/>
              <a:t>マスター タイトルのスタイルを編集するには、ここをクリック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1065213" y="533400"/>
            <a:ext cx="7467599" cy="5486400"/>
          </a:xfrm>
        </p:spPr>
        <p:txBody>
          <a:bodyPr vert="eaVert"/>
          <a:lstStyle/>
          <a:p>
            <a:pPr lvl="0"/>
            <a:r>
              <a:rPr kumimoji="1" lang="ja-JP" dirty="0"/>
              <a:t>マスター テキストのスタイルを編集するには、ここをクリック</a:t>
            </a:r>
          </a:p>
          <a:p>
            <a:pPr lvl="1"/>
            <a:r>
              <a:rPr kumimoji="1" lang="ja-JP" dirty="0"/>
              <a:t>第 2 レベル</a:t>
            </a:r>
          </a:p>
          <a:p>
            <a:pPr lvl="2"/>
            <a:r>
              <a:rPr kumimoji="1" lang="ja-JP" dirty="0"/>
              <a:t>第 3 レベル</a:t>
            </a:r>
          </a:p>
          <a:p>
            <a:pPr lvl="3"/>
            <a:r>
              <a:rPr kumimoji="1" lang="ja-JP" dirty="0"/>
              <a:t>第 4 レベル</a:t>
            </a:r>
          </a:p>
          <a:p>
            <a:pPr lvl="4"/>
            <a:r>
              <a:rPr kumimoji="1" lang="ja-JP" dirty="0"/>
              <a:t>第 5 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FA9E5-6744-4841-888F-9E7CC0C2B7EC}" type="datetimeFigureOut">
              <a:t>2025/8/29</a:t>
            </a:fld>
            <a:endParaRPr kumimoji="1" lang="ja-JP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t>‹#›</a:t>
            </a:fld>
            <a:endParaRPr kumimoji="1" lang="ja-JP"/>
          </a:p>
        </p:txBody>
      </p:sp>
    </p:spTree>
    <p:extLst>
      <p:ext uri="{BB962C8B-B14F-4D97-AF65-F5344CB8AC3E}">
        <p14:creationId xmlns:p14="http://schemas.microsoft.com/office/powerpoint/2010/main" val="1882449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1065212" y="533400"/>
            <a:ext cx="8686801" cy="10668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kumimoji="1" lang="ja-JP"/>
              <a:t>マスター タイトルのスタイルを編集するには、ここをクリック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1065212" y="1828800"/>
            <a:ext cx="8686801" cy="4191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/>
              <a:t>マスター テキストのスタイルを編集するには、ここをクリック</a:t>
            </a:r>
          </a:p>
          <a:p>
            <a:pPr lvl="1"/>
            <a:r>
              <a:rPr kumimoji="1" lang="ja-JP"/>
              <a:t>第 2 レベル</a:t>
            </a:r>
          </a:p>
          <a:p>
            <a:pPr lvl="2"/>
            <a:r>
              <a:rPr kumimoji="1" lang="ja-JP"/>
              <a:t>第 3 レベル</a:t>
            </a:r>
          </a:p>
          <a:p>
            <a:pPr lvl="3"/>
            <a:r>
              <a:rPr kumimoji="1" lang="ja-JP"/>
              <a:t>第 4 レベル</a:t>
            </a:r>
          </a:p>
          <a:p>
            <a:pPr lvl="4"/>
            <a:r>
              <a:rPr kumimoji="1" lang="ja-JP"/>
              <a:t>第 5 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6932612" y="6155267"/>
            <a:ext cx="1371600" cy="273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latinLnBrk="0">
              <a:defRPr kumimoji="1" lang="ja-JP" sz="100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</a:lstStyle>
          <a:p>
            <a:fld id="{3E0FA9E5-6744-4841-888F-9E7CC0C2B7EC}" type="datetimeFigureOut">
              <a:rPr lang="en-US" altLang="ja-JP" smtClean="0"/>
              <a:pPr/>
              <a:t>8/29/2025</a:t>
            </a:fld>
            <a:endParaRPr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1065213" y="6155267"/>
            <a:ext cx="5653087" cy="273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latinLnBrk="0">
              <a:defRPr kumimoji="1" lang="ja-JP" sz="100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</a:lstStyle>
          <a:p>
            <a:endParaRPr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8532812" y="6155267"/>
            <a:ext cx="1219201" cy="273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latinLnBrk="0">
              <a:defRPr kumimoji="1" lang="ja-JP" sz="100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</a:lstStyle>
          <a:p>
            <a:fld id="{AAEAE4A8-A6E5-453E-B946-FB774B73F48C}" type="slidenum">
              <a:rPr lang="en-US" altLang="ja-JP" smtClean="0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5970541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kumimoji="1" lang="ja-JP" sz="3600" b="1" kern="1200">
          <a:solidFill>
            <a:schemeClr val="accent1"/>
          </a:solidFill>
          <a:latin typeface="Meiryo UI" panose="020B0604030504040204" pitchFamily="50" charset="-128"/>
          <a:ea typeface="Meiryo UI" panose="020B0604030504040204" pitchFamily="50" charset="-128"/>
          <a:cs typeface="Meiryo UI" panose="020B0604030504040204" pitchFamily="50" charset="-128"/>
        </a:defRPr>
      </a:lvl1pPr>
    </p:titleStyle>
    <p:bodyStyle>
      <a:lvl1pPr marL="274320" indent="-228600" algn="l" defTabSz="914400" rtl="0" eaLnBrk="1" latinLnBrk="0" hangingPunct="1">
        <a:lnSpc>
          <a:spcPct val="90000"/>
        </a:lnSpc>
        <a:spcBef>
          <a:spcPts val="18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kumimoji="1" lang="ja-JP" sz="2000" kern="1200">
          <a:solidFill>
            <a:schemeClr val="tx1">
              <a:lumMod val="65000"/>
              <a:lumOff val="35000"/>
            </a:schemeClr>
          </a:solidFill>
          <a:latin typeface="Meiryo UI" panose="020B0604030504040204" pitchFamily="50" charset="-128"/>
          <a:ea typeface="Meiryo UI" panose="020B0604030504040204" pitchFamily="50" charset="-128"/>
          <a:cs typeface="Meiryo UI" panose="020B0604030504040204" pitchFamily="50" charset="-128"/>
        </a:defRPr>
      </a:lvl1pPr>
      <a:lvl2pPr marL="59436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kumimoji="1" lang="ja-JP" sz="1800" kern="1200">
          <a:solidFill>
            <a:schemeClr val="tx1">
              <a:lumMod val="65000"/>
              <a:lumOff val="35000"/>
            </a:schemeClr>
          </a:solidFill>
          <a:latin typeface="Meiryo UI" panose="020B0604030504040204" pitchFamily="50" charset="-128"/>
          <a:ea typeface="Meiryo UI" panose="020B0604030504040204" pitchFamily="50" charset="-128"/>
          <a:cs typeface="Meiryo UI" panose="020B0604030504040204" pitchFamily="50" charset="-128"/>
        </a:defRPr>
      </a:lvl2pPr>
      <a:lvl3pPr marL="777240" indent="-182880" algn="l" defTabSz="914400" rtl="0" eaLnBrk="1" latinLnBrk="0" hangingPunct="1">
        <a:lnSpc>
          <a:spcPct val="90000"/>
        </a:lnSpc>
        <a:spcBef>
          <a:spcPts val="6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kumimoji="1" lang="ja-JP" sz="1600" kern="1200">
          <a:solidFill>
            <a:schemeClr val="tx1">
              <a:lumMod val="65000"/>
              <a:lumOff val="35000"/>
            </a:schemeClr>
          </a:solidFill>
          <a:latin typeface="Meiryo UI" panose="020B0604030504040204" pitchFamily="50" charset="-128"/>
          <a:ea typeface="Meiryo UI" panose="020B0604030504040204" pitchFamily="50" charset="-128"/>
          <a:cs typeface="Meiryo UI" panose="020B0604030504040204" pitchFamily="50" charset="-128"/>
        </a:defRPr>
      </a:lvl3pPr>
      <a:lvl4pPr marL="960120" indent="-182880" algn="l" defTabSz="914400" rtl="0" eaLnBrk="1" latinLnBrk="0" hangingPunct="1">
        <a:lnSpc>
          <a:spcPct val="90000"/>
        </a:lnSpc>
        <a:spcBef>
          <a:spcPts val="6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kumimoji="1" lang="ja-JP" sz="1400" kern="1200">
          <a:solidFill>
            <a:schemeClr val="tx1">
              <a:lumMod val="65000"/>
              <a:lumOff val="35000"/>
            </a:schemeClr>
          </a:solidFill>
          <a:latin typeface="Meiryo UI" panose="020B0604030504040204" pitchFamily="50" charset="-128"/>
          <a:ea typeface="Meiryo UI" panose="020B0604030504040204" pitchFamily="50" charset="-128"/>
          <a:cs typeface="Meiryo UI" panose="020B0604030504040204" pitchFamily="50" charset="-128"/>
        </a:defRPr>
      </a:lvl4pPr>
      <a:lvl5pPr marL="1097280" indent="-137160" algn="l" defTabSz="914400" rtl="0" eaLnBrk="1" latinLnBrk="0" hangingPunct="1">
        <a:lnSpc>
          <a:spcPct val="90000"/>
        </a:lnSpc>
        <a:spcBef>
          <a:spcPts val="6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kumimoji="1" lang="ja-JP" sz="1400" kern="1200">
          <a:solidFill>
            <a:schemeClr val="tx1">
              <a:lumMod val="65000"/>
              <a:lumOff val="35000"/>
            </a:schemeClr>
          </a:solidFill>
          <a:latin typeface="Meiryo UI" panose="020B0604030504040204" pitchFamily="50" charset="-128"/>
          <a:ea typeface="Meiryo UI" panose="020B0604030504040204" pitchFamily="50" charset="-128"/>
          <a:cs typeface="Meiryo UI" panose="020B0604030504040204" pitchFamily="50" charset="-128"/>
        </a:defRPr>
      </a:lvl5pPr>
      <a:lvl6pPr marL="1234440" indent="-137160" algn="l" defTabSz="914400" rtl="0" eaLnBrk="1" latinLnBrk="0" hangingPunct="1">
        <a:spcBef>
          <a:spcPts val="600"/>
        </a:spcBef>
        <a:buSzPct val="80000"/>
        <a:buFont typeface="Arial" pitchFamily="34" charset="0"/>
        <a:buChar char="•"/>
        <a:defRPr kumimoji="1" lang="ja-JP"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1371600" indent="-137160" algn="l" defTabSz="914400" rtl="0" eaLnBrk="1" latinLnBrk="0" hangingPunct="1">
        <a:spcBef>
          <a:spcPts val="600"/>
        </a:spcBef>
        <a:buSzPct val="80000"/>
        <a:buFont typeface="Arial" pitchFamily="34" charset="0"/>
        <a:buChar char="•"/>
        <a:defRPr kumimoji="1" lang="ja-JP"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1508760" indent="-137160" algn="l" defTabSz="914400" rtl="0" eaLnBrk="1" latinLnBrk="0" hangingPunct="1">
        <a:spcBef>
          <a:spcPts val="600"/>
        </a:spcBef>
        <a:buSzPct val="80000"/>
        <a:buFont typeface="Arial" pitchFamily="34" charset="0"/>
        <a:buChar char="•"/>
        <a:defRPr kumimoji="1" lang="ja-JP"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1645920" indent="-137160" algn="l" defTabSz="914400" rtl="0" eaLnBrk="1" latinLnBrk="0" hangingPunct="1">
        <a:spcBef>
          <a:spcPts val="600"/>
        </a:spcBef>
        <a:buSzPct val="80000"/>
        <a:buFont typeface="Arial" pitchFamily="34" charset="0"/>
        <a:buChar char="•"/>
        <a:defRPr kumimoji="1" lang="ja-JP"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kumimoji="1" lang="ja-JP"/>
      </a:defPPr>
      <a:lvl1pPr marL="0" algn="l" defTabSz="914400" rtl="0" eaLnBrk="1" latinLnBrk="0" hangingPunct="1">
        <a:defRPr kumimoji="1" lang="ja-JP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lang="ja-JP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lang="ja-JP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lang="ja-JP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lang="ja-JP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lang="ja-JP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lang="ja-JP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lang="ja-JP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lang="ja-JP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39" userDrawn="1">
          <p15:clr>
            <a:srgbClr val="F26B43"/>
          </p15:clr>
        </p15:guide>
        <p15:guide id="2" orient="horz" pos="216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コンテンツ プレースホルダー 5"/>
          <p:cNvSpPr>
            <a:spLocks noGrp="1"/>
          </p:cNvSpPr>
          <p:nvPr>
            <p:ph sz="half" idx="1"/>
          </p:nvPr>
        </p:nvSpPr>
        <p:spPr>
          <a:xfrm>
            <a:off x="1065212" y="1225550"/>
            <a:ext cx="9905999" cy="4933415"/>
          </a:xfrm>
        </p:spPr>
        <p:txBody>
          <a:bodyPr>
            <a:normAutofit/>
          </a:bodyPr>
          <a:lstStyle/>
          <a:p>
            <a:pPr marL="45720" indent="0">
              <a:buNone/>
            </a:pPr>
            <a:r>
              <a:rPr lang="en-US" altLang="ja-JP" b="1" dirty="0">
                <a:latin typeface="+mn-ea"/>
                <a:ea typeface="+mn-ea"/>
              </a:rPr>
              <a:t>Window</a:t>
            </a:r>
            <a:r>
              <a:rPr lang="ja-JP" altLang="en-US" b="1" dirty="0">
                <a:latin typeface="+mn-ea"/>
                <a:ea typeface="+mn-ea"/>
              </a:rPr>
              <a:t>関数：</a:t>
            </a:r>
            <a:br>
              <a:rPr lang="en-US" altLang="ja-JP" dirty="0">
                <a:latin typeface="+mn-ea"/>
                <a:ea typeface="+mn-ea"/>
              </a:rPr>
            </a:br>
            <a:r>
              <a:rPr lang="ja-JP" altLang="en-US" dirty="0">
                <a:latin typeface="+mn-ea"/>
                <a:ea typeface="+mn-ea"/>
              </a:rPr>
              <a:t>特定の行のセット（</a:t>
            </a:r>
            <a:r>
              <a:rPr lang="ja-JP" altLang="en-US" b="1" dirty="0">
                <a:latin typeface="+mn-ea"/>
                <a:ea typeface="+mn-ea"/>
              </a:rPr>
              <a:t>ウィンドウ</a:t>
            </a:r>
            <a:r>
              <a:rPr lang="ja-JP" altLang="en-US" dirty="0">
                <a:latin typeface="+mn-ea"/>
                <a:ea typeface="+mn-ea"/>
              </a:rPr>
              <a:t>）に対して計算を実行し、その結果を</a:t>
            </a:r>
            <a:r>
              <a:rPr lang="ja-JP" altLang="en-US" b="1" dirty="0">
                <a:latin typeface="+mn-ea"/>
                <a:ea typeface="+mn-ea"/>
              </a:rPr>
              <a:t>各行に返す</a:t>
            </a:r>
            <a:r>
              <a:rPr lang="ja-JP" altLang="en-US" dirty="0">
                <a:latin typeface="+mn-ea"/>
                <a:ea typeface="+mn-ea"/>
              </a:rPr>
              <a:t>機能</a:t>
            </a:r>
            <a:endParaRPr lang="en-US" altLang="ja-JP" dirty="0">
              <a:latin typeface="+mn-ea"/>
              <a:ea typeface="+mn-ea"/>
            </a:endParaRPr>
          </a:p>
          <a:p>
            <a:pPr marL="45720" indent="0">
              <a:buNone/>
            </a:pPr>
            <a:r>
              <a:rPr lang="en-US" altLang="ja-JP" b="1" dirty="0">
                <a:latin typeface="+mn-ea"/>
                <a:ea typeface="+mn-ea"/>
              </a:rPr>
              <a:t>GROUP BY </a:t>
            </a:r>
            <a:r>
              <a:rPr lang="ja-JP" altLang="en-US" b="1" dirty="0">
                <a:latin typeface="+mn-ea"/>
                <a:ea typeface="+mn-ea"/>
              </a:rPr>
              <a:t>との違い：</a:t>
            </a:r>
            <a:br>
              <a:rPr lang="en-US" altLang="ja-JP" dirty="0">
                <a:latin typeface="+mn-ea"/>
                <a:ea typeface="+mn-ea"/>
              </a:rPr>
            </a:br>
            <a:r>
              <a:rPr lang="en-US" altLang="ja-JP" dirty="0">
                <a:latin typeface="+mn-ea"/>
                <a:ea typeface="+mn-ea"/>
              </a:rPr>
              <a:t>GROUP BY </a:t>
            </a:r>
            <a:r>
              <a:rPr lang="ja-JP" altLang="en-US" dirty="0">
                <a:latin typeface="+mn-ea"/>
                <a:ea typeface="+mn-ea"/>
              </a:rPr>
              <a:t>が集計によって行数を減らす（まとめる）のに対し、ウィンドウ関数は元の行数を維持したまま、集計結果やランキングなどを各行のコンテキストに付加できる</a:t>
            </a:r>
            <a:endParaRPr lang="en-US" altLang="ja-JP" dirty="0">
              <a:latin typeface="+mn-ea"/>
              <a:ea typeface="+mn-ea"/>
            </a:endParaRPr>
          </a:p>
          <a:p>
            <a:pPr marL="45720" indent="0">
              <a:buNone/>
            </a:pPr>
            <a:endParaRPr kumimoji="1" lang="en-US" altLang="ja-JP" b="1" u="sng" dirty="0">
              <a:latin typeface="+mn-ea"/>
              <a:ea typeface="+mn-ea"/>
            </a:endParaRPr>
          </a:p>
        </p:txBody>
      </p:sp>
      <p:sp>
        <p:nvSpPr>
          <p:cNvPr id="13" name="タイトル 12"/>
          <p:cNvSpPr>
            <a:spLocks noGrp="1"/>
          </p:cNvSpPr>
          <p:nvPr>
            <p:ph type="title"/>
          </p:nvPr>
        </p:nvSpPr>
        <p:spPr>
          <a:xfrm>
            <a:off x="1065213" y="533400"/>
            <a:ext cx="8686800" cy="538529"/>
          </a:xfrm>
        </p:spPr>
        <p:txBody>
          <a:bodyPr/>
          <a:lstStyle/>
          <a:p>
            <a:r>
              <a:rPr kumimoji="1" lang="en-US" altLang="ja-JP" sz="28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window</a:t>
            </a:r>
            <a:r>
              <a:rPr kumimoji="1" lang="ja-JP" altLang="en-US" sz="28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関数</a:t>
            </a:r>
            <a:endParaRPr kumimoji="1" lang="ja-JP" sz="2800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E29D50AF-D50D-DFB8-B886-30CEAB29ED4B}"/>
              </a:ext>
            </a:extLst>
          </p:cNvPr>
          <p:cNvSpPr/>
          <p:nvPr/>
        </p:nvSpPr>
        <p:spPr>
          <a:xfrm>
            <a:off x="1293812" y="3276600"/>
            <a:ext cx="4953000" cy="2819400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ja-JP" dirty="0">
                <a:solidFill>
                  <a:schemeClr val="tx1"/>
                </a:solidFill>
              </a:rPr>
              <a:t>SELECT</a:t>
            </a:r>
          </a:p>
          <a:p>
            <a:r>
              <a:rPr lang="ja-JP" altLang="en-US" dirty="0">
                <a:solidFill>
                  <a:schemeClr val="tx1"/>
                </a:solidFill>
              </a:rPr>
              <a:t>　・・・</a:t>
            </a:r>
            <a:endParaRPr lang="en-US" altLang="ja-JP" dirty="0">
              <a:solidFill>
                <a:schemeClr val="tx1"/>
              </a:solidFill>
            </a:endParaRPr>
          </a:p>
          <a:p>
            <a:r>
              <a:rPr lang="ja-JP" altLang="en-US" dirty="0">
                <a:solidFill>
                  <a:schemeClr val="tx1"/>
                </a:solidFill>
              </a:rPr>
              <a:t>　関数名</a:t>
            </a:r>
            <a:r>
              <a:rPr lang="en-US" altLang="ja-JP" dirty="0">
                <a:solidFill>
                  <a:schemeClr val="tx1"/>
                </a:solidFill>
              </a:rPr>
              <a:t>() OVER (</a:t>
            </a:r>
          </a:p>
          <a:p>
            <a:r>
              <a:rPr lang="ja-JP" altLang="en-US" dirty="0">
                <a:solidFill>
                  <a:schemeClr val="tx1"/>
                </a:solidFill>
              </a:rPr>
              <a:t>　　</a:t>
            </a:r>
            <a:r>
              <a:rPr lang="en-US" altLang="ja-JP" dirty="0">
                <a:solidFill>
                  <a:schemeClr val="tx1"/>
                </a:solidFill>
              </a:rPr>
              <a:t>[PARTITION BY </a:t>
            </a:r>
            <a:r>
              <a:rPr lang="ja-JP" altLang="en-US" dirty="0">
                <a:solidFill>
                  <a:schemeClr val="tx1"/>
                </a:solidFill>
              </a:rPr>
              <a:t>列リスト</a:t>
            </a:r>
            <a:r>
              <a:rPr lang="en-US" altLang="ja-JP" dirty="0">
                <a:solidFill>
                  <a:schemeClr val="tx1"/>
                </a:solidFill>
              </a:rPr>
              <a:t>] </a:t>
            </a:r>
          </a:p>
          <a:p>
            <a:r>
              <a:rPr lang="ja-JP" altLang="en-US" dirty="0">
                <a:solidFill>
                  <a:schemeClr val="tx1"/>
                </a:solidFill>
              </a:rPr>
              <a:t>　　</a:t>
            </a:r>
            <a:r>
              <a:rPr lang="en-US" altLang="ja-JP" dirty="0">
                <a:solidFill>
                  <a:schemeClr val="tx1"/>
                </a:solidFill>
              </a:rPr>
              <a:t>[ORDER BY </a:t>
            </a:r>
            <a:r>
              <a:rPr lang="ja-JP" altLang="en-US" dirty="0">
                <a:solidFill>
                  <a:schemeClr val="tx1"/>
                </a:solidFill>
              </a:rPr>
              <a:t>列リスト </a:t>
            </a:r>
            <a:r>
              <a:rPr lang="en-US" altLang="ja-JP" dirty="0">
                <a:solidFill>
                  <a:schemeClr val="tx1"/>
                </a:solidFill>
              </a:rPr>
              <a:t>[ASC|DESC] [, ...]]</a:t>
            </a:r>
          </a:p>
          <a:p>
            <a:r>
              <a:rPr lang="ja-JP" altLang="en-US" dirty="0">
                <a:solidFill>
                  <a:schemeClr val="tx1"/>
                </a:solidFill>
              </a:rPr>
              <a:t>　　</a:t>
            </a:r>
            <a:r>
              <a:rPr lang="en-US" altLang="ja-JP" dirty="0">
                <a:solidFill>
                  <a:schemeClr val="tx1"/>
                </a:solidFill>
              </a:rPr>
              <a:t>[</a:t>
            </a:r>
            <a:r>
              <a:rPr lang="ja-JP" altLang="en-US" dirty="0">
                <a:solidFill>
                  <a:schemeClr val="tx1"/>
                </a:solidFill>
              </a:rPr>
              <a:t>ウィンドウフレーム</a:t>
            </a:r>
            <a:r>
              <a:rPr lang="en-US" altLang="ja-JP" dirty="0">
                <a:solidFill>
                  <a:schemeClr val="tx1"/>
                </a:solidFill>
              </a:rPr>
              <a:t>]</a:t>
            </a:r>
          </a:p>
          <a:p>
            <a:r>
              <a:rPr lang="en-US" altLang="ja-JP" dirty="0">
                <a:solidFill>
                  <a:schemeClr val="tx1"/>
                </a:solidFill>
              </a:rPr>
              <a:t>)</a:t>
            </a:r>
            <a:br>
              <a:rPr lang="en-US" altLang="ja-JP" dirty="0">
                <a:solidFill>
                  <a:schemeClr val="tx1"/>
                </a:solidFill>
              </a:rPr>
            </a:br>
            <a:r>
              <a:rPr lang="en-US" altLang="ja-JP" dirty="0">
                <a:solidFill>
                  <a:schemeClr val="tx1"/>
                </a:solidFill>
              </a:rPr>
              <a:t>FROM</a:t>
            </a:r>
          </a:p>
          <a:p>
            <a:r>
              <a:rPr lang="ja-JP" altLang="en-US" dirty="0">
                <a:solidFill>
                  <a:schemeClr val="tx1"/>
                </a:solidFill>
              </a:rPr>
              <a:t>　・・・</a:t>
            </a:r>
            <a:endParaRPr lang="en-US" altLang="ja-JP" dirty="0">
              <a:solidFill>
                <a:schemeClr val="tx1"/>
              </a:solidFill>
            </a:endParaRPr>
          </a:p>
          <a:p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B317D4E2-516F-5B14-E5E9-3A7A4ED7EFCF}"/>
              </a:ext>
            </a:extLst>
          </p:cNvPr>
          <p:cNvSpPr txBox="1"/>
          <p:nvPr/>
        </p:nvSpPr>
        <p:spPr>
          <a:xfrm>
            <a:off x="6551611" y="3276600"/>
            <a:ext cx="44196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b="1" dirty="0"/>
              <a:t>関数：</a:t>
            </a:r>
            <a:endParaRPr kumimoji="1" lang="en-US" altLang="ja-JP" b="1" dirty="0"/>
          </a:p>
          <a:p>
            <a:r>
              <a:rPr kumimoji="1" lang="ja-JP" altLang="en-US" dirty="0"/>
              <a:t>集計関数や専用の関数が使える</a:t>
            </a:r>
            <a:endParaRPr kumimoji="1" lang="en-US" altLang="ja-JP" dirty="0"/>
          </a:p>
          <a:p>
            <a:endParaRPr kumimoji="1" lang="en-US" altLang="ja-JP" dirty="0"/>
          </a:p>
          <a:p>
            <a:r>
              <a:rPr lang="en-US" altLang="ja-JP" dirty="0"/>
              <a:t>PARTITION BY</a:t>
            </a:r>
            <a:r>
              <a:rPr lang="ja-JP" altLang="en-US" dirty="0"/>
              <a:t>：</a:t>
            </a:r>
            <a:endParaRPr lang="en-US" altLang="ja-JP" dirty="0"/>
          </a:p>
          <a:p>
            <a:r>
              <a:rPr kumimoji="1" lang="ja-JP" altLang="en-US" dirty="0"/>
              <a:t>データをパーテイションで分割し、分割された範囲で関数が適用される</a:t>
            </a:r>
            <a:endParaRPr kumimoji="1" lang="en-US" altLang="ja-JP" dirty="0"/>
          </a:p>
          <a:p>
            <a:endParaRPr kumimoji="1" lang="en-US" altLang="ja-JP" dirty="0"/>
          </a:p>
          <a:p>
            <a:r>
              <a:rPr lang="en-US" altLang="ja-JP" dirty="0"/>
              <a:t>ORDER BY</a:t>
            </a:r>
            <a:r>
              <a:rPr lang="ja-JP" altLang="en-US" dirty="0"/>
              <a:t>と</a:t>
            </a:r>
            <a:r>
              <a:rPr kumimoji="1" lang="ja-JP" altLang="en-US" dirty="0"/>
              <a:t>フレーム</a:t>
            </a:r>
            <a:r>
              <a:rPr lang="ja-JP" altLang="en-US" dirty="0"/>
              <a:t>：</a:t>
            </a:r>
            <a:endParaRPr lang="en-US" altLang="ja-JP" dirty="0"/>
          </a:p>
          <a:p>
            <a:r>
              <a:rPr kumimoji="1" lang="ja-JP" altLang="en-US" dirty="0"/>
              <a:t>各パーテイション内での並び順を指定し、計算範囲を定義する</a:t>
            </a:r>
            <a:endParaRPr kumimoji="1" lang="en-US" altLang="ja-JP" dirty="0"/>
          </a:p>
          <a:p>
            <a:endParaRPr kumimoji="1" lang="en-US" altLang="ja-JP" dirty="0"/>
          </a:p>
          <a:p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12900159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4">
            <a:extLst>
              <a:ext uri="{FF2B5EF4-FFF2-40B4-BE49-F238E27FC236}">
                <a16:creationId xmlns:a16="http://schemas.microsoft.com/office/drawing/2014/main" id="{A64AAD55-9186-6153-CD6E-F4C817D05A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5212" y="533400"/>
            <a:ext cx="8686801" cy="457200"/>
          </a:xfrm>
        </p:spPr>
        <p:txBody>
          <a:bodyPr>
            <a:normAutofit/>
          </a:bodyPr>
          <a:lstStyle/>
          <a:p>
            <a:r>
              <a:rPr lang="en-US" altLang="ja-JP" sz="2800" dirty="0"/>
              <a:t>window</a:t>
            </a:r>
            <a:r>
              <a:rPr lang="ja-JP" altLang="en-US" sz="2800" dirty="0"/>
              <a:t>関数で使用できる関数（一部）</a:t>
            </a:r>
          </a:p>
        </p:txBody>
      </p:sp>
      <p:graphicFrame>
        <p:nvGraphicFramePr>
          <p:cNvPr id="8" name="表 7">
            <a:extLst>
              <a:ext uri="{FF2B5EF4-FFF2-40B4-BE49-F238E27FC236}">
                <a16:creationId xmlns:a16="http://schemas.microsoft.com/office/drawing/2014/main" id="{EB6760FF-B6E5-C01A-144E-4C78147DA0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4833158"/>
              </p:ext>
            </p:extLst>
          </p:nvPr>
        </p:nvGraphicFramePr>
        <p:xfrm>
          <a:off x="1065212" y="995265"/>
          <a:ext cx="9372600" cy="36817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38600">
                  <a:extLst>
                    <a:ext uri="{9D8B030D-6E8A-4147-A177-3AD203B41FA5}">
                      <a16:colId xmlns:a16="http://schemas.microsoft.com/office/drawing/2014/main" val="2915582748"/>
                    </a:ext>
                  </a:extLst>
                </a:gridCol>
                <a:gridCol w="5334000">
                  <a:extLst>
                    <a:ext uri="{9D8B030D-6E8A-4147-A177-3AD203B41FA5}">
                      <a16:colId xmlns:a16="http://schemas.microsoft.com/office/drawing/2014/main" val="3249216226"/>
                    </a:ext>
                  </a:extLst>
                </a:gridCol>
              </a:tblGrid>
              <a:tr h="319641"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関数名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説明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3400366"/>
                  </a:ext>
                </a:extLst>
              </a:tr>
              <a:tr h="31964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ROW_NUMBER()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連番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7265680"/>
                  </a:ext>
                </a:extLst>
              </a:tr>
              <a:tr h="31964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RANK()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dirty="0"/>
                        <a:t>同順位にギャップあり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9284381"/>
                  </a:ext>
                </a:extLst>
              </a:tr>
              <a:tr h="31964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DENSE_RANK()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同順位にギャップなし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980562"/>
                  </a:ext>
                </a:extLst>
              </a:tr>
              <a:tr h="31964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LAG()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前の行の値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8797296"/>
                  </a:ext>
                </a:extLst>
              </a:tr>
              <a:tr h="31964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LEAD()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後の行の値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4539886"/>
                  </a:ext>
                </a:extLst>
              </a:tr>
              <a:tr h="31964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FIRST_VALUE()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フレームの最初の値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7070320"/>
                  </a:ext>
                </a:extLst>
              </a:tr>
              <a:tr h="35959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LAST_VALUE()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フレームの最後の値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8506103"/>
                  </a:ext>
                </a:extLst>
              </a:tr>
              <a:tr h="75571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SUM()/AVG()/COUNT()/MIN()/MAX()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集計関数など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4320393"/>
                  </a:ext>
                </a:extLst>
              </a:tr>
            </a:tbl>
          </a:graphicData>
        </a:graphic>
      </p:graphicFrame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ADC38D93-9910-A1AA-BD1C-F579D0177A69}"/>
              </a:ext>
            </a:extLst>
          </p:cNvPr>
          <p:cNvSpPr txBox="1"/>
          <p:nvPr/>
        </p:nvSpPr>
        <p:spPr>
          <a:xfrm>
            <a:off x="1065212" y="4876800"/>
            <a:ext cx="67882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詳細：</a:t>
            </a:r>
            <a:r>
              <a:rPr kumimoji="1" lang="en-US" altLang="ja-JP" dirty="0"/>
              <a:t>https://www.postgresql.jp/docs/9.4/functions-window.html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8491665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4">
            <a:extLst>
              <a:ext uri="{FF2B5EF4-FFF2-40B4-BE49-F238E27FC236}">
                <a16:creationId xmlns:a16="http://schemas.microsoft.com/office/drawing/2014/main" id="{BF2B5503-46CF-D094-3761-BE9187777C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5212" y="533400"/>
            <a:ext cx="8686801" cy="533400"/>
          </a:xfrm>
        </p:spPr>
        <p:txBody>
          <a:bodyPr>
            <a:normAutofit/>
          </a:bodyPr>
          <a:lstStyle/>
          <a:p>
            <a:r>
              <a:rPr lang="en-US" altLang="ja-JP" sz="2800" dirty="0"/>
              <a:t>Window</a:t>
            </a:r>
            <a:r>
              <a:rPr lang="ja-JP" altLang="en-US" sz="2800" dirty="0"/>
              <a:t>関数の例（フレーム指定なし</a:t>
            </a:r>
            <a:r>
              <a:rPr lang="en-US" altLang="ja-JP" sz="2800" dirty="0" err="1"/>
              <a:t>ver</a:t>
            </a:r>
            <a:r>
              <a:rPr lang="ja-JP" altLang="en-US" sz="2800" dirty="0"/>
              <a:t>）</a:t>
            </a:r>
          </a:p>
        </p:txBody>
      </p:sp>
      <p:graphicFrame>
        <p:nvGraphicFramePr>
          <p:cNvPr id="9" name="コンテンツ プレースホルダー 8">
            <a:extLst>
              <a:ext uri="{FF2B5EF4-FFF2-40B4-BE49-F238E27FC236}">
                <a16:creationId xmlns:a16="http://schemas.microsoft.com/office/drawing/2014/main" id="{D76BBEC9-4A53-7EA3-8960-74E12EF8CE2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43766488"/>
              </p:ext>
            </p:extLst>
          </p:nvPr>
        </p:nvGraphicFramePr>
        <p:xfrm>
          <a:off x="1217612" y="1066800"/>
          <a:ext cx="4876800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3418781862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3001972567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1707409906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37908631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product_name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price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category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rank_by_price_in_category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284810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Laptop 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ja-JP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1200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Electronics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ja-JP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1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1356356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Keyboard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ja-JP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75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Electronics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ja-JP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2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4964251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Mouse 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ja-JP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25.5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Electronics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ja-JP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3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540824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Headset 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ja-JP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150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Peripherals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ja-JP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1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7540460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Webcam 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ja-JP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50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Peripherals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ja-JP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2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4170588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NULL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ja-JP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10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Peripherals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ja-JP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3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7635749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Monitor 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ja-JP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300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NULL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ja-JP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1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60917529"/>
                  </a:ext>
                </a:extLst>
              </a:tr>
            </a:tbl>
          </a:graphicData>
        </a:graphic>
      </p:graphicFrame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EB43DD9A-A6B9-7529-0FB5-50037653380A}"/>
              </a:ext>
            </a:extLst>
          </p:cNvPr>
          <p:cNvSpPr/>
          <p:nvPr/>
        </p:nvSpPr>
        <p:spPr>
          <a:xfrm>
            <a:off x="7542212" y="1052804"/>
            <a:ext cx="4038601" cy="3652520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ja-JP" dirty="0">
                <a:solidFill>
                  <a:schemeClr val="tx1"/>
                </a:solidFill>
              </a:rPr>
              <a:t>SELECT</a:t>
            </a:r>
          </a:p>
          <a:p>
            <a:r>
              <a:rPr lang="en-US" altLang="ja-JP" dirty="0">
                <a:solidFill>
                  <a:schemeClr val="tx1"/>
                </a:solidFill>
              </a:rPr>
              <a:t>  </a:t>
            </a:r>
            <a:r>
              <a:rPr lang="en-US" altLang="ja-JP" dirty="0" err="1">
                <a:solidFill>
                  <a:schemeClr val="tx1"/>
                </a:solidFill>
              </a:rPr>
              <a:t>product_name</a:t>
            </a:r>
            <a:r>
              <a:rPr lang="en-US" altLang="ja-JP" dirty="0">
                <a:solidFill>
                  <a:schemeClr val="tx1"/>
                </a:solidFill>
              </a:rPr>
              <a:t>,</a:t>
            </a:r>
          </a:p>
          <a:p>
            <a:r>
              <a:rPr lang="en-US" altLang="ja-JP" dirty="0">
                <a:solidFill>
                  <a:schemeClr val="tx1"/>
                </a:solidFill>
              </a:rPr>
              <a:t>  price,</a:t>
            </a:r>
          </a:p>
          <a:p>
            <a:r>
              <a:rPr lang="en-US" altLang="ja-JP" dirty="0">
                <a:solidFill>
                  <a:schemeClr val="tx1"/>
                </a:solidFill>
              </a:rPr>
              <a:t>  category,</a:t>
            </a:r>
          </a:p>
          <a:p>
            <a:r>
              <a:rPr lang="en-US" altLang="ja-JP" dirty="0">
                <a:solidFill>
                  <a:schemeClr val="tx1"/>
                </a:solidFill>
              </a:rPr>
              <a:t>  </a:t>
            </a:r>
            <a:r>
              <a:rPr lang="en-US" altLang="ja-JP" dirty="0">
                <a:solidFill>
                  <a:schemeClr val="accent2"/>
                </a:solidFill>
              </a:rPr>
              <a:t>ROW_NUMBER() </a:t>
            </a:r>
            <a:r>
              <a:rPr lang="en-US" altLang="ja-JP" dirty="0">
                <a:solidFill>
                  <a:schemeClr val="accent6"/>
                </a:solidFill>
              </a:rPr>
              <a:t>OVER (</a:t>
            </a:r>
          </a:p>
          <a:p>
            <a:r>
              <a:rPr lang="ja-JP" altLang="en-US" dirty="0">
                <a:solidFill>
                  <a:schemeClr val="tx1"/>
                </a:solidFill>
              </a:rPr>
              <a:t>    </a:t>
            </a:r>
            <a:r>
              <a:rPr lang="en-US" altLang="ja-JP" dirty="0">
                <a:solidFill>
                  <a:schemeClr val="accent4"/>
                </a:solidFill>
              </a:rPr>
              <a:t>PARTITION BY category </a:t>
            </a:r>
          </a:p>
          <a:p>
            <a:r>
              <a:rPr lang="en-US" altLang="ja-JP" dirty="0">
                <a:solidFill>
                  <a:schemeClr val="accent4"/>
                </a:solidFill>
              </a:rPr>
              <a:t>    </a:t>
            </a:r>
            <a:r>
              <a:rPr lang="en-US" altLang="ja-JP" dirty="0">
                <a:solidFill>
                  <a:schemeClr val="accent5"/>
                </a:solidFill>
              </a:rPr>
              <a:t>ORDER BY price DESC</a:t>
            </a:r>
          </a:p>
          <a:p>
            <a:r>
              <a:rPr lang="ja-JP" altLang="en-US" dirty="0">
                <a:solidFill>
                  <a:schemeClr val="tx1"/>
                </a:solidFill>
              </a:rPr>
              <a:t>  </a:t>
            </a:r>
            <a:r>
              <a:rPr lang="en-US" altLang="ja-JP" dirty="0">
                <a:solidFill>
                  <a:schemeClr val="accent6"/>
                </a:solidFill>
              </a:rPr>
              <a:t>)</a:t>
            </a:r>
            <a:r>
              <a:rPr lang="en-US" altLang="ja-JP" dirty="0">
                <a:solidFill>
                  <a:schemeClr val="tx1"/>
                </a:solidFill>
              </a:rPr>
              <a:t> AS </a:t>
            </a:r>
            <a:r>
              <a:rPr lang="en-US" altLang="ja-JP" dirty="0" err="1">
                <a:solidFill>
                  <a:schemeClr val="tx1"/>
                </a:solidFill>
              </a:rPr>
              <a:t>rank_by_price_in_category</a:t>
            </a:r>
            <a:endParaRPr lang="en-US" altLang="ja-JP" dirty="0">
              <a:solidFill>
                <a:schemeClr val="tx1"/>
              </a:solidFill>
            </a:endParaRPr>
          </a:p>
          <a:p>
            <a:r>
              <a:rPr lang="en-US" altLang="ja-JP" dirty="0">
                <a:solidFill>
                  <a:schemeClr val="tx1"/>
                </a:solidFill>
              </a:rPr>
              <a:t>FROM</a:t>
            </a:r>
          </a:p>
          <a:p>
            <a:r>
              <a:rPr lang="en-US" altLang="ja-JP" dirty="0">
                <a:solidFill>
                  <a:schemeClr val="tx1"/>
                </a:solidFill>
              </a:rPr>
              <a:t>  products</a:t>
            </a:r>
          </a:p>
          <a:p>
            <a:r>
              <a:rPr lang="en-US" altLang="ja-JP" dirty="0">
                <a:solidFill>
                  <a:schemeClr val="tx1"/>
                </a:solidFill>
              </a:rPr>
              <a:t>ORDER BY</a:t>
            </a:r>
          </a:p>
          <a:p>
            <a:r>
              <a:rPr lang="en-US" altLang="ja-JP" dirty="0">
                <a:solidFill>
                  <a:schemeClr val="tx1"/>
                </a:solidFill>
              </a:rPr>
              <a:t>  category, </a:t>
            </a:r>
            <a:r>
              <a:rPr lang="en-US" altLang="ja-JP" dirty="0" err="1">
                <a:solidFill>
                  <a:schemeClr val="tx1"/>
                </a:solidFill>
              </a:rPr>
              <a:t>rank_by_price_in_category</a:t>
            </a:r>
            <a:r>
              <a:rPr lang="en-US" altLang="ja-JP" dirty="0">
                <a:solidFill>
                  <a:schemeClr val="tx1"/>
                </a:solidFill>
              </a:rPr>
              <a:t>;</a:t>
            </a:r>
          </a:p>
          <a:p>
            <a:pPr algn="ctr"/>
            <a:endParaRPr kumimoji="1" lang="ja-JP" altLang="en-US" dirty="0">
              <a:solidFill>
                <a:schemeClr val="tx1"/>
              </a:solidFill>
            </a:endParaRPr>
          </a:p>
        </p:txBody>
      </p:sp>
      <p:grpSp>
        <p:nvGrpSpPr>
          <p:cNvPr id="16" name="グループ化 15">
            <a:extLst>
              <a:ext uri="{FF2B5EF4-FFF2-40B4-BE49-F238E27FC236}">
                <a16:creationId xmlns:a16="http://schemas.microsoft.com/office/drawing/2014/main" id="{EBF2A513-6B5A-8084-8479-05F2F762BC7A}"/>
              </a:ext>
            </a:extLst>
          </p:cNvPr>
          <p:cNvGrpSpPr/>
          <p:nvPr/>
        </p:nvGrpSpPr>
        <p:grpSpPr>
          <a:xfrm>
            <a:off x="1217612" y="1447800"/>
            <a:ext cx="4876800" cy="2585720"/>
            <a:chOff x="1217612" y="1447800"/>
            <a:chExt cx="4876800" cy="2585720"/>
          </a:xfrm>
        </p:grpSpPr>
        <p:sp>
          <p:nvSpPr>
            <p:cNvPr id="13" name="正方形/長方形 12">
              <a:extLst>
                <a:ext uri="{FF2B5EF4-FFF2-40B4-BE49-F238E27FC236}">
                  <a16:creationId xmlns:a16="http://schemas.microsoft.com/office/drawing/2014/main" id="{213288E8-DA6A-7154-60D6-BC1749A83CFA}"/>
                </a:ext>
              </a:extLst>
            </p:cNvPr>
            <p:cNvSpPr/>
            <p:nvPr/>
          </p:nvSpPr>
          <p:spPr>
            <a:xfrm>
              <a:off x="1217612" y="1447800"/>
              <a:ext cx="4876800" cy="1066800"/>
            </a:xfrm>
            <a:prstGeom prst="rect">
              <a:avLst/>
            </a:prstGeom>
            <a:noFill/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chemeClr val="accent4"/>
                </a:solidFill>
              </a:endParaRPr>
            </a:p>
          </p:txBody>
        </p:sp>
        <p:sp>
          <p:nvSpPr>
            <p:cNvPr id="14" name="正方形/長方形 13">
              <a:extLst>
                <a:ext uri="{FF2B5EF4-FFF2-40B4-BE49-F238E27FC236}">
                  <a16:creationId xmlns:a16="http://schemas.microsoft.com/office/drawing/2014/main" id="{804F219A-6FA8-6183-F92D-4275EF2D2FD2}"/>
                </a:ext>
              </a:extLst>
            </p:cNvPr>
            <p:cNvSpPr/>
            <p:nvPr/>
          </p:nvSpPr>
          <p:spPr>
            <a:xfrm>
              <a:off x="1217612" y="2550160"/>
              <a:ext cx="4876800" cy="1066800"/>
            </a:xfrm>
            <a:prstGeom prst="rect">
              <a:avLst/>
            </a:prstGeom>
            <a:noFill/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chemeClr val="accent4"/>
                </a:solidFill>
              </a:endParaRPr>
            </a:p>
          </p:txBody>
        </p:sp>
        <p:sp>
          <p:nvSpPr>
            <p:cNvPr id="15" name="正方形/長方形 14">
              <a:extLst>
                <a:ext uri="{FF2B5EF4-FFF2-40B4-BE49-F238E27FC236}">
                  <a16:creationId xmlns:a16="http://schemas.microsoft.com/office/drawing/2014/main" id="{6E001525-A477-7C94-0461-039E00794A97}"/>
                </a:ext>
              </a:extLst>
            </p:cNvPr>
            <p:cNvSpPr/>
            <p:nvPr/>
          </p:nvSpPr>
          <p:spPr>
            <a:xfrm>
              <a:off x="1217612" y="3652520"/>
              <a:ext cx="4876800" cy="381000"/>
            </a:xfrm>
            <a:prstGeom prst="rect">
              <a:avLst/>
            </a:prstGeom>
            <a:noFill/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chemeClr val="accent4"/>
                </a:solidFill>
              </a:endParaRPr>
            </a:p>
          </p:txBody>
        </p:sp>
      </p:grpSp>
      <p:sp>
        <p:nvSpPr>
          <p:cNvPr id="17" name="吹き出し: 角を丸めた四角形 16">
            <a:extLst>
              <a:ext uri="{FF2B5EF4-FFF2-40B4-BE49-F238E27FC236}">
                <a16:creationId xmlns:a16="http://schemas.microsoft.com/office/drawing/2014/main" id="{05A8D0A9-3798-50E9-B66C-9B89FB3EB6C1}"/>
              </a:ext>
            </a:extLst>
          </p:cNvPr>
          <p:cNvSpPr/>
          <p:nvPr/>
        </p:nvSpPr>
        <p:spPr>
          <a:xfrm>
            <a:off x="3777573" y="4343401"/>
            <a:ext cx="3124200" cy="612648"/>
          </a:xfrm>
          <a:prstGeom prst="wedgeRoundRectCallout">
            <a:avLst>
              <a:gd name="adj1" fmla="val -29319"/>
              <a:gd name="adj2" fmla="val -88277"/>
              <a:gd name="adj3" fmla="val 16667"/>
            </a:avLst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category</a:t>
            </a:r>
            <a:r>
              <a:rPr kumimoji="1" lang="ja-JP" altLang="en-US" dirty="0"/>
              <a:t>列で</a:t>
            </a:r>
            <a:r>
              <a:rPr kumimoji="1" lang="en-US" altLang="ja-JP" dirty="0"/>
              <a:t>partition</a:t>
            </a:r>
            <a:r>
              <a:rPr kumimoji="1" lang="ja-JP" altLang="en-US" dirty="0"/>
              <a:t>を切る</a:t>
            </a:r>
          </a:p>
        </p:txBody>
      </p:sp>
      <p:grpSp>
        <p:nvGrpSpPr>
          <p:cNvPr id="22" name="グループ化 21">
            <a:extLst>
              <a:ext uri="{FF2B5EF4-FFF2-40B4-BE49-F238E27FC236}">
                <a16:creationId xmlns:a16="http://schemas.microsoft.com/office/drawing/2014/main" id="{6A91842E-5517-E132-51C4-9794C3787F37}"/>
              </a:ext>
            </a:extLst>
          </p:cNvPr>
          <p:cNvGrpSpPr/>
          <p:nvPr/>
        </p:nvGrpSpPr>
        <p:grpSpPr>
          <a:xfrm>
            <a:off x="2970212" y="1447800"/>
            <a:ext cx="492440" cy="2579500"/>
            <a:chOff x="6212534" y="1485122"/>
            <a:chExt cx="492440" cy="2579500"/>
          </a:xfrm>
        </p:grpSpPr>
        <p:sp>
          <p:nvSpPr>
            <p:cNvPr id="18" name="矢印: 下 17">
              <a:extLst>
                <a:ext uri="{FF2B5EF4-FFF2-40B4-BE49-F238E27FC236}">
                  <a16:creationId xmlns:a16="http://schemas.microsoft.com/office/drawing/2014/main" id="{6A26B86B-F163-40AE-9AE0-BAA62737F2E3}"/>
                </a:ext>
              </a:extLst>
            </p:cNvPr>
            <p:cNvSpPr/>
            <p:nvPr/>
          </p:nvSpPr>
          <p:spPr>
            <a:xfrm>
              <a:off x="6220342" y="1485122"/>
              <a:ext cx="484632" cy="978408"/>
            </a:xfrm>
            <a:prstGeom prst="downArrow">
              <a:avLst/>
            </a:prstGeom>
            <a:solidFill>
              <a:schemeClr val="accent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9" name="矢印: 下 18">
              <a:extLst>
                <a:ext uri="{FF2B5EF4-FFF2-40B4-BE49-F238E27FC236}">
                  <a16:creationId xmlns:a16="http://schemas.microsoft.com/office/drawing/2014/main" id="{1D769DD8-42F3-112C-F3E9-AECE16628058}"/>
                </a:ext>
              </a:extLst>
            </p:cNvPr>
            <p:cNvSpPr/>
            <p:nvPr/>
          </p:nvSpPr>
          <p:spPr>
            <a:xfrm>
              <a:off x="6212534" y="2594356"/>
              <a:ext cx="484632" cy="978408"/>
            </a:xfrm>
            <a:prstGeom prst="downArrow">
              <a:avLst/>
            </a:prstGeom>
            <a:solidFill>
              <a:schemeClr val="accent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0" name="矢印: 下 19">
              <a:extLst>
                <a:ext uri="{FF2B5EF4-FFF2-40B4-BE49-F238E27FC236}">
                  <a16:creationId xmlns:a16="http://schemas.microsoft.com/office/drawing/2014/main" id="{38959BF9-EAC8-C613-AF38-C4EAD5A4BFC1}"/>
                </a:ext>
              </a:extLst>
            </p:cNvPr>
            <p:cNvSpPr/>
            <p:nvPr/>
          </p:nvSpPr>
          <p:spPr>
            <a:xfrm>
              <a:off x="6212534" y="3683622"/>
              <a:ext cx="484632" cy="381000"/>
            </a:xfrm>
            <a:prstGeom prst="downArrow">
              <a:avLst/>
            </a:prstGeom>
            <a:solidFill>
              <a:schemeClr val="accent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21" name="吹き出し: 角を丸めた四角形 20">
            <a:extLst>
              <a:ext uri="{FF2B5EF4-FFF2-40B4-BE49-F238E27FC236}">
                <a16:creationId xmlns:a16="http://schemas.microsoft.com/office/drawing/2014/main" id="{D435D2A5-6DDE-4FEC-DFC4-42BCA888B61B}"/>
              </a:ext>
            </a:extLst>
          </p:cNvPr>
          <p:cNvSpPr/>
          <p:nvPr/>
        </p:nvSpPr>
        <p:spPr>
          <a:xfrm>
            <a:off x="1217612" y="4343401"/>
            <a:ext cx="2278739" cy="612648"/>
          </a:xfrm>
          <a:prstGeom prst="wedgeRoundRectCallout">
            <a:avLst>
              <a:gd name="adj1" fmla="val 22636"/>
              <a:gd name="adj2" fmla="val -83708"/>
              <a:gd name="adj3" fmla="val 16667"/>
            </a:avLst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price</a:t>
            </a:r>
            <a:r>
              <a:rPr kumimoji="1" lang="ja-JP" altLang="en-US" dirty="0"/>
              <a:t>列でソート</a:t>
            </a: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AF4AC084-BFA8-E80E-C3CD-C97B2DDD5CFF}"/>
              </a:ext>
            </a:extLst>
          </p:cNvPr>
          <p:cNvSpPr txBox="1"/>
          <p:nvPr/>
        </p:nvSpPr>
        <p:spPr>
          <a:xfrm>
            <a:off x="1979612" y="5265930"/>
            <a:ext cx="79248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ja-JP" dirty="0">
                <a:solidFill>
                  <a:schemeClr val="accent4"/>
                </a:solidFill>
              </a:rPr>
              <a:t>PARTITION BY category</a:t>
            </a:r>
            <a:r>
              <a:rPr kumimoji="1" lang="ja-JP" altLang="en-US" dirty="0"/>
              <a:t>で</a:t>
            </a:r>
            <a:r>
              <a:rPr kumimoji="1" lang="en-US" altLang="ja-JP" dirty="0"/>
              <a:t>category</a:t>
            </a:r>
            <a:r>
              <a:rPr kumimoji="1" lang="ja-JP" altLang="en-US" dirty="0"/>
              <a:t>毎にパーティション分割</a:t>
            </a:r>
            <a:endParaRPr kumimoji="1" lang="en-US" altLang="ja-JP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ja-JP" dirty="0">
                <a:solidFill>
                  <a:schemeClr val="accent5"/>
                </a:solidFill>
              </a:rPr>
              <a:t>ORDER BY price DESC</a:t>
            </a:r>
            <a:r>
              <a:rPr kumimoji="1" lang="ja-JP" altLang="en-US" dirty="0"/>
              <a:t>でソート</a:t>
            </a:r>
            <a:endParaRPr kumimoji="1" lang="en-US" altLang="ja-JP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ja-JP" dirty="0">
                <a:solidFill>
                  <a:schemeClr val="accent2"/>
                </a:solidFill>
              </a:rPr>
              <a:t>ROW_NUMBER()</a:t>
            </a:r>
            <a:r>
              <a:rPr kumimoji="1" lang="ja-JP" altLang="en-US" dirty="0"/>
              <a:t>では分割されたパーティション内で行番号を作成</a:t>
            </a:r>
            <a:endParaRPr kumimoji="1" lang="en-US" altLang="ja-JP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7811772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タイトル 6">
            <a:extLst>
              <a:ext uri="{FF2B5EF4-FFF2-40B4-BE49-F238E27FC236}">
                <a16:creationId xmlns:a16="http://schemas.microsoft.com/office/drawing/2014/main" id="{25D7315F-3B3E-8D92-5E6B-2324AA1515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5212" y="533400"/>
            <a:ext cx="8686801" cy="457200"/>
          </a:xfrm>
        </p:spPr>
        <p:txBody>
          <a:bodyPr>
            <a:normAutofit/>
          </a:bodyPr>
          <a:lstStyle/>
          <a:p>
            <a:r>
              <a:rPr lang="en-US" altLang="ja-JP" sz="2800" dirty="0"/>
              <a:t>ORDER BY </a:t>
            </a:r>
            <a:r>
              <a:rPr lang="ja-JP" altLang="en-US" sz="2800" dirty="0"/>
              <a:t>と フレーム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idx="1"/>
          </p:nvPr>
        </p:nvSpPr>
        <p:spPr>
          <a:xfrm>
            <a:off x="1065212" y="2133600"/>
            <a:ext cx="8686801" cy="1524000"/>
          </a:xfrm>
        </p:spPr>
        <p:txBody>
          <a:bodyPr>
            <a:normAutofit/>
          </a:bodyPr>
          <a:lstStyle/>
          <a:p>
            <a:pPr marL="45720" indent="0">
              <a:buNone/>
            </a:pPr>
            <a:r>
              <a:rPr kumimoji="1" lang="en-US" altLang="ja-JP" dirty="0">
                <a:solidFill>
                  <a:schemeClr val="tx1"/>
                </a:solidFill>
                <a:latin typeface="+mn-ea"/>
                <a:ea typeface="+mn-ea"/>
              </a:rPr>
              <a:t>ROWS</a:t>
            </a:r>
            <a:r>
              <a:rPr kumimoji="1" lang="ja-JP" altLang="en-US" dirty="0">
                <a:solidFill>
                  <a:schemeClr val="tx1"/>
                </a:solidFill>
                <a:latin typeface="+mn-ea"/>
                <a:ea typeface="+mn-ea"/>
              </a:rPr>
              <a:t>：</a:t>
            </a:r>
            <a:br>
              <a:rPr lang="en-US" altLang="ja-JP" dirty="0">
                <a:solidFill>
                  <a:schemeClr val="tx1"/>
                </a:solidFill>
                <a:latin typeface="+mn-ea"/>
                <a:ea typeface="+mn-ea"/>
              </a:rPr>
            </a:br>
            <a:r>
              <a:rPr lang="ja-JP" altLang="en-US" dirty="0">
                <a:solidFill>
                  <a:schemeClr val="tx1"/>
                </a:solidFill>
                <a:latin typeface="+mn-ea"/>
                <a:ea typeface="+mn-ea"/>
              </a:rPr>
              <a:t>物理的な「行数」でフレームを定義</a:t>
            </a:r>
            <a:endParaRPr lang="en-US" altLang="ja-JP" dirty="0">
              <a:solidFill>
                <a:schemeClr val="tx1"/>
              </a:solidFill>
              <a:latin typeface="+mn-ea"/>
              <a:ea typeface="+mn-ea"/>
            </a:endParaRPr>
          </a:p>
          <a:p>
            <a:pPr marL="45720" indent="0">
              <a:buNone/>
            </a:pPr>
            <a:r>
              <a:rPr lang="en-US" altLang="ja-JP" dirty="0">
                <a:solidFill>
                  <a:schemeClr val="tx1"/>
                </a:solidFill>
                <a:latin typeface="+mn-ea"/>
                <a:ea typeface="+mn-ea"/>
              </a:rPr>
              <a:t>RANGE</a:t>
            </a:r>
            <a:r>
              <a:rPr lang="ja-JP" altLang="en-US" dirty="0">
                <a:solidFill>
                  <a:schemeClr val="tx1"/>
                </a:solidFill>
                <a:latin typeface="+mn-ea"/>
                <a:ea typeface="+mn-ea"/>
              </a:rPr>
              <a:t>：</a:t>
            </a:r>
            <a:br>
              <a:rPr lang="en-US" altLang="ja-JP" dirty="0">
                <a:solidFill>
                  <a:schemeClr val="tx1"/>
                </a:solidFill>
                <a:latin typeface="+mn-ea"/>
                <a:ea typeface="+mn-ea"/>
              </a:rPr>
            </a:br>
            <a:r>
              <a:rPr lang="en-US" altLang="ja-JP" dirty="0">
                <a:solidFill>
                  <a:schemeClr val="tx1"/>
                </a:solidFill>
                <a:latin typeface="+mn-ea"/>
                <a:ea typeface="+mn-ea"/>
              </a:rPr>
              <a:t>ORDER BY </a:t>
            </a:r>
            <a:r>
              <a:rPr lang="ja-JP" altLang="en-US" dirty="0">
                <a:solidFill>
                  <a:schemeClr val="tx1"/>
                </a:solidFill>
                <a:latin typeface="+mn-ea"/>
                <a:ea typeface="+mn-ea"/>
              </a:rPr>
              <a:t>句で指定された列の「値の範囲」でフレームを定義</a:t>
            </a:r>
            <a:endParaRPr lang="en-US" altLang="ja-JP" dirty="0">
              <a:solidFill>
                <a:schemeClr val="tx1"/>
              </a:solidFill>
              <a:latin typeface="+mn-ea"/>
              <a:ea typeface="+mn-ea"/>
            </a:endParaRPr>
          </a:p>
          <a:p>
            <a:pPr marL="45720" indent="0">
              <a:buNone/>
            </a:pPr>
            <a:endParaRPr lang="en-US" altLang="ja-JP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503CEFEC-587C-21E6-A45E-99A70F417570}"/>
              </a:ext>
            </a:extLst>
          </p:cNvPr>
          <p:cNvSpPr/>
          <p:nvPr/>
        </p:nvSpPr>
        <p:spPr>
          <a:xfrm>
            <a:off x="1141412" y="1143000"/>
            <a:ext cx="5715000" cy="914400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>
                <a:solidFill>
                  <a:schemeClr val="tx1"/>
                </a:solidFill>
              </a:rPr>
              <a:t>{ ROWS | RANGE } BETWEEN &lt;</a:t>
            </a:r>
            <a:r>
              <a:rPr lang="ja-JP" altLang="en-US" dirty="0">
                <a:solidFill>
                  <a:schemeClr val="tx1"/>
                </a:solidFill>
              </a:rPr>
              <a:t>開始点</a:t>
            </a:r>
            <a:r>
              <a:rPr lang="en-US" altLang="ja-JP" dirty="0">
                <a:solidFill>
                  <a:schemeClr val="tx1"/>
                </a:solidFill>
              </a:rPr>
              <a:t>&gt; AND &lt;</a:t>
            </a:r>
            <a:r>
              <a:rPr lang="ja-JP" altLang="en-US" dirty="0">
                <a:solidFill>
                  <a:schemeClr val="tx1"/>
                </a:solidFill>
              </a:rPr>
              <a:t>終了点</a:t>
            </a:r>
            <a:r>
              <a:rPr lang="en-US" altLang="ja-JP" dirty="0">
                <a:solidFill>
                  <a:schemeClr val="tx1"/>
                </a:solidFill>
              </a:rPr>
              <a:t>&gt;</a:t>
            </a:r>
            <a:endParaRPr kumimoji="1" lang="ja-JP" altLang="ja-JP" dirty="0">
              <a:solidFill>
                <a:schemeClr val="tx1"/>
              </a:solidFill>
              <a:latin typeface="Meiryo UI" charset="0"/>
              <a:ea typeface="Meiryo UI" charset="0"/>
            </a:endParaRPr>
          </a:p>
        </p:txBody>
      </p:sp>
      <p:sp>
        <p:nvSpPr>
          <p:cNvPr id="9" name="コンテンツ プレースホルダー 5">
            <a:extLst>
              <a:ext uri="{FF2B5EF4-FFF2-40B4-BE49-F238E27FC236}">
                <a16:creationId xmlns:a16="http://schemas.microsoft.com/office/drawing/2014/main" id="{11C57F12-228F-7249-D677-474DB43B5DEC}"/>
              </a:ext>
            </a:extLst>
          </p:cNvPr>
          <p:cNvSpPr txBox="1">
            <a:spLocks/>
          </p:cNvSpPr>
          <p:nvPr/>
        </p:nvSpPr>
        <p:spPr>
          <a:xfrm>
            <a:off x="1076065" y="3733800"/>
            <a:ext cx="8686801" cy="1752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7432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Char char="•"/>
              <a:defRPr kumimoji="1" lang="ja-JP"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  <a:lvl2pPr marL="59436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Char char="•"/>
              <a:defRPr kumimoji="1" lang="ja-JP"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2pPr>
            <a:lvl3pPr marL="77724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Char char="•"/>
              <a:defRPr kumimoji="1" lang="ja-JP"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3pPr>
            <a:lvl4pPr marL="96012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Char char="•"/>
              <a:defRPr kumimoji="1" lang="ja-JP"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4pPr>
            <a:lvl5pPr marL="1097280" indent="-13716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Char char="•"/>
              <a:defRPr kumimoji="1" lang="ja-JP"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5pPr>
            <a:lvl6pPr marL="1234440" indent="-137160" algn="l" defTabSz="914400" rtl="0" eaLnBrk="1" latinLnBrk="0" hangingPunct="1">
              <a:spcBef>
                <a:spcPts val="600"/>
              </a:spcBef>
              <a:buSzPct val="80000"/>
              <a:buFont typeface="Arial" pitchFamily="34" charset="0"/>
              <a:buChar char="•"/>
              <a:defRPr kumimoji="1" lang="ja-JP"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71600" indent="-137160" algn="l" defTabSz="914400" rtl="0" eaLnBrk="1" latinLnBrk="0" hangingPunct="1">
              <a:spcBef>
                <a:spcPts val="600"/>
              </a:spcBef>
              <a:buSzPct val="80000"/>
              <a:buFont typeface="Arial" pitchFamily="34" charset="0"/>
              <a:buChar char="•"/>
              <a:defRPr kumimoji="1" lang="ja-JP"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8760" indent="-137160" algn="l" defTabSz="914400" rtl="0" eaLnBrk="1" latinLnBrk="0" hangingPunct="1">
              <a:spcBef>
                <a:spcPts val="600"/>
              </a:spcBef>
              <a:buSzPct val="80000"/>
              <a:buFont typeface="Arial" pitchFamily="34" charset="0"/>
              <a:buChar char="•"/>
              <a:defRPr kumimoji="1" lang="ja-JP"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45920" indent="-137160" algn="l" defTabSz="914400" rtl="0" eaLnBrk="1" latinLnBrk="0" hangingPunct="1">
              <a:spcBef>
                <a:spcPts val="600"/>
              </a:spcBef>
              <a:buSzPct val="80000"/>
              <a:buFont typeface="Arial" pitchFamily="34" charset="0"/>
              <a:buChar char="•"/>
              <a:defRPr kumimoji="1" lang="ja-JP"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" indent="0">
              <a:buNone/>
            </a:pPr>
            <a:r>
              <a:rPr lang="ja-JP" altLang="en-US" dirty="0">
                <a:solidFill>
                  <a:schemeClr val="tx1"/>
                </a:solidFill>
                <a:latin typeface="+mn-ea"/>
                <a:ea typeface="+mn-ea"/>
              </a:rPr>
              <a:t>開始点</a:t>
            </a:r>
            <a:r>
              <a:rPr lang="en-US" altLang="ja-JP" dirty="0">
                <a:solidFill>
                  <a:schemeClr val="tx1"/>
                </a:solidFill>
                <a:latin typeface="+mn-ea"/>
                <a:ea typeface="+mn-ea"/>
              </a:rPr>
              <a:t>/</a:t>
            </a:r>
            <a:r>
              <a:rPr lang="ja-JP" altLang="en-US" dirty="0">
                <a:solidFill>
                  <a:schemeClr val="tx1"/>
                </a:solidFill>
                <a:latin typeface="+mn-ea"/>
                <a:ea typeface="+mn-ea"/>
              </a:rPr>
              <a:t>終了点：</a:t>
            </a:r>
            <a:br>
              <a:rPr lang="en-US" altLang="ja-JP" dirty="0">
                <a:solidFill>
                  <a:schemeClr val="tx1"/>
                </a:solidFill>
                <a:latin typeface="+mn-ea"/>
                <a:ea typeface="+mn-ea"/>
              </a:rPr>
            </a:br>
            <a:r>
              <a:rPr lang="ja-JP" altLang="en-US" dirty="0">
                <a:solidFill>
                  <a:schemeClr val="tx1"/>
                </a:solidFill>
                <a:latin typeface="+mn-ea"/>
                <a:ea typeface="+mn-ea"/>
              </a:rPr>
              <a:t>・</a:t>
            </a:r>
            <a:r>
              <a:rPr lang="en-US" altLang="ja-JP" dirty="0">
                <a:solidFill>
                  <a:schemeClr val="tx1"/>
                </a:solidFill>
                <a:latin typeface="+mn-ea"/>
                <a:ea typeface="+mn-ea"/>
              </a:rPr>
              <a:t>UNBOUNDED PRECEDING: </a:t>
            </a:r>
            <a:r>
              <a:rPr lang="ja-JP" altLang="en-US" dirty="0">
                <a:solidFill>
                  <a:schemeClr val="tx1"/>
                </a:solidFill>
                <a:latin typeface="+mn-ea"/>
                <a:ea typeface="+mn-ea"/>
              </a:rPr>
              <a:t>パーティションの</a:t>
            </a:r>
            <a:r>
              <a:rPr lang="ja-JP" altLang="en-US" b="1" dirty="0">
                <a:solidFill>
                  <a:schemeClr val="tx1"/>
                </a:solidFill>
                <a:latin typeface="+mn-ea"/>
                <a:ea typeface="+mn-ea"/>
              </a:rPr>
              <a:t>先頭</a:t>
            </a:r>
            <a:r>
              <a:rPr lang="ja-JP" altLang="en-US" dirty="0">
                <a:solidFill>
                  <a:schemeClr val="tx1"/>
                </a:solidFill>
                <a:latin typeface="+mn-ea"/>
                <a:ea typeface="+mn-ea"/>
              </a:rPr>
              <a:t>の行</a:t>
            </a:r>
            <a:r>
              <a:rPr lang="en-US" altLang="ja-JP" dirty="0">
                <a:solidFill>
                  <a:schemeClr val="tx1"/>
                </a:solidFill>
                <a:latin typeface="+mn-ea"/>
                <a:ea typeface="+mn-ea"/>
              </a:rPr>
              <a:t>/</a:t>
            </a:r>
            <a:r>
              <a:rPr lang="ja-JP" altLang="en-US" dirty="0">
                <a:solidFill>
                  <a:schemeClr val="tx1"/>
                </a:solidFill>
                <a:latin typeface="+mn-ea"/>
                <a:ea typeface="+mn-ea"/>
              </a:rPr>
              <a:t>値</a:t>
            </a:r>
            <a:br>
              <a:rPr lang="en-US" altLang="ja-JP" dirty="0">
                <a:solidFill>
                  <a:schemeClr val="tx1"/>
                </a:solidFill>
                <a:latin typeface="+mn-ea"/>
                <a:ea typeface="+mn-ea"/>
              </a:rPr>
            </a:br>
            <a:r>
              <a:rPr lang="ja-JP" altLang="en-US" dirty="0">
                <a:solidFill>
                  <a:schemeClr val="tx1"/>
                </a:solidFill>
                <a:latin typeface="+mn-ea"/>
                <a:ea typeface="+mn-ea"/>
              </a:rPr>
              <a:t>・</a:t>
            </a:r>
            <a:r>
              <a:rPr lang="en-US" altLang="ja-JP" dirty="0">
                <a:solidFill>
                  <a:schemeClr val="tx1"/>
                </a:solidFill>
                <a:latin typeface="+mn-ea"/>
                <a:ea typeface="+mn-ea"/>
              </a:rPr>
              <a:t>&lt;N&gt; PRECEDING: </a:t>
            </a:r>
            <a:r>
              <a:rPr lang="ja-JP" altLang="en-US" dirty="0">
                <a:solidFill>
                  <a:schemeClr val="tx1"/>
                </a:solidFill>
                <a:latin typeface="+mn-ea"/>
                <a:ea typeface="+mn-ea"/>
              </a:rPr>
              <a:t>現在の行から</a:t>
            </a:r>
            <a:r>
              <a:rPr lang="en-US" altLang="ja-JP" dirty="0">
                <a:solidFill>
                  <a:schemeClr val="tx1"/>
                </a:solidFill>
                <a:latin typeface="+mn-ea"/>
                <a:ea typeface="+mn-ea"/>
              </a:rPr>
              <a:t>N </a:t>
            </a:r>
            <a:r>
              <a:rPr lang="ja-JP" altLang="en-US" dirty="0">
                <a:solidFill>
                  <a:schemeClr val="tx1"/>
                </a:solidFill>
                <a:latin typeface="+mn-ea"/>
                <a:ea typeface="+mn-ea"/>
              </a:rPr>
              <a:t>行（または </a:t>
            </a:r>
            <a:r>
              <a:rPr lang="en-US" altLang="ja-JP" dirty="0">
                <a:solidFill>
                  <a:schemeClr val="tx1"/>
                </a:solidFill>
                <a:latin typeface="+mn-ea"/>
                <a:ea typeface="+mn-ea"/>
              </a:rPr>
              <a:t>N </a:t>
            </a:r>
            <a:r>
              <a:rPr lang="ja-JP" altLang="en-US" dirty="0">
                <a:solidFill>
                  <a:schemeClr val="tx1"/>
                </a:solidFill>
                <a:latin typeface="+mn-ea"/>
                <a:ea typeface="+mn-ea"/>
              </a:rPr>
              <a:t>単位）前</a:t>
            </a:r>
            <a:br>
              <a:rPr lang="en-US" altLang="ja-JP" dirty="0">
                <a:solidFill>
                  <a:schemeClr val="tx1"/>
                </a:solidFill>
                <a:latin typeface="+mn-ea"/>
                <a:ea typeface="+mn-ea"/>
              </a:rPr>
            </a:br>
            <a:r>
              <a:rPr lang="ja-JP" altLang="en-US" dirty="0">
                <a:solidFill>
                  <a:schemeClr val="tx1"/>
                </a:solidFill>
                <a:latin typeface="+mn-ea"/>
                <a:ea typeface="+mn-ea"/>
              </a:rPr>
              <a:t>・</a:t>
            </a:r>
            <a:r>
              <a:rPr lang="en-US" altLang="ja-JP" dirty="0">
                <a:solidFill>
                  <a:schemeClr val="tx1"/>
                </a:solidFill>
                <a:latin typeface="+mn-ea"/>
                <a:ea typeface="+mn-ea"/>
              </a:rPr>
              <a:t>CURRENT ROW: </a:t>
            </a:r>
            <a:r>
              <a:rPr lang="ja-JP" altLang="en-US" dirty="0">
                <a:solidFill>
                  <a:schemeClr val="tx1"/>
                </a:solidFill>
                <a:latin typeface="+mn-ea"/>
                <a:ea typeface="+mn-ea"/>
              </a:rPr>
              <a:t>現在の行</a:t>
            </a:r>
            <a:br>
              <a:rPr lang="en-US" altLang="ja-JP" dirty="0">
                <a:solidFill>
                  <a:schemeClr val="tx1"/>
                </a:solidFill>
                <a:latin typeface="+mn-ea"/>
                <a:ea typeface="+mn-ea"/>
              </a:rPr>
            </a:br>
            <a:r>
              <a:rPr lang="ja-JP" altLang="en-US" dirty="0">
                <a:solidFill>
                  <a:schemeClr val="tx1"/>
                </a:solidFill>
                <a:latin typeface="+mn-ea"/>
                <a:ea typeface="+mn-ea"/>
              </a:rPr>
              <a:t>・</a:t>
            </a:r>
            <a:r>
              <a:rPr lang="en-US" altLang="ja-JP" dirty="0">
                <a:solidFill>
                  <a:schemeClr val="tx1"/>
                </a:solidFill>
                <a:latin typeface="+mn-ea"/>
                <a:ea typeface="+mn-ea"/>
              </a:rPr>
              <a:t>&lt;N&gt; FOLLOWING: </a:t>
            </a:r>
            <a:r>
              <a:rPr lang="ja-JP" altLang="en-US" dirty="0">
                <a:solidFill>
                  <a:schemeClr val="tx1"/>
                </a:solidFill>
                <a:latin typeface="+mn-ea"/>
                <a:ea typeface="+mn-ea"/>
              </a:rPr>
              <a:t>現在の行から</a:t>
            </a:r>
            <a:r>
              <a:rPr lang="en-US" altLang="ja-JP" dirty="0">
                <a:solidFill>
                  <a:schemeClr val="tx1"/>
                </a:solidFill>
                <a:latin typeface="+mn-ea"/>
                <a:ea typeface="+mn-ea"/>
              </a:rPr>
              <a:t>N </a:t>
            </a:r>
            <a:r>
              <a:rPr lang="ja-JP" altLang="en-US" dirty="0">
                <a:solidFill>
                  <a:schemeClr val="tx1"/>
                </a:solidFill>
                <a:latin typeface="+mn-ea"/>
                <a:ea typeface="+mn-ea"/>
              </a:rPr>
              <a:t>行（または </a:t>
            </a:r>
            <a:r>
              <a:rPr lang="en-US" altLang="ja-JP" dirty="0">
                <a:solidFill>
                  <a:schemeClr val="tx1"/>
                </a:solidFill>
                <a:latin typeface="+mn-ea"/>
                <a:ea typeface="+mn-ea"/>
              </a:rPr>
              <a:t>N </a:t>
            </a:r>
            <a:r>
              <a:rPr lang="ja-JP" altLang="en-US" dirty="0">
                <a:solidFill>
                  <a:schemeClr val="tx1"/>
                </a:solidFill>
                <a:latin typeface="+mn-ea"/>
                <a:ea typeface="+mn-ea"/>
              </a:rPr>
              <a:t>単位）後</a:t>
            </a:r>
            <a:br>
              <a:rPr lang="en-US" altLang="ja-JP" dirty="0">
                <a:solidFill>
                  <a:schemeClr val="tx1"/>
                </a:solidFill>
                <a:latin typeface="+mn-ea"/>
                <a:ea typeface="+mn-ea"/>
              </a:rPr>
            </a:br>
            <a:r>
              <a:rPr lang="ja-JP" altLang="en-US" dirty="0">
                <a:solidFill>
                  <a:schemeClr val="tx1"/>
                </a:solidFill>
                <a:latin typeface="+mn-ea"/>
                <a:ea typeface="+mn-ea"/>
              </a:rPr>
              <a:t>・</a:t>
            </a:r>
            <a:r>
              <a:rPr lang="en-US" altLang="ja-JP" dirty="0">
                <a:solidFill>
                  <a:schemeClr val="tx1"/>
                </a:solidFill>
                <a:latin typeface="+mn-ea"/>
                <a:ea typeface="+mn-ea"/>
              </a:rPr>
              <a:t>UNBOUNDED FOLLOWING: </a:t>
            </a:r>
            <a:r>
              <a:rPr lang="ja-JP" altLang="en-US" dirty="0">
                <a:solidFill>
                  <a:schemeClr val="tx1"/>
                </a:solidFill>
                <a:latin typeface="+mn-ea"/>
                <a:ea typeface="+mn-ea"/>
              </a:rPr>
              <a:t>パーティションの末尾の行</a:t>
            </a:r>
            <a:r>
              <a:rPr lang="en-US" altLang="ja-JP" dirty="0">
                <a:solidFill>
                  <a:schemeClr val="tx1"/>
                </a:solidFill>
                <a:latin typeface="+mn-ea"/>
                <a:ea typeface="+mn-ea"/>
              </a:rPr>
              <a:t>/</a:t>
            </a:r>
            <a:r>
              <a:rPr lang="ja-JP" altLang="en-US" dirty="0">
                <a:solidFill>
                  <a:schemeClr val="tx1"/>
                </a:solidFill>
                <a:latin typeface="+mn-ea"/>
                <a:ea typeface="+mn-ea"/>
              </a:rPr>
              <a:t>値</a:t>
            </a:r>
            <a:endParaRPr lang="en-US" altLang="ja-JP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A4E776A9-F92D-4BBE-5B55-ABB0806E77FA}"/>
              </a:ext>
            </a:extLst>
          </p:cNvPr>
          <p:cNvSpPr txBox="1"/>
          <p:nvPr/>
        </p:nvSpPr>
        <p:spPr>
          <a:xfrm>
            <a:off x="1446212" y="5562600"/>
            <a:ext cx="89916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400" dirty="0">
                <a:latin typeface="+mn-ea"/>
              </a:rPr>
              <a:t>例：</a:t>
            </a:r>
            <a:endParaRPr kumimoji="1" lang="en-US" altLang="ja-JP" sz="1400" dirty="0">
              <a:latin typeface="+mn-ea"/>
            </a:endParaRPr>
          </a:p>
          <a:p>
            <a:r>
              <a:rPr kumimoji="1" lang="en-US" altLang="ja-JP" sz="1400" b="1" dirty="0">
                <a:latin typeface="+mn-ea"/>
              </a:rPr>
              <a:t>ROWS BETWEEN 1 </a:t>
            </a:r>
            <a:r>
              <a:rPr lang="en-US" altLang="ja-JP" sz="1400" b="1" dirty="0">
                <a:latin typeface="+mn-ea"/>
              </a:rPr>
              <a:t>PRECEDING AND</a:t>
            </a:r>
            <a:r>
              <a:rPr lang="ja-JP" altLang="en-US" sz="1400" b="1" dirty="0">
                <a:latin typeface="+mn-ea"/>
              </a:rPr>
              <a:t> </a:t>
            </a:r>
            <a:r>
              <a:rPr lang="en-US" altLang="ja-JP" sz="1400" b="1" dirty="0">
                <a:latin typeface="+mn-ea"/>
              </a:rPr>
              <a:t>CURRENT ROW</a:t>
            </a:r>
            <a:r>
              <a:rPr lang="ja-JP" altLang="en-US" sz="1400" b="1" dirty="0">
                <a:latin typeface="+mn-ea"/>
              </a:rPr>
              <a:t>⇒一行前から現在の行を対象</a:t>
            </a:r>
            <a:endParaRPr lang="en-US" altLang="ja-JP" sz="1400" b="1" dirty="0">
              <a:latin typeface="+mn-ea"/>
            </a:endParaRPr>
          </a:p>
          <a:p>
            <a:r>
              <a:rPr lang="en-US" altLang="ja-JP" sz="1400" b="1" dirty="0">
                <a:latin typeface="+mn-ea"/>
              </a:rPr>
              <a:t>RANGE BETWEEN 1 PRECEDING AND CURRENT ROW</a:t>
            </a:r>
            <a:r>
              <a:rPr lang="ja-JP" altLang="en-US" sz="1400" b="1" dirty="0">
                <a:latin typeface="+mn-ea"/>
              </a:rPr>
              <a:t>⇒値（</a:t>
            </a:r>
            <a:r>
              <a:rPr lang="en-US" altLang="ja-JP" sz="1400" b="1" dirty="0">
                <a:latin typeface="+mn-ea"/>
              </a:rPr>
              <a:t>order by</a:t>
            </a:r>
            <a:r>
              <a:rPr lang="ja-JP" altLang="en-US" sz="1400" b="1" dirty="0">
                <a:latin typeface="+mn-ea"/>
              </a:rPr>
              <a:t>で指定した行）が</a:t>
            </a:r>
            <a:r>
              <a:rPr lang="en-US" altLang="ja-JP" sz="1400" b="1" dirty="0">
                <a:latin typeface="+mn-ea"/>
              </a:rPr>
              <a:t>1</a:t>
            </a:r>
            <a:r>
              <a:rPr lang="ja-JP" altLang="en-US" sz="1400" b="1" dirty="0">
                <a:latin typeface="+mn-ea"/>
              </a:rPr>
              <a:t>小さいものから現在の行</a:t>
            </a:r>
            <a:endParaRPr kumimoji="1" lang="ja-JP" altLang="en-US" sz="14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3493969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1F56C3D-A04B-24CE-CE63-37C25BA9B9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5212" y="533400"/>
            <a:ext cx="8686801" cy="533400"/>
          </a:xfrm>
        </p:spPr>
        <p:txBody>
          <a:bodyPr>
            <a:normAutofit fontScale="90000"/>
          </a:bodyPr>
          <a:lstStyle/>
          <a:p>
            <a:r>
              <a:rPr lang="en-US" altLang="ja-JP" sz="2800" dirty="0"/>
              <a:t>ORDER BY </a:t>
            </a:r>
            <a:r>
              <a:rPr lang="ja-JP" altLang="en-US" sz="2800" dirty="0"/>
              <a:t>と フレームの使用例（</a:t>
            </a:r>
            <a:r>
              <a:rPr lang="en-US" altLang="ja-JP" sz="2800" dirty="0"/>
              <a:t>ROWS</a:t>
            </a:r>
            <a:r>
              <a:rPr lang="ja-JP" altLang="en-US" sz="2800" dirty="0"/>
              <a:t>）</a:t>
            </a:r>
            <a:br>
              <a:rPr lang="en-US" altLang="ja-JP" sz="2800" dirty="0"/>
            </a:br>
            <a:r>
              <a:rPr lang="en-US" altLang="ja-JP" sz="1100" dirty="0">
                <a:solidFill>
                  <a:schemeClr val="accent4"/>
                </a:solidFill>
              </a:rPr>
              <a:t>※partition</a:t>
            </a:r>
            <a:r>
              <a:rPr lang="ja-JP" altLang="en-US" sz="1100" dirty="0">
                <a:solidFill>
                  <a:schemeClr val="accent4"/>
                </a:solidFill>
              </a:rPr>
              <a:t>未使用のため、表全体が</a:t>
            </a:r>
            <a:r>
              <a:rPr lang="en-US" altLang="ja-JP" sz="1100" dirty="0">
                <a:solidFill>
                  <a:schemeClr val="accent4"/>
                </a:solidFill>
              </a:rPr>
              <a:t>1</a:t>
            </a:r>
            <a:r>
              <a:rPr lang="ja-JP" altLang="en-US" sz="1100" dirty="0">
                <a:solidFill>
                  <a:schemeClr val="accent4"/>
                </a:solidFill>
              </a:rPr>
              <a:t>つのパーティションと捉える</a:t>
            </a:r>
            <a:endParaRPr kumimoji="1" lang="ja-JP" altLang="en-US" sz="1100" dirty="0">
              <a:solidFill>
                <a:schemeClr val="accent4"/>
              </a:solidFill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BED78F0-97A2-0ED4-6B56-2216FDA014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0412" y="4648200"/>
            <a:ext cx="10896600" cy="1447800"/>
          </a:xfrm>
        </p:spPr>
        <p:txBody>
          <a:bodyPr>
            <a:normAutofit/>
          </a:bodyPr>
          <a:lstStyle/>
          <a:p>
            <a:pPr marL="45720" indent="0">
              <a:buNone/>
            </a:pPr>
            <a:r>
              <a:rPr kumimoji="1" lang="ja-JP" altLang="en-US" dirty="0">
                <a:solidFill>
                  <a:schemeClr val="tx1"/>
                </a:solidFill>
                <a:latin typeface="+mn-ea"/>
                <a:ea typeface="+mn-ea"/>
              </a:rPr>
              <a:t>上記、営業売上のデータから</a:t>
            </a:r>
            <a:r>
              <a:rPr lang="en-US" altLang="ja-JP" dirty="0">
                <a:solidFill>
                  <a:schemeClr val="tx1"/>
                </a:solidFill>
                <a:latin typeface="+mn-ea"/>
                <a:ea typeface="+mn-ea"/>
              </a:rPr>
              <a:t>2</a:t>
            </a:r>
            <a:r>
              <a:rPr lang="ja-JP" altLang="en-US" dirty="0">
                <a:solidFill>
                  <a:schemeClr val="tx1"/>
                </a:solidFill>
                <a:latin typeface="+mn-ea"/>
                <a:ea typeface="+mn-ea"/>
              </a:rPr>
              <a:t>行</a:t>
            </a:r>
            <a:r>
              <a:rPr kumimoji="1" lang="ja-JP" altLang="en-US" dirty="0">
                <a:solidFill>
                  <a:schemeClr val="tx1"/>
                </a:solidFill>
                <a:latin typeface="+mn-ea"/>
                <a:ea typeface="+mn-ea"/>
              </a:rPr>
              <a:t>ごとの移動平均</a:t>
            </a:r>
            <a:r>
              <a:rPr lang="ja-JP" altLang="en-US" dirty="0">
                <a:solidFill>
                  <a:schemeClr val="tx1"/>
                </a:solidFill>
                <a:latin typeface="+mn-ea"/>
                <a:ea typeface="+mn-ea"/>
              </a:rPr>
              <a:t>を</a:t>
            </a:r>
            <a:r>
              <a:rPr kumimoji="1" lang="ja-JP" altLang="en-US" dirty="0">
                <a:solidFill>
                  <a:schemeClr val="tx1"/>
                </a:solidFill>
                <a:latin typeface="+mn-ea"/>
                <a:ea typeface="+mn-ea"/>
              </a:rPr>
              <a:t>出力している。</a:t>
            </a:r>
            <a:endParaRPr lang="en-US" altLang="ja-JP" dirty="0">
              <a:solidFill>
                <a:schemeClr val="tx1"/>
              </a:solidFill>
              <a:latin typeface="+mn-ea"/>
              <a:ea typeface="+mn-ea"/>
            </a:endParaRPr>
          </a:p>
          <a:p>
            <a:pPr marL="45720" indent="0">
              <a:buNone/>
            </a:pPr>
            <a:r>
              <a:rPr lang="en-US" altLang="ja-JP" dirty="0" err="1">
                <a:solidFill>
                  <a:schemeClr val="tx1"/>
                </a:solidFill>
                <a:latin typeface="+mn-ea"/>
                <a:ea typeface="+mn-ea"/>
              </a:rPr>
              <a:t>sale_date</a:t>
            </a:r>
            <a:r>
              <a:rPr lang="ja-JP" altLang="en-US" dirty="0">
                <a:solidFill>
                  <a:schemeClr val="tx1"/>
                </a:solidFill>
                <a:latin typeface="+mn-ea"/>
                <a:ea typeface="+mn-ea"/>
              </a:rPr>
              <a:t>でソートし、</a:t>
            </a:r>
            <a:r>
              <a:rPr lang="en-US" altLang="ja-JP" dirty="0">
                <a:solidFill>
                  <a:schemeClr val="tx1"/>
                </a:solidFill>
                <a:latin typeface="+mn-ea"/>
                <a:ea typeface="+mn-ea"/>
              </a:rPr>
              <a:t>1</a:t>
            </a:r>
            <a:r>
              <a:rPr lang="ja-JP" altLang="en-US" dirty="0">
                <a:solidFill>
                  <a:schemeClr val="tx1"/>
                </a:solidFill>
                <a:latin typeface="+mn-ea"/>
                <a:ea typeface="+mn-ea"/>
              </a:rPr>
              <a:t>行前から現在の行までを</a:t>
            </a:r>
            <a:r>
              <a:rPr lang="en-US" altLang="ja-JP" dirty="0">
                <a:solidFill>
                  <a:schemeClr val="tx1"/>
                </a:solidFill>
                <a:latin typeface="+mn-ea"/>
                <a:ea typeface="+mn-ea"/>
              </a:rPr>
              <a:t>AVG</a:t>
            </a:r>
            <a:r>
              <a:rPr lang="ja-JP" altLang="en-US" dirty="0">
                <a:solidFill>
                  <a:schemeClr val="tx1"/>
                </a:solidFill>
                <a:latin typeface="+mn-ea"/>
                <a:ea typeface="+mn-ea"/>
              </a:rPr>
              <a:t>関数の処理範囲として指定している。</a:t>
            </a:r>
            <a:endParaRPr lang="en-US" altLang="ja-JP" dirty="0">
              <a:solidFill>
                <a:schemeClr val="tx1"/>
              </a:solidFill>
              <a:latin typeface="+mn-ea"/>
              <a:ea typeface="+mn-ea"/>
            </a:endParaRPr>
          </a:p>
          <a:p>
            <a:pPr marL="45720" indent="0">
              <a:buNone/>
            </a:pPr>
            <a:r>
              <a:rPr lang="en-US" altLang="ja-JP" sz="1300" b="1" dirty="0">
                <a:solidFill>
                  <a:schemeClr val="tx1"/>
                </a:solidFill>
                <a:latin typeface="+mn-ea"/>
                <a:ea typeface="+mn-ea"/>
              </a:rPr>
              <a:t>※</a:t>
            </a:r>
            <a:r>
              <a:rPr lang="ja-JP" altLang="en-US" sz="1300" b="1" dirty="0">
                <a:solidFill>
                  <a:schemeClr val="tx1"/>
                </a:solidFill>
                <a:latin typeface="+mn-ea"/>
                <a:ea typeface="+mn-ea"/>
              </a:rPr>
              <a:t>移動平均とは？：時系列データを特定の期間で平均化し、データの変動を滑らかにすることで、長期的な傾向を把握しやすくする統計手法</a:t>
            </a:r>
            <a:endParaRPr lang="en-US" altLang="ja-JP" sz="1300" b="1" dirty="0">
              <a:solidFill>
                <a:schemeClr val="tx1"/>
              </a:solidFill>
              <a:latin typeface="+mn-ea"/>
              <a:ea typeface="+mn-ea"/>
            </a:endParaRPr>
          </a:p>
          <a:p>
            <a:pPr marL="45720" indent="0">
              <a:buNone/>
            </a:pPr>
            <a:endParaRPr lang="en-US" altLang="ja-JP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4657C708-A0E4-B212-5C5F-DC31B6C60F00}"/>
              </a:ext>
            </a:extLst>
          </p:cNvPr>
          <p:cNvSpPr/>
          <p:nvPr/>
        </p:nvSpPr>
        <p:spPr>
          <a:xfrm>
            <a:off x="4124081" y="1533667"/>
            <a:ext cx="3124200" cy="2885933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ja-JP" sz="1100" dirty="0">
                <a:solidFill>
                  <a:schemeClr val="tx1"/>
                </a:solidFill>
              </a:rPr>
              <a:t>SELECT</a:t>
            </a:r>
          </a:p>
          <a:p>
            <a:r>
              <a:rPr lang="en-US" altLang="ja-JP" sz="1100" dirty="0">
                <a:solidFill>
                  <a:schemeClr val="tx1"/>
                </a:solidFill>
              </a:rPr>
              <a:t> ID,</a:t>
            </a:r>
          </a:p>
          <a:p>
            <a:r>
              <a:rPr lang="en-US" altLang="ja-JP" sz="1100" dirty="0">
                <a:solidFill>
                  <a:schemeClr val="tx1"/>
                </a:solidFill>
              </a:rPr>
              <a:t> SALE_DATE,</a:t>
            </a:r>
          </a:p>
          <a:p>
            <a:r>
              <a:rPr lang="en-US" altLang="ja-JP" sz="1100" dirty="0">
                <a:solidFill>
                  <a:schemeClr val="tx1"/>
                </a:solidFill>
              </a:rPr>
              <a:t> AMOUNT,</a:t>
            </a:r>
          </a:p>
          <a:p>
            <a:r>
              <a:rPr lang="en-US" altLang="ja-JP" sz="1100" dirty="0">
                <a:solidFill>
                  <a:schemeClr val="tx1"/>
                </a:solidFill>
              </a:rPr>
              <a:t> AVG(AMOUNT) OVER (</a:t>
            </a:r>
          </a:p>
          <a:p>
            <a:r>
              <a:rPr lang="en-US" altLang="ja-JP" sz="1100" dirty="0">
                <a:solidFill>
                  <a:schemeClr val="tx1"/>
                </a:solidFill>
              </a:rPr>
              <a:t>  </a:t>
            </a:r>
            <a:r>
              <a:rPr lang="en-US" altLang="ja-JP" sz="1100" dirty="0">
                <a:solidFill>
                  <a:srgbClr val="FF0000"/>
                </a:solidFill>
              </a:rPr>
              <a:t>ORDER BY</a:t>
            </a:r>
          </a:p>
          <a:p>
            <a:r>
              <a:rPr lang="en-US" altLang="ja-JP" sz="1100" dirty="0">
                <a:solidFill>
                  <a:srgbClr val="FF0000"/>
                </a:solidFill>
              </a:rPr>
              <a:t>   SALE_DATE ROWS BETWEEN 1 PRECEDING</a:t>
            </a:r>
          </a:p>
          <a:p>
            <a:r>
              <a:rPr lang="en-US" altLang="ja-JP" sz="1100" dirty="0">
                <a:solidFill>
                  <a:srgbClr val="FF0000"/>
                </a:solidFill>
              </a:rPr>
              <a:t>   AND CURRENT ROW</a:t>
            </a:r>
          </a:p>
          <a:p>
            <a:r>
              <a:rPr lang="en-US" altLang="ja-JP" sz="1100" dirty="0">
                <a:solidFill>
                  <a:schemeClr val="tx1"/>
                </a:solidFill>
              </a:rPr>
              <a:t> ) AS AVG</a:t>
            </a:r>
          </a:p>
          <a:p>
            <a:r>
              <a:rPr lang="en-US" altLang="ja-JP" sz="1100" dirty="0">
                <a:solidFill>
                  <a:schemeClr val="tx1"/>
                </a:solidFill>
              </a:rPr>
              <a:t>FROM</a:t>
            </a:r>
          </a:p>
          <a:p>
            <a:r>
              <a:rPr lang="en-US" altLang="ja-JP" sz="1100" dirty="0">
                <a:solidFill>
                  <a:schemeClr val="tx1"/>
                </a:solidFill>
              </a:rPr>
              <a:t> SALES_DATA</a:t>
            </a:r>
          </a:p>
        </p:txBody>
      </p:sp>
      <p:graphicFrame>
        <p:nvGraphicFramePr>
          <p:cNvPr id="6" name="表 5">
            <a:extLst>
              <a:ext uri="{FF2B5EF4-FFF2-40B4-BE49-F238E27FC236}">
                <a16:creationId xmlns:a16="http://schemas.microsoft.com/office/drawing/2014/main" id="{E05C25D7-7B64-9134-1B43-2080DAE8B9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8393666"/>
              </p:ext>
            </p:extLst>
          </p:nvPr>
        </p:nvGraphicFramePr>
        <p:xfrm>
          <a:off x="1086951" y="1533667"/>
          <a:ext cx="2743200" cy="28859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9599">
                  <a:extLst>
                    <a:ext uri="{9D8B030D-6E8A-4147-A177-3AD203B41FA5}">
                      <a16:colId xmlns:a16="http://schemas.microsoft.com/office/drawing/2014/main" val="1590614373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740483789"/>
                    </a:ext>
                  </a:extLst>
                </a:gridCol>
                <a:gridCol w="838201">
                  <a:extLst>
                    <a:ext uri="{9D8B030D-6E8A-4147-A177-3AD203B41FA5}">
                      <a16:colId xmlns:a16="http://schemas.microsoft.com/office/drawing/2014/main" val="2159008058"/>
                    </a:ext>
                  </a:extLst>
                </a:gridCol>
              </a:tblGrid>
              <a:tr h="35336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dirty="0">
                          <a:effectLst/>
                        </a:rPr>
                        <a:t>id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dirty="0" err="1">
                          <a:effectLst/>
                        </a:rPr>
                        <a:t>sale_date</a:t>
                      </a:r>
                      <a:endParaRPr lang="en-US" sz="1400" dirty="0">
                        <a:effectLst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dirty="0">
                          <a:effectLst/>
                        </a:rPr>
                        <a:t>amount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3418793267"/>
                  </a:ext>
                </a:extLst>
              </a:tr>
              <a:tr h="41239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ja-JP" sz="1400" dirty="0">
                          <a:effectLst/>
                        </a:rPr>
                        <a:t>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ja-JP" sz="1400" dirty="0">
                          <a:effectLst/>
                        </a:rPr>
                        <a:t>'2023-01-01'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ja-JP" sz="1400">
                          <a:effectLst/>
                        </a:rPr>
                        <a:t>100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4258874356"/>
                  </a:ext>
                </a:extLst>
              </a:tr>
              <a:tr h="35336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ja-JP" sz="1400">
                          <a:effectLst/>
                        </a:rPr>
                        <a:t>2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ja-JP" sz="1400" dirty="0">
                          <a:effectLst/>
                        </a:rPr>
                        <a:t>'2023-01-02'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ja-JP" sz="1400">
                          <a:effectLst/>
                        </a:rPr>
                        <a:t>120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4169349515"/>
                  </a:ext>
                </a:extLst>
              </a:tr>
              <a:tr h="35336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ja-JP" sz="1400">
                          <a:effectLst/>
                        </a:rPr>
                        <a:t>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ja-JP" sz="1400" dirty="0">
                          <a:effectLst/>
                        </a:rPr>
                        <a:t>'2023-01-02'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ja-JP" sz="1400">
                          <a:effectLst/>
                        </a:rPr>
                        <a:t>120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1739893977"/>
                  </a:ext>
                </a:extLst>
              </a:tr>
              <a:tr h="35336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ja-JP" sz="1400">
                          <a:effectLst/>
                        </a:rPr>
                        <a:t>4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ja-JP" sz="1400" dirty="0">
                          <a:effectLst/>
                        </a:rPr>
                        <a:t>'2023-01-03'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ja-JP" sz="1400" dirty="0">
                          <a:effectLst/>
                        </a:rPr>
                        <a:t>110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3328799717"/>
                  </a:ext>
                </a:extLst>
              </a:tr>
              <a:tr h="35336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ja-JP" sz="1400">
                          <a:effectLst/>
                        </a:rPr>
                        <a:t>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ja-JP" sz="1400" dirty="0">
                          <a:effectLst/>
                        </a:rPr>
                        <a:t>'2023-01-04'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ja-JP" sz="1400" dirty="0">
                          <a:effectLst/>
                        </a:rPr>
                        <a:t>150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2783941963"/>
                  </a:ext>
                </a:extLst>
              </a:tr>
              <a:tr h="35336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ja-JP" sz="1400">
                          <a:effectLst/>
                        </a:rPr>
                        <a:t>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ja-JP" sz="1400" dirty="0">
                          <a:effectLst/>
                        </a:rPr>
                        <a:t>'2023-01-04'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ja-JP" sz="1400" dirty="0">
                          <a:effectLst/>
                        </a:rPr>
                        <a:t>130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3057929344"/>
                  </a:ext>
                </a:extLst>
              </a:tr>
              <a:tr h="35336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ja-JP" sz="1400">
                          <a:effectLst/>
                        </a:rPr>
                        <a:t>7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ja-JP" sz="1400" dirty="0">
                          <a:effectLst/>
                        </a:rPr>
                        <a:t>'2023-01-05'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ja-JP" sz="1400" dirty="0">
                          <a:effectLst/>
                        </a:rPr>
                        <a:t>140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1244907936"/>
                  </a:ext>
                </a:extLst>
              </a:tr>
            </a:tbl>
          </a:graphicData>
        </a:graphic>
      </p:graphicFrame>
      <p:graphicFrame>
        <p:nvGraphicFramePr>
          <p:cNvPr id="16" name="表 15">
            <a:extLst>
              <a:ext uri="{FF2B5EF4-FFF2-40B4-BE49-F238E27FC236}">
                <a16:creationId xmlns:a16="http://schemas.microsoft.com/office/drawing/2014/main" id="{84A1FBA2-7AEB-24D8-5D02-44C1A87576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7253929"/>
              </p:ext>
            </p:extLst>
          </p:nvPr>
        </p:nvGraphicFramePr>
        <p:xfrm>
          <a:off x="7542211" y="1533667"/>
          <a:ext cx="3429001" cy="28859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3659">
                  <a:extLst>
                    <a:ext uri="{9D8B030D-6E8A-4147-A177-3AD203B41FA5}">
                      <a16:colId xmlns:a16="http://schemas.microsoft.com/office/drawing/2014/main" val="1590614373"/>
                    </a:ext>
                  </a:extLst>
                </a:gridCol>
                <a:gridCol w="1240276">
                  <a:extLst>
                    <a:ext uri="{9D8B030D-6E8A-4147-A177-3AD203B41FA5}">
                      <a16:colId xmlns:a16="http://schemas.microsoft.com/office/drawing/2014/main" val="740483789"/>
                    </a:ext>
                  </a:extLst>
                </a:gridCol>
                <a:gridCol w="802533">
                  <a:extLst>
                    <a:ext uri="{9D8B030D-6E8A-4147-A177-3AD203B41FA5}">
                      <a16:colId xmlns:a16="http://schemas.microsoft.com/office/drawing/2014/main" val="2159008058"/>
                    </a:ext>
                  </a:extLst>
                </a:gridCol>
                <a:gridCol w="802533">
                  <a:extLst>
                    <a:ext uri="{9D8B030D-6E8A-4147-A177-3AD203B41FA5}">
                      <a16:colId xmlns:a16="http://schemas.microsoft.com/office/drawing/2014/main" val="3701336325"/>
                    </a:ext>
                  </a:extLst>
                </a:gridCol>
              </a:tblGrid>
              <a:tr h="35336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dirty="0">
                          <a:effectLst/>
                        </a:rPr>
                        <a:t>id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dirty="0" err="1">
                          <a:effectLst/>
                        </a:rPr>
                        <a:t>sale_date</a:t>
                      </a:r>
                      <a:endParaRPr lang="en-US" sz="1400" dirty="0">
                        <a:effectLst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dirty="0">
                          <a:effectLst/>
                        </a:rPr>
                        <a:t>amount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dirty="0">
                          <a:effectLst/>
                        </a:rPr>
                        <a:t>AVG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3418793267"/>
                  </a:ext>
                </a:extLst>
              </a:tr>
              <a:tr h="41239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ja-JP" sz="1400" dirty="0">
                          <a:effectLst/>
                        </a:rPr>
                        <a:t>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ja-JP" sz="1400" dirty="0">
                          <a:effectLst/>
                        </a:rPr>
                        <a:t>'2023-01-01'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ja-JP" sz="1400" dirty="0">
                          <a:effectLst/>
                        </a:rPr>
                        <a:t>100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ja-JP" sz="1400" dirty="0">
                          <a:effectLst/>
                        </a:rPr>
                        <a:t>100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4258874356"/>
                  </a:ext>
                </a:extLst>
              </a:tr>
              <a:tr h="35336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ja-JP" sz="1400">
                          <a:effectLst/>
                        </a:rPr>
                        <a:t>2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ja-JP" sz="1400" dirty="0">
                          <a:effectLst/>
                        </a:rPr>
                        <a:t>'2023-01-02'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ja-JP" sz="1400">
                          <a:effectLst/>
                        </a:rPr>
                        <a:t>120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ja-JP" sz="1400" dirty="0">
                          <a:effectLst/>
                        </a:rPr>
                        <a:t>110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4169349515"/>
                  </a:ext>
                </a:extLst>
              </a:tr>
              <a:tr h="35336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ja-JP" sz="1400">
                          <a:effectLst/>
                        </a:rPr>
                        <a:t>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ja-JP" sz="1400" dirty="0">
                          <a:effectLst/>
                        </a:rPr>
                        <a:t>'2023-01-02'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ja-JP" sz="1400">
                          <a:effectLst/>
                        </a:rPr>
                        <a:t>120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ja-JP" sz="1400" dirty="0">
                          <a:effectLst/>
                        </a:rPr>
                        <a:t>120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1739893977"/>
                  </a:ext>
                </a:extLst>
              </a:tr>
              <a:tr h="35336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ja-JP" sz="1400">
                          <a:effectLst/>
                        </a:rPr>
                        <a:t>4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ja-JP" sz="1400" dirty="0">
                          <a:effectLst/>
                        </a:rPr>
                        <a:t>'2023-01-03'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ja-JP" sz="1400">
                          <a:effectLst/>
                        </a:rPr>
                        <a:t>110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ja-JP" sz="1400" dirty="0">
                          <a:effectLst/>
                        </a:rPr>
                        <a:t>115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3328799717"/>
                  </a:ext>
                </a:extLst>
              </a:tr>
              <a:tr h="35336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ja-JP" sz="1400">
                          <a:effectLst/>
                        </a:rPr>
                        <a:t>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ja-JP" sz="1400" dirty="0">
                          <a:effectLst/>
                        </a:rPr>
                        <a:t>'2023-01-04'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ja-JP" sz="1400" dirty="0">
                          <a:effectLst/>
                        </a:rPr>
                        <a:t>150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ja-JP" sz="1400" dirty="0">
                          <a:effectLst/>
                        </a:rPr>
                        <a:t>130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2783941963"/>
                  </a:ext>
                </a:extLst>
              </a:tr>
              <a:tr h="35336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ja-JP" sz="1400">
                          <a:effectLst/>
                        </a:rPr>
                        <a:t>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ja-JP" sz="1400" dirty="0">
                          <a:effectLst/>
                        </a:rPr>
                        <a:t>'2023-01-04'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ja-JP" sz="1400">
                          <a:effectLst/>
                        </a:rPr>
                        <a:t>130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ja-JP" sz="1400" dirty="0">
                          <a:effectLst/>
                        </a:rPr>
                        <a:t>140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3057929344"/>
                  </a:ext>
                </a:extLst>
              </a:tr>
              <a:tr h="35336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ja-JP" sz="1400">
                          <a:effectLst/>
                        </a:rPr>
                        <a:t>7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ja-JP" sz="1400" dirty="0">
                          <a:effectLst/>
                        </a:rPr>
                        <a:t>'2023-01-05'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ja-JP" sz="1400" dirty="0">
                          <a:effectLst/>
                        </a:rPr>
                        <a:t>140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ja-JP" sz="1400" dirty="0">
                          <a:effectLst/>
                        </a:rPr>
                        <a:t>135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1244907936"/>
                  </a:ext>
                </a:extLst>
              </a:tr>
            </a:tbl>
          </a:graphicData>
        </a:graphic>
      </p:graphicFrame>
      <p:sp>
        <p:nvSpPr>
          <p:cNvPr id="20" name="吹き出し: 角を丸めた四角形 19">
            <a:extLst>
              <a:ext uri="{FF2B5EF4-FFF2-40B4-BE49-F238E27FC236}">
                <a16:creationId xmlns:a16="http://schemas.microsoft.com/office/drawing/2014/main" id="{CAE87428-4973-E1DA-953B-F5D7ACA87EC8}"/>
              </a:ext>
            </a:extLst>
          </p:cNvPr>
          <p:cNvSpPr/>
          <p:nvPr/>
        </p:nvSpPr>
        <p:spPr>
          <a:xfrm>
            <a:off x="9447212" y="1000267"/>
            <a:ext cx="1828800" cy="384048"/>
          </a:xfrm>
          <a:prstGeom prst="wedgeRoundRectCallout">
            <a:avLst>
              <a:gd name="adj1" fmla="val 26616"/>
              <a:gd name="adj2" fmla="val 323730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100" dirty="0"/>
              <a:t>(100+120)/2=110</a:t>
            </a:r>
            <a:endParaRPr kumimoji="1" lang="ja-JP" altLang="en-US" sz="1100" dirty="0"/>
          </a:p>
        </p:txBody>
      </p:sp>
      <p:grpSp>
        <p:nvGrpSpPr>
          <p:cNvPr id="11" name="グループ化 10">
            <a:extLst>
              <a:ext uri="{FF2B5EF4-FFF2-40B4-BE49-F238E27FC236}">
                <a16:creationId xmlns:a16="http://schemas.microsoft.com/office/drawing/2014/main" id="{5978F3A0-6C8B-3B06-100B-B7681F815EB5}"/>
              </a:ext>
            </a:extLst>
          </p:cNvPr>
          <p:cNvGrpSpPr/>
          <p:nvPr/>
        </p:nvGrpSpPr>
        <p:grpSpPr>
          <a:xfrm>
            <a:off x="9828212" y="2057400"/>
            <a:ext cx="457200" cy="606552"/>
            <a:chOff x="9828212" y="2057400"/>
            <a:chExt cx="457200" cy="606552"/>
          </a:xfrm>
        </p:grpSpPr>
        <p:sp>
          <p:nvSpPr>
            <p:cNvPr id="9" name="矢印: 左カーブ 8">
              <a:extLst>
                <a:ext uri="{FF2B5EF4-FFF2-40B4-BE49-F238E27FC236}">
                  <a16:creationId xmlns:a16="http://schemas.microsoft.com/office/drawing/2014/main" id="{95B24E68-86D1-2129-D51A-9B9C7DE23756}"/>
                </a:ext>
              </a:extLst>
            </p:cNvPr>
            <p:cNvSpPr/>
            <p:nvPr/>
          </p:nvSpPr>
          <p:spPr>
            <a:xfrm>
              <a:off x="9828212" y="2057400"/>
              <a:ext cx="228600" cy="381000"/>
            </a:xfrm>
            <a:prstGeom prst="curvedLef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chemeClr val="tx1"/>
                </a:solidFill>
              </a:endParaRPr>
            </a:p>
          </p:txBody>
        </p:sp>
        <p:sp>
          <p:nvSpPr>
            <p:cNvPr id="10" name="矢印: 右 9">
              <a:extLst>
                <a:ext uri="{FF2B5EF4-FFF2-40B4-BE49-F238E27FC236}">
                  <a16:creationId xmlns:a16="http://schemas.microsoft.com/office/drawing/2014/main" id="{659B2BA3-DF3B-1661-40D5-6138B89569BE}"/>
                </a:ext>
              </a:extLst>
            </p:cNvPr>
            <p:cNvSpPr/>
            <p:nvPr/>
          </p:nvSpPr>
          <p:spPr>
            <a:xfrm>
              <a:off x="9828212" y="2511552"/>
              <a:ext cx="457200" cy="152400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9B246644-4754-3D21-BCC4-8B2AD1489C0E}"/>
              </a:ext>
            </a:extLst>
          </p:cNvPr>
          <p:cNvSpPr/>
          <p:nvPr/>
        </p:nvSpPr>
        <p:spPr>
          <a:xfrm>
            <a:off x="7542211" y="1905000"/>
            <a:ext cx="3429001" cy="758952"/>
          </a:xfrm>
          <a:prstGeom prst="rect">
            <a:avLst/>
          </a:prstGeom>
          <a:noFill/>
          <a:ln w="38100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2C40F0AF-DE98-7E7E-B80A-068B8438D36D}"/>
              </a:ext>
            </a:extLst>
          </p:cNvPr>
          <p:cNvSpPr/>
          <p:nvPr/>
        </p:nvSpPr>
        <p:spPr>
          <a:xfrm>
            <a:off x="7466012" y="1851182"/>
            <a:ext cx="3635862" cy="2568418"/>
          </a:xfrm>
          <a:prstGeom prst="rect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580224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C4290A-5AF8-0468-E1ED-204A479982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6542BBA-D46D-2ABE-F01A-18C7973F53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5212" y="533400"/>
            <a:ext cx="8686801" cy="533400"/>
          </a:xfrm>
        </p:spPr>
        <p:txBody>
          <a:bodyPr>
            <a:normAutofit fontScale="90000"/>
          </a:bodyPr>
          <a:lstStyle/>
          <a:p>
            <a:r>
              <a:rPr lang="en-US" altLang="ja-JP" sz="2800" dirty="0"/>
              <a:t>ORDER BY </a:t>
            </a:r>
            <a:r>
              <a:rPr lang="ja-JP" altLang="en-US" sz="2800" dirty="0"/>
              <a:t>と フレームの使用例（</a:t>
            </a:r>
            <a:r>
              <a:rPr lang="en-US" altLang="ja-JP" sz="2800" dirty="0"/>
              <a:t>RANGE</a:t>
            </a:r>
            <a:r>
              <a:rPr lang="ja-JP" altLang="en-US" sz="2800" dirty="0"/>
              <a:t>）</a:t>
            </a:r>
            <a:br>
              <a:rPr lang="en-US" altLang="ja-JP" sz="2800" dirty="0"/>
            </a:br>
            <a:r>
              <a:rPr lang="en-US" altLang="ja-JP" sz="1100" dirty="0">
                <a:solidFill>
                  <a:schemeClr val="accent4"/>
                </a:solidFill>
              </a:rPr>
              <a:t>※partition</a:t>
            </a:r>
            <a:r>
              <a:rPr lang="ja-JP" altLang="en-US" sz="1100" dirty="0">
                <a:solidFill>
                  <a:schemeClr val="accent4"/>
                </a:solidFill>
              </a:rPr>
              <a:t>未使用のため、表全体が</a:t>
            </a:r>
            <a:r>
              <a:rPr lang="en-US" altLang="ja-JP" sz="1100" dirty="0">
                <a:solidFill>
                  <a:schemeClr val="accent4"/>
                </a:solidFill>
              </a:rPr>
              <a:t>1</a:t>
            </a:r>
            <a:r>
              <a:rPr lang="ja-JP" altLang="en-US" sz="1100" dirty="0">
                <a:solidFill>
                  <a:schemeClr val="accent4"/>
                </a:solidFill>
              </a:rPr>
              <a:t>つのパーティションと捉える</a:t>
            </a:r>
            <a:endParaRPr kumimoji="1" lang="ja-JP" altLang="en-US" sz="1100" dirty="0">
              <a:solidFill>
                <a:schemeClr val="accent4"/>
              </a:solidFill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C2A8DB2-56F5-B7D8-592A-7131538D03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0412" y="4648200"/>
            <a:ext cx="10896600" cy="1447800"/>
          </a:xfrm>
        </p:spPr>
        <p:txBody>
          <a:bodyPr>
            <a:normAutofit/>
          </a:bodyPr>
          <a:lstStyle/>
          <a:p>
            <a:pPr marL="45720" indent="0">
              <a:buNone/>
            </a:pPr>
            <a:r>
              <a:rPr kumimoji="1" lang="ja-JP" altLang="en-US" dirty="0">
                <a:solidFill>
                  <a:schemeClr val="tx1"/>
                </a:solidFill>
                <a:latin typeface="+mn-ea"/>
                <a:ea typeface="+mn-ea"/>
              </a:rPr>
              <a:t>上記、営業売上のデータから</a:t>
            </a:r>
            <a:r>
              <a:rPr lang="en-US" altLang="ja-JP" dirty="0">
                <a:solidFill>
                  <a:schemeClr val="tx1"/>
                </a:solidFill>
                <a:latin typeface="+mn-ea"/>
                <a:ea typeface="+mn-ea"/>
              </a:rPr>
              <a:t>2</a:t>
            </a:r>
            <a:r>
              <a:rPr kumimoji="1" lang="ja-JP" altLang="en-US" dirty="0">
                <a:solidFill>
                  <a:schemeClr val="tx1"/>
                </a:solidFill>
                <a:latin typeface="+mn-ea"/>
                <a:ea typeface="+mn-ea"/>
              </a:rPr>
              <a:t>日ごとの移動平均を出力している。</a:t>
            </a:r>
            <a:endParaRPr lang="en-US" altLang="ja-JP" dirty="0">
              <a:solidFill>
                <a:schemeClr val="tx1"/>
              </a:solidFill>
              <a:latin typeface="+mn-ea"/>
              <a:ea typeface="+mn-ea"/>
            </a:endParaRPr>
          </a:p>
          <a:p>
            <a:pPr marL="45720" indent="0">
              <a:buNone/>
            </a:pPr>
            <a:r>
              <a:rPr lang="en-US" altLang="ja-JP" dirty="0" err="1">
                <a:solidFill>
                  <a:schemeClr val="tx1"/>
                </a:solidFill>
                <a:latin typeface="+mn-ea"/>
                <a:ea typeface="+mn-ea"/>
              </a:rPr>
              <a:t>sale_date</a:t>
            </a:r>
            <a:r>
              <a:rPr lang="ja-JP" altLang="en-US" dirty="0">
                <a:solidFill>
                  <a:schemeClr val="tx1"/>
                </a:solidFill>
                <a:latin typeface="+mn-ea"/>
                <a:ea typeface="+mn-ea"/>
              </a:rPr>
              <a:t>でソートし、現在の行の</a:t>
            </a:r>
            <a:r>
              <a:rPr lang="en-US" altLang="ja-JP" dirty="0" err="1">
                <a:solidFill>
                  <a:schemeClr val="tx1"/>
                </a:solidFill>
                <a:latin typeface="+mn-ea"/>
                <a:ea typeface="+mn-ea"/>
              </a:rPr>
              <a:t>sale_date</a:t>
            </a:r>
            <a:r>
              <a:rPr lang="ja-JP" altLang="en-US" dirty="0">
                <a:solidFill>
                  <a:schemeClr val="tx1"/>
                </a:solidFill>
                <a:latin typeface="+mn-ea"/>
                <a:ea typeface="+mn-ea"/>
              </a:rPr>
              <a:t>から</a:t>
            </a:r>
            <a:r>
              <a:rPr lang="en-US" altLang="ja-JP" dirty="0">
                <a:solidFill>
                  <a:schemeClr val="tx1"/>
                </a:solidFill>
                <a:latin typeface="+mn-ea"/>
                <a:ea typeface="+mn-ea"/>
              </a:rPr>
              <a:t>1</a:t>
            </a:r>
            <a:r>
              <a:rPr lang="ja-JP" altLang="en-US" dirty="0">
                <a:solidFill>
                  <a:schemeClr val="tx1"/>
                </a:solidFill>
                <a:latin typeface="+mn-ea"/>
                <a:ea typeface="+mn-ea"/>
              </a:rPr>
              <a:t>日前までを</a:t>
            </a:r>
            <a:r>
              <a:rPr lang="en-US" altLang="ja-JP" dirty="0">
                <a:solidFill>
                  <a:schemeClr val="tx1"/>
                </a:solidFill>
                <a:latin typeface="+mn-ea"/>
                <a:ea typeface="+mn-ea"/>
              </a:rPr>
              <a:t>AVG</a:t>
            </a:r>
            <a:r>
              <a:rPr lang="ja-JP" altLang="en-US" dirty="0">
                <a:solidFill>
                  <a:schemeClr val="tx1"/>
                </a:solidFill>
                <a:latin typeface="+mn-ea"/>
                <a:ea typeface="+mn-ea"/>
              </a:rPr>
              <a:t>関数の処理範囲として指定している。</a:t>
            </a:r>
            <a:endParaRPr lang="en-US" altLang="ja-JP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5D41BBA5-3553-2127-18B4-C1567CDB72A8}"/>
              </a:ext>
            </a:extLst>
          </p:cNvPr>
          <p:cNvSpPr/>
          <p:nvPr/>
        </p:nvSpPr>
        <p:spPr>
          <a:xfrm>
            <a:off x="4124081" y="1533667"/>
            <a:ext cx="3124200" cy="2885933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ja-JP" sz="1100" dirty="0">
                <a:solidFill>
                  <a:schemeClr val="tx1"/>
                </a:solidFill>
              </a:rPr>
              <a:t>SELECT</a:t>
            </a:r>
          </a:p>
          <a:p>
            <a:r>
              <a:rPr lang="en-US" altLang="ja-JP" sz="1100" dirty="0">
                <a:solidFill>
                  <a:schemeClr val="tx1"/>
                </a:solidFill>
              </a:rPr>
              <a:t> ID,</a:t>
            </a:r>
          </a:p>
          <a:p>
            <a:r>
              <a:rPr lang="en-US" altLang="ja-JP" sz="1100" dirty="0">
                <a:solidFill>
                  <a:schemeClr val="tx1"/>
                </a:solidFill>
              </a:rPr>
              <a:t> SALE_DATE,</a:t>
            </a:r>
          </a:p>
          <a:p>
            <a:r>
              <a:rPr lang="en-US" altLang="ja-JP" sz="1100" dirty="0">
                <a:solidFill>
                  <a:schemeClr val="tx1"/>
                </a:solidFill>
              </a:rPr>
              <a:t> AMOUNT,</a:t>
            </a:r>
          </a:p>
          <a:p>
            <a:r>
              <a:rPr lang="en-US" altLang="ja-JP" sz="1100" dirty="0">
                <a:solidFill>
                  <a:schemeClr val="tx1"/>
                </a:solidFill>
              </a:rPr>
              <a:t> AVG(AMOUNT) OVER (</a:t>
            </a:r>
          </a:p>
          <a:p>
            <a:r>
              <a:rPr lang="en-US" altLang="ja-JP" sz="1100" dirty="0">
                <a:solidFill>
                  <a:schemeClr val="tx1"/>
                </a:solidFill>
              </a:rPr>
              <a:t>  </a:t>
            </a:r>
            <a:r>
              <a:rPr lang="en-US" altLang="ja-JP" sz="1100" dirty="0">
                <a:solidFill>
                  <a:srgbClr val="FF0000"/>
                </a:solidFill>
              </a:rPr>
              <a:t>ORDER BY</a:t>
            </a:r>
          </a:p>
          <a:p>
            <a:r>
              <a:rPr lang="en-US" altLang="ja-JP" sz="1100" dirty="0">
                <a:solidFill>
                  <a:srgbClr val="FF0000"/>
                </a:solidFill>
              </a:rPr>
              <a:t>   SALE_DATE RANGE BETWEEN INTERVAL '1 day' PRECEDING</a:t>
            </a:r>
          </a:p>
          <a:p>
            <a:r>
              <a:rPr lang="en-US" altLang="ja-JP" sz="1100" dirty="0">
                <a:solidFill>
                  <a:srgbClr val="FF0000"/>
                </a:solidFill>
              </a:rPr>
              <a:t>   AND CURRENT ROW</a:t>
            </a:r>
          </a:p>
          <a:p>
            <a:r>
              <a:rPr lang="en-US" altLang="ja-JP" sz="1100" dirty="0">
                <a:solidFill>
                  <a:schemeClr val="tx1"/>
                </a:solidFill>
              </a:rPr>
              <a:t> ) AS AVG</a:t>
            </a:r>
          </a:p>
          <a:p>
            <a:r>
              <a:rPr lang="en-US" altLang="ja-JP" sz="1100" dirty="0">
                <a:solidFill>
                  <a:schemeClr val="tx1"/>
                </a:solidFill>
              </a:rPr>
              <a:t>FROM</a:t>
            </a:r>
          </a:p>
          <a:p>
            <a:r>
              <a:rPr lang="en-US" altLang="ja-JP" sz="1100" dirty="0">
                <a:solidFill>
                  <a:schemeClr val="tx1"/>
                </a:solidFill>
              </a:rPr>
              <a:t> SALES_DATA</a:t>
            </a:r>
          </a:p>
        </p:txBody>
      </p:sp>
      <p:graphicFrame>
        <p:nvGraphicFramePr>
          <p:cNvPr id="6" name="表 5">
            <a:extLst>
              <a:ext uri="{FF2B5EF4-FFF2-40B4-BE49-F238E27FC236}">
                <a16:creationId xmlns:a16="http://schemas.microsoft.com/office/drawing/2014/main" id="{CC665DFF-A368-8EAC-D9CB-C444FEEB58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5682947"/>
              </p:ext>
            </p:extLst>
          </p:nvPr>
        </p:nvGraphicFramePr>
        <p:xfrm>
          <a:off x="1086951" y="1533667"/>
          <a:ext cx="2743200" cy="28859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9599">
                  <a:extLst>
                    <a:ext uri="{9D8B030D-6E8A-4147-A177-3AD203B41FA5}">
                      <a16:colId xmlns:a16="http://schemas.microsoft.com/office/drawing/2014/main" val="1590614373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740483789"/>
                    </a:ext>
                  </a:extLst>
                </a:gridCol>
                <a:gridCol w="838201">
                  <a:extLst>
                    <a:ext uri="{9D8B030D-6E8A-4147-A177-3AD203B41FA5}">
                      <a16:colId xmlns:a16="http://schemas.microsoft.com/office/drawing/2014/main" val="2159008058"/>
                    </a:ext>
                  </a:extLst>
                </a:gridCol>
              </a:tblGrid>
              <a:tr h="35336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dirty="0">
                          <a:effectLst/>
                        </a:rPr>
                        <a:t>id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dirty="0" err="1">
                          <a:effectLst/>
                        </a:rPr>
                        <a:t>sale_date</a:t>
                      </a:r>
                      <a:endParaRPr lang="en-US" sz="1400" dirty="0">
                        <a:effectLst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dirty="0">
                          <a:effectLst/>
                        </a:rPr>
                        <a:t>amount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3418793267"/>
                  </a:ext>
                </a:extLst>
              </a:tr>
              <a:tr h="41239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ja-JP" sz="1400" dirty="0">
                          <a:effectLst/>
                        </a:rPr>
                        <a:t>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ja-JP" sz="1400" dirty="0">
                          <a:effectLst/>
                        </a:rPr>
                        <a:t>'2023-01-01'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ja-JP" sz="1400">
                          <a:effectLst/>
                        </a:rPr>
                        <a:t>100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4258874356"/>
                  </a:ext>
                </a:extLst>
              </a:tr>
              <a:tr h="35336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ja-JP" sz="1400">
                          <a:effectLst/>
                        </a:rPr>
                        <a:t>2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ja-JP" sz="1400" dirty="0">
                          <a:effectLst/>
                        </a:rPr>
                        <a:t>'2023-01-02'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ja-JP" sz="1400">
                          <a:effectLst/>
                        </a:rPr>
                        <a:t>120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4169349515"/>
                  </a:ext>
                </a:extLst>
              </a:tr>
              <a:tr h="35336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ja-JP" sz="1400">
                          <a:effectLst/>
                        </a:rPr>
                        <a:t>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ja-JP" sz="1400" dirty="0">
                          <a:effectLst/>
                        </a:rPr>
                        <a:t>'2023-01-02'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ja-JP" sz="1400">
                          <a:effectLst/>
                        </a:rPr>
                        <a:t>120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1739893977"/>
                  </a:ext>
                </a:extLst>
              </a:tr>
              <a:tr h="35336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ja-JP" sz="1400">
                          <a:effectLst/>
                        </a:rPr>
                        <a:t>4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ja-JP" sz="1400" dirty="0">
                          <a:effectLst/>
                        </a:rPr>
                        <a:t>'2023-01-03'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ja-JP" sz="1400">
                          <a:effectLst/>
                        </a:rPr>
                        <a:t>110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3328799717"/>
                  </a:ext>
                </a:extLst>
              </a:tr>
              <a:tr h="35336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ja-JP" sz="1400">
                          <a:effectLst/>
                        </a:rPr>
                        <a:t>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ja-JP" sz="1400" dirty="0">
                          <a:effectLst/>
                        </a:rPr>
                        <a:t>'2023-01-04'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ja-JP" sz="1400">
                          <a:effectLst/>
                        </a:rPr>
                        <a:t>150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2783941963"/>
                  </a:ext>
                </a:extLst>
              </a:tr>
              <a:tr h="35336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ja-JP" sz="1400">
                          <a:effectLst/>
                        </a:rPr>
                        <a:t>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ja-JP" sz="1400" dirty="0">
                          <a:effectLst/>
                        </a:rPr>
                        <a:t>'2023-01-04'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ja-JP" sz="1400">
                          <a:effectLst/>
                        </a:rPr>
                        <a:t>130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3057929344"/>
                  </a:ext>
                </a:extLst>
              </a:tr>
              <a:tr h="35336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ja-JP" sz="1400">
                          <a:effectLst/>
                        </a:rPr>
                        <a:t>7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ja-JP" sz="1400" dirty="0">
                          <a:effectLst/>
                        </a:rPr>
                        <a:t>'2023-01-05'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ja-JP" sz="1400" dirty="0">
                          <a:effectLst/>
                        </a:rPr>
                        <a:t>140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1244907936"/>
                  </a:ext>
                </a:extLst>
              </a:tr>
            </a:tbl>
          </a:graphicData>
        </a:graphic>
      </p:graphicFrame>
      <p:graphicFrame>
        <p:nvGraphicFramePr>
          <p:cNvPr id="16" name="表 15">
            <a:extLst>
              <a:ext uri="{FF2B5EF4-FFF2-40B4-BE49-F238E27FC236}">
                <a16:creationId xmlns:a16="http://schemas.microsoft.com/office/drawing/2014/main" id="{15100D59-0152-D9F4-040E-205C01E517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4179771"/>
              </p:ext>
            </p:extLst>
          </p:nvPr>
        </p:nvGraphicFramePr>
        <p:xfrm>
          <a:off x="7542211" y="1533667"/>
          <a:ext cx="3429001" cy="28859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3659">
                  <a:extLst>
                    <a:ext uri="{9D8B030D-6E8A-4147-A177-3AD203B41FA5}">
                      <a16:colId xmlns:a16="http://schemas.microsoft.com/office/drawing/2014/main" val="1590614373"/>
                    </a:ext>
                  </a:extLst>
                </a:gridCol>
                <a:gridCol w="1240276">
                  <a:extLst>
                    <a:ext uri="{9D8B030D-6E8A-4147-A177-3AD203B41FA5}">
                      <a16:colId xmlns:a16="http://schemas.microsoft.com/office/drawing/2014/main" val="740483789"/>
                    </a:ext>
                  </a:extLst>
                </a:gridCol>
                <a:gridCol w="802533">
                  <a:extLst>
                    <a:ext uri="{9D8B030D-6E8A-4147-A177-3AD203B41FA5}">
                      <a16:colId xmlns:a16="http://schemas.microsoft.com/office/drawing/2014/main" val="2159008058"/>
                    </a:ext>
                  </a:extLst>
                </a:gridCol>
                <a:gridCol w="802533">
                  <a:extLst>
                    <a:ext uri="{9D8B030D-6E8A-4147-A177-3AD203B41FA5}">
                      <a16:colId xmlns:a16="http://schemas.microsoft.com/office/drawing/2014/main" val="3701336325"/>
                    </a:ext>
                  </a:extLst>
                </a:gridCol>
              </a:tblGrid>
              <a:tr h="35336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dirty="0">
                          <a:effectLst/>
                        </a:rPr>
                        <a:t>id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dirty="0" err="1">
                          <a:effectLst/>
                        </a:rPr>
                        <a:t>sale_date</a:t>
                      </a:r>
                      <a:endParaRPr lang="en-US" sz="1400" dirty="0">
                        <a:effectLst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dirty="0">
                          <a:effectLst/>
                        </a:rPr>
                        <a:t>amount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dirty="0">
                          <a:effectLst/>
                        </a:rPr>
                        <a:t>AVG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3418793267"/>
                  </a:ext>
                </a:extLst>
              </a:tr>
              <a:tr h="41239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ja-JP" sz="1400" dirty="0">
                          <a:effectLst/>
                        </a:rPr>
                        <a:t>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ja-JP" sz="1400" dirty="0">
                          <a:effectLst/>
                        </a:rPr>
                        <a:t>'2023-01-01'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ja-JP" sz="1400" dirty="0">
                          <a:effectLst/>
                        </a:rPr>
                        <a:t>100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ja-JP" sz="1400" dirty="0">
                          <a:effectLst/>
                        </a:rPr>
                        <a:t>100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4258874356"/>
                  </a:ext>
                </a:extLst>
              </a:tr>
              <a:tr h="35336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ja-JP" sz="1400">
                          <a:effectLst/>
                        </a:rPr>
                        <a:t>2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ja-JP" sz="1400" dirty="0">
                          <a:effectLst/>
                        </a:rPr>
                        <a:t>'2023-01-02'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ja-JP" sz="1400">
                          <a:effectLst/>
                        </a:rPr>
                        <a:t>120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ja-JP" sz="1400" dirty="0">
                          <a:effectLst/>
                        </a:rPr>
                        <a:t>113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4169349515"/>
                  </a:ext>
                </a:extLst>
              </a:tr>
              <a:tr h="35336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ja-JP" sz="1400">
                          <a:effectLst/>
                        </a:rPr>
                        <a:t>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ja-JP" sz="1400" dirty="0">
                          <a:effectLst/>
                        </a:rPr>
                        <a:t>'2023-01-02'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ja-JP" sz="1400">
                          <a:effectLst/>
                        </a:rPr>
                        <a:t>120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ja-JP" sz="1400" dirty="0">
                          <a:effectLst/>
                        </a:rPr>
                        <a:t>113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1739893977"/>
                  </a:ext>
                </a:extLst>
              </a:tr>
              <a:tr h="35336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ja-JP" sz="1400">
                          <a:effectLst/>
                        </a:rPr>
                        <a:t>4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ja-JP" sz="1400" dirty="0">
                          <a:effectLst/>
                        </a:rPr>
                        <a:t>'2023-01-03'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ja-JP" sz="1400">
                          <a:effectLst/>
                        </a:rPr>
                        <a:t>110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ja-JP" sz="1400" dirty="0">
                          <a:effectLst/>
                        </a:rPr>
                        <a:t>116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3328799717"/>
                  </a:ext>
                </a:extLst>
              </a:tr>
              <a:tr h="35336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ja-JP" sz="1400">
                          <a:effectLst/>
                        </a:rPr>
                        <a:t>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ja-JP" sz="1400" dirty="0">
                          <a:effectLst/>
                        </a:rPr>
                        <a:t>'2023-01-04'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ja-JP" sz="1400">
                          <a:effectLst/>
                        </a:rPr>
                        <a:t>150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ja-JP" sz="1400" dirty="0">
                          <a:effectLst/>
                        </a:rPr>
                        <a:t>130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2783941963"/>
                  </a:ext>
                </a:extLst>
              </a:tr>
              <a:tr h="35336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ja-JP" sz="1400">
                          <a:effectLst/>
                        </a:rPr>
                        <a:t>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ja-JP" sz="1400" dirty="0">
                          <a:effectLst/>
                        </a:rPr>
                        <a:t>'2023-01-04'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ja-JP" sz="1400">
                          <a:effectLst/>
                        </a:rPr>
                        <a:t>130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ja-JP" sz="1400" dirty="0">
                          <a:effectLst/>
                        </a:rPr>
                        <a:t>130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3057929344"/>
                  </a:ext>
                </a:extLst>
              </a:tr>
              <a:tr h="35336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ja-JP" sz="1400">
                          <a:effectLst/>
                        </a:rPr>
                        <a:t>7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ja-JP" sz="1400" dirty="0">
                          <a:effectLst/>
                        </a:rPr>
                        <a:t>'2023-01-05'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ja-JP" sz="1400" dirty="0">
                          <a:effectLst/>
                        </a:rPr>
                        <a:t>140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ja-JP" sz="1400" dirty="0">
                          <a:effectLst/>
                        </a:rPr>
                        <a:t>140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1244907936"/>
                  </a:ext>
                </a:extLst>
              </a:tr>
            </a:tbl>
          </a:graphicData>
        </a:graphic>
      </p:graphicFrame>
      <p:sp>
        <p:nvSpPr>
          <p:cNvPr id="20" name="吹き出し: 角を丸めた四角形 19">
            <a:extLst>
              <a:ext uri="{FF2B5EF4-FFF2-40B4-BE49-F238E27FC236}">
                <a16:creationId xmlns:a16="http://schemas.microsoft.com/office/drawing/2014/main" id="{41E92752-9749-23A2-667C-8DC34377F90A}"/>
              </a:ext>
            </a:extLst>
          </p:cNvPr>
          <p:cNvSpPr/>
          <p:nvPr/>
        </p:nvSpPr>
        <p:spPr>
          <a:xfrm>
            <a:off x="8990012" y="300252"/>
            <a:ext cx="2590800" cy="1119115"/>
          </a:xfrm>
          <a:prstGeom prst="wedgeRoundRectCallout">
            <a:avLst>
              <a:gd name="adj1" fmla="val 23734"/>
              <a:gd name="adj2" fmla="val 148497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100" dirty="0"/>
              <a:t>2</a:t>
            </a:r>
            <a:r>
              <a:rPr kumimoji="1" lang="ja-JP" altLang="en-US" sz="1100" dirty="0"/>
              <a:t>行目に着目すると、、、</a:t>
            </a:r>
            <a:endParaRPr kumimoji="1" lang="en-US" altLang="ja-JP" sz="1100" dirty="0"/>
          </a:p>
          <a:p>
            <a:pPr algn="ctr"/>
            <a:r>
              <a:rPr kumimoji="1" lang="en-US" altLang="ja-JP" sz="1100" dirty="0"/>
              <a:t>1/1</a:t>
            </a:r>
            <a:r>
              <a:rPr kumimoji="1" lang="ja-JP" altLang="en-US" sz="1100" dirty="0"/>
              <a:t>～</a:t>
            </a:r>
            <a:r>
              <a:rPr kumimoji="1" lang="en-US" altLang="ja-JP" sz="1100" dirty="0"/>
              <a:t>/1/2</a:t>
            </a:r>
            <a:r>
              <a:rPr kumimoji="1" lang="ja-JP" altLang="en-US" sz="1100" dirty="0"/>
              <a:t>の範囲を関数の計算範囲として指定してるため、</a:t>
            </a:r>
            <a:endParaRPr kumimoji="1" lang="en-US" altLang="ja-JP" sz="1100" dirty="0"/>
          </a:p>
          <a:p>
            <a:pPr algn="ctr"/>
            <a:r>
              <a:rPr kumimoji="1" lang="en-US" altLang="ja-JP" sz="1100" dirty="0"/>
              <a:t>(100+120</a:t>
            </a:r>
            <a:r>
              <a:rPr kumimoji="1" lang="ja-JP" altLang="en-US" sz="1100" dirty="0"/>
              <a:t>＋</a:t>
            </a:r>
            <a:r>
              <a:rPr kumimoji="1" lang="en-US" altLang="ja-JP" sz="1100" dirty="0"/>
              <a:t>120)/3=113.333…</a:t>
            </a:r>
          </a:p>
          <a:p>
            <a:pPr algn="ctr"/>
            <a:r>
              <a:rPr kumimoji="1" lang="ja-JP" altLang="en-US" sz="1100" dirty="0"/>
              <a:t>当然、</a:t>
            </a:r>
            <a:r>
              <a:rPr kumimoji="1" lang="en-US" altLang="ja-JP" sz="1100" dirty="0"/>
              <a:t>3</a:t>
            </a:r>
            <a:r>
              <a:rPr kumimoji="1" lang="ja-JP" altLang="en-US" sz="1100" dirty="0"/>
              <a:t>行目も同じ計算になる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63D45625-20A0-F37E-A446-D1F378C4167F}"/>
              </a:ext>
            </a:extLst>
          </p:cNvPr>
          <p:cNvSpPr/>
          <p:nvPr/>
        </p:nvSpPr>
        <p:spPr>
          <a:xfrm>
            <a:off x="7542211" y="1905000"/>
            <a:ext cx="3429001" cy="1066800"/>
          </a:xfrm>
          <a:prstGeom prst="rect">
            <a:avLst/>
          </a:prstGeom>
          <a:noFill/>
          <a:ln w="38100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6A060FBF-86E1-2C4D-187A-A41A34507CB5}"/>
              </a:ext>
            </a:extLst>
          </p:cNvPr>
          <p:cNvSpPr/>
          <p:nvPr/>
        </p:nvSpPr>
        <p:spPr>
          <a:xfrm>
            <a:off x="7466012" y="1851182"/>
            <a:ext cx="3635862" cy="2568418"/>
          </a:xfrm>
          <a:prstGeom prst="rect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923342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コントラストにより注目を集めるビジネス用プレゼンテーション (16x9)">
  <a:themeElements>
    <a:clrScheme name="BusinessContrast">
      <a:dk1>
        <a:srgbClr val="000000"/>
      </a:dk1>
      <a:lt1>
        <a:sysClr val="window" lastClr="FFFFFF"/>
      </a:lt1>
      <a:dk2>
        <a:srgbClr val="000000"/>
      </a:dk2>
      <a:lt2>
        <a:srgbClr val="E5E8E8"/>
      </a:lt2>
      <a:accent1>
        <a:srgbClr val="00AEEF"/>
      </a:accent1>
      <a:accent2>
        <a:srgbClr val="EA428A"/>
      </a:accent2>
      <a:accent3>
        <a:srgbClr val="EED500"/>
      </a:accent3>
      <a:accent4>
        <a:srgbClr val="F5A70D"/>
      </a:accent4>
      <a:accent5>
        <a:srgbClr val="8BCB30"/>
      </a:accent5>
      <a:accent6>
        <a:srgbClr val="9962C1"/>
      </a:accent6>
      <a:hlink>
        <a:srgbClr val="00AEEF"/>
      </a:hlink>
      <a:folHlink>
        <a:srgbClr val="9962C1"/>
      </a:folHlink>
    </a:clrScheme>
    <a:fontScheme name="Franklin Gothic Medium">
      <a:maj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BusinessContrast">
      <a:dk1>
        <a:srgbClr val="000000"/>
      </a:dk1>
      <a:lt1>
        <a:sysClr val="window" lastClr="FFFFFF"/>
      </a:lt1>
      <a:dk2>
        <a:srgbClr val="000000"/>
      </a:dk2>
      <a:lt2>
        <a:srgbClr val="E5E8E8"/>
      </a:lt2>
      <a:accent1>
        <a:srgbClr val="00AEEF"/>
      </a:accent1>
      <a:accent2>
        <a:srgbClr val="EA428A"/>
      </a:accent2>
      <a:accent3>
        <a:srgbClr val="EED500"/>
      </a:accent3>
      <a:accent4>
        <a:srgbClr val="F5A70D"/>
      </a:accent4>
      <a:accent5>
        <a:srgbClr val="8BCB30"/>
      </a:accent5>
      <a:accent6>
        <a:srgbClr val="9962C1"/>
      </a:accent6>
      <a:hlink>
        <a:srgbClr val="00AEEF"/>
      </a:hlink>
      <a:folHlink>
        <a:srgbClr val="9962C1"/>
      </a:folHlink>
    </a:clrScheme>
    <a:fontScheme name="Franklin Gothic Medium">
      <a:maj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BusinessContrast">
      <a:dk1>
        <a:srgbClr val="000000"/>
      </a:dk1>
      <a:lt1>
        <a:sysClr val="window" lastClr="FFFFFF"/>
      </a:lt1>
      <a:dk2>
        <a:srgbClr val="000000"/>
      </a:dk2>
      <a:lt2>
        <a:srgbClr val="E5E8E8"/>
      </a:lt2>
      <a:accent1>
        <a:srgbClr val="00AEEF"/>
      </a:accent1>
      <a:accent2>
        <a:srgbClr val="EA428A"/>
      </a:accent2>
      <a:accent3>
        <a:srgbClr val="EED500"/>
      </a:accent3>
      <a:accent4>
        <a:srgbClr val="F5A70D"/>
      </a:accent4>
      <a:accent5>
        <a:srgbClr val="8BCB30"/>
      </a:accent5>
      <a:accent6>
        <a:srgbClr val="9962C1"/>
      </a:accent6>
      <a:hlink>
        <a:srgbClr val="00AEEF"/>
      </a:hlink>
      <a:folHlink>
        <a:srgbClr val="9962C1"/>
      </a:folHlink>
    </a:clrScheme>
    <a:fontScheme name="Franklin Gothic Medium">
      <a:maj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C1D5F340F01F94FA2FD29A5E6DC872E" ma:contentTypeVersion="0" ma:contentTypeDescription="Create a new document." ma:contentTypeScope="" ma:versionID="f583bd66513a361a730282b6a794e352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6841151cf538834e171094e4faaf2d73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この値は保存または変更の回数を示します。変更後は必ずアプリケーションによってこの値が更新されます。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9150CD3-A6AC-414D-9560-715EC9E31BA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2B73376-B181-4668-84FF-A62668D48FE9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4E963E73-FDB1-44AE-BA76-746BBD659F2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346</TotalTime>
  <Words>1395</Words>
  <Application>Microsoft Office PowerPoint</Application>
  <PresentationFormat>ユーザー設定</PresentationFormat>
  <Paragraphs>245</Paragraphs>
  <Slides>6</Slides>
  <Notes>2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0" baseType="lpstr">
      <vt:lpstr>Meiryo UI</vt:lpstr>
      <vt:lpstr>Arial</vt:lpstr>
      <vt:lpstr>Franklin Gothic Medium</vt:lpstr>
      <vt:lpstr>コントラストにより注目を集めるビジネス用プレゼンテーション (16x9)</vt:lpstr>
      <vt:lpstr>window関数</vt:lpstr>
      <vt:lpstr>window関数で使用できる関数（一部）</vt:lpstr>
      <vt:lpstr>Window関数の例（フレーム指定なしver）</vt:lpstr>
      <vt:lpstr>ORDER BY と フレーム</vt:lpstr>
      <vt:lpstr>ORDER BY と フレームの使用例（ROWS） ※partition未使用のため、表全体が1つのパーティションと捉える</vt:lpstr>
      <vt:lpstr>ORDER BY と フレームの使用例（RANGE） ※partition未使用のため、表全体が1つのパーティションと捉える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タイトル レイアウト</dc:title>
  <dc:creator>Summer</dc:creator>
  <cp:lastModifiedBy>administrator</cp:lastModifiedBy>
  <cp:revision>129</cp:revision>
  <dcterms:created xsi:type="dcterms:W3CDTF">2013-04-05T19:55:11Z</dcterms:created>
  <dcterms:modified xsi:type="dcterms:W3CDTF">2025-08-29T03:14:25Z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0x0101007C1D5F340F01F94FA2FD29A5E6DC872E</vt:lpwstr>
  </property>
  <property fmtid="{D5CDD505-2E9C-101B-9397-08002B2CF9AE}" pid="3" name="IsMyDocuments">
    <vt:bool>true</vt:bool>
  </property>
</Properties>
</file>