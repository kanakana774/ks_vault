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10" r:id="rId5"/>
    <p:sldId id="311" r:id="rId6"/>
    <p:sldId id="312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9/5/2025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8T07:42:40.813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0,'1508'0,"-1493"0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8T07:43:06.8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0,'1179'0,"-1159"0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8T07:43:26.86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1,'3981'0,"-3969"0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8T07:43:41.58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1,'3982'0,"-3975"0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2025/9/5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846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48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84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9/5/2025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9/5/2025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2025/9/5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9/5/2025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379413" y="381001"/>
            <a:ext cx="2438400" cy="533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ストアドプロシージャ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 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39F183-2D1D-CF71-A4AC-20D7431659D0}"/>
              </a:ext>
            </a:extLst>
          </p:cNvPr>
          <p:cNvSpPr txBox="1"/>
          <p:nvPr/>
        </p:nvSpPr>
        <p:spPr>
          <a:xfrm>
            <a:off x="1141412" y="9906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文をプログラムとしてまとめて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内に保存する仕組み。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F21893-BDB4-8B34-4EF3-9A240FE402A8}"/>
              </a:ext>
            </a:extLst>
          </p:cNvPr>
          <p:cNvSpPr txBox="1"/>
          <p:nvPr/>
        </p:nvSpPr>
        <p:spPr>
          <a:xfrm>
            <a:off x="1141412" y="1436131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プログラムからはストアドプロシージャを呼び出すだけで一連の操作を行うことができる。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9E7948-B593-CBF5-D209-79103A19CE7E}"/>
              </a:ext>
            </a:extLst>
          </p:cNvPr>
          <p:cNvSpPr txBox="1"/>
          <p:nvPr/>
        </p:nvSpPr>
        <p:spPr>
          <a:xfrm>
            <a:off x="1141412" y="2133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再利用性が高い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4BB2A7-8F15-10C9-1DD3-A6654F9EB837}"/>
              </a:ext>
            </a:extLst>
          </p:cNvPr>
          <p:cNvSpPr txBox="1"/>
          <p:nvPr/>
        </p:nvSpPr>
        <p:spPr>
          <a:xfrm>
            <a:off x="1598612" y="2502932"/>
            <a:ext cx="441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一度作成すれば何度でも呼び出すことが可能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04E8B8-4E46-A020-970F-A30EEA7372AB}"/>
              </a:ext>
            </a:extLst>
          </p:cNvPr>
          <p:cNvSpPr txBox="1"/>
          <p:nvPr/>
        </p:nvSpPr>
        <p:spPr>
          <a:xfrm>
            <a:off x="1141412" y="301573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処理の高速化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AEB2DB-0E42-C760-04A3-9F37C4B5D0B9}"/>
              </a:ext>
            </a:extLst>
          </p:cNvPr>
          <p:cNvSpPr txBox="1"/>
          <p:nvPr/>
        </p:nvSpPr>
        <p:spPr>
          <a:xfrm>
            <a:off x="1598612" y="3385067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事前にコンパイルされているため、同じ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を何度も解析する必要がない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7E055D-653D-646B-28EA-E5589F42D3C3}"/>
              </a:ext>
            </a:extLst>
          </p:cNvPr>
          <p:cNvSpPr txBox="1"/>
          <p:nvPr/>
        </p:nvSpPr>
        <p:spPr>
          <a:xfrm>
            <a:off x="1141412" y="459533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何度も使う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処理をまとめて登録しておける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B343DA-7CAC-0437-8B03-CB8E4735D69F}"/>
              </a:ext>
            </a:extLst>
          </p:cNvPr>
          <p:cNvSpPr txBox="1"/>
          <p:nvPr/>
        </p:nvSpPr>
        <p:spPr>
          <a:xfrm>
            <a:off x="1141412" y="51054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実行するときは「呼び出すだけ」で済む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342EC60-D7E6-62D3-66F5-96677C609A61}"/>
              </a:ext>
            </a:extLst>
          </p:cNvPr>
          <p:cNvSpPr txBox="1"/>
          <p:nvPr/>
        </p:nvSpPr>
        <p:spPr>
          <a:xfrm>
            <a:off x="1141412" y="5615461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複雑な処理やトランザクションも含めることができる</a:t>
            </a:r>
          </a:p>
        </p:txBody>
      </p:sp>
    </p:spTree>
    <p:extLst>
      <p:ext uri="{BB962C8B-B14F-4D97-AF65-F5344CB8AC3E}">
        <p14:creationId xmlns:p14="http://schemas.microsoft.com/office/powerpoint/2010/main" val="216851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455612" y="152400"/>
            <a:ext cx="5181600" cy="538529"/>
          </a:xfrm>
        </p:spPr>
        <p:txBody>
          <a:bodyPr/>
          <a:lstStyle/>
          <a:p>
            <a:r>
              <a:rPr lang="ja-JP" altLang="en-US" sz="2800" dirty="0"/>
              <a:t>ストアドプロシージャの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基礎構文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12812" y="1295400"/>
            <a:ext cx="7192795" cy="43396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CREATE PROCEDURE</a:t>
            </a: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      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プロシージャ名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引数 定義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[,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引数 定義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])</a:t>
            </a:r>
          </a:p>
          <a:p>
            <a:r>
              <a:rPr lang="en-US" altLang="ja-JP" sz="2400" b="1" dirty="0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LANGUAGE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Meiryo UI"/>
                <a:ea typeface="Meiryo UI"/>
              </a:rPr>
              <a:t>plpgsql</a:t>
            </a:r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AS $$</a:t>
            </a:r>
          </a:p>
          <a:p>
            <a:r>
              <a:rPr lang="en-US" altLang="ja-JP" sz="2400" b="1" i="0" u="none" strike="noStrike" dirty="0">
                <a:solidFill>
                  <a:schemeClr val="tx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en-US" altLang="ja-JP" sz="2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DECLARE</a:t>
            </a:r>
            <a:r>
              <a:rPr lang="en-US" altLang="ja-JP" sz="2400" dirty="0"/>
              <a:t> </a:t>
            </a:r>
            <a:r>
              <a:rPr lang="ja-JP" altLang="en-US" sz="2400" b="1" dirty="0"/>
              <a:t>変数名</a:t>
            </a:r>
            <a:r>
              <a:rPr lang="en-US" altLang="ja-JP" sz="2400" b="1" dirty="0"/>
              <a:t>)</a:t>
            </a:r>
            <a:endParaRPr lang="en-US" altLang="ja-JP" sz="2400" b="1" dirty="0">
              <a:solidFill>
                <a:schemeClr val="accent1">
                  <a:lumMod val="75000"/>
                </a:schemeClr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BEGIN</a:t>
            </a:r>
          </a:p>
          <a:p>
            <a:endParaRPr lang="en-US" altLang="ja-JP" sz="2400" b="1" dirty="0">
              <a:solidFill>
                <a:schemeClr val="accent1">
                  <a:lumMod val="75000"/>
                </a:schemeClr>
              </a:solidFill>
              <a:latin typeface="Meiryo UI"/>
              <a:ea typeface="Meiryo UI"/>
            </a:endParaRPr>
          </a:p>
          <a:p>
            <a:r>
              <a:rPr lang="en-US" altLang="ja-JP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-- SQL</a:t>
            </a:r>
            <a:r>
              <a:rPr lang="ja-JP" altLang="en-US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文やロジック</a:t>
            </a:r>
            <a:endParaRPr lang="en-US" altLang="ja-JP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ja-JP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END;</a:t>
            </a:r>
          </a:p>
          <a:p>
            <a:r>
              <a:rPr lang="en-US" altLang="ja-JP" sz="2400" b="1" dirty="0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$$; 	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0C3298-D8C6-76AC-3056-042989DB9E51}"/>
              </a:ext>
            </a:extLst>
          </p:cNvPr>
          <p:cNvSpPr txBox="1"/>
          <p:nvPr/>
        </p:nvSpPr>
        <p:spPr>
          <a:xfrm>
            <a:off x="912812" y="6096000"/>
            <a:ext cx="719279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CALL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プロシージャ名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値 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[,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値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])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6E4403-4C3B-E7B3-9831-819862E74553}"/>
              </a:ext>
            </a:extLst>
          </p:cNvPr>
          <p:cNvSpPr txBox="1"/>
          <p:nvPr/>
        </p:nvSpPr>
        <p:spPr>
          <a:xfrm>
            <a:off x="836612" y="8382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■ストアドプロシージャの作成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3DB079-FD66-8973-5851-8259E72C6504}"/>
              </a:ext>
            </a:extLst>
          </p:cNvPr>
          <p:cNvSpPr txBox="1"/>
          <p:nvPr/>
        </p:nvSpPr>
        <p:spPr>
          <a:xfrm>
            <a:off x="912812" y="569895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■ストアドプロシージャの呼び出し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686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0C3298-D8C6-76AC-3056-042989DB9E51}"/>
              </a:ext>
            </a:extLst>
          </p:cNvPr>
          <p:cNvSpPr txBox="1"/>
          <p:nvPr/>
        </p:nvSpPr>
        <p:spPr>
          <a:xfrm>
            <a:off x="1293812" y="4191000"/>
            <a:ext cx="719279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CALL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プロシージャ名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値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1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,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値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2)</a:t>
            </a:r>
          </a:p>
          <a:p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3DB079-FD66-8973-5851-8259E72C6504}"/>
              </a:ext>
            </a:extLst>
          </p:cNvPr>
          <p:cNvSpPr txBox="1"/>
          <p:nvPr/>
        </p:nvSpPr>
        <p:spPr>
          <a:xfrm>
            <a:off x="303212" y="25931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Meiryo UI" charset="0"/>
                <a:ea typeface="Meiryo UI" charset="0"/>
              </a:rPr>
              <a:t>■ストアドプロシージャの呼び出しの際の注意点</a:t>
            </a:r>
            <a:r>
              <a:rPr kumimoji="1" lang="ja-JP" altLang="en-US" sz="2400" u="sng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sz="2400" dirty="0">
                <a:latin typeface="Meiryo UI" charset="0"/>
                <a:ea typeface="Meiryo UI" charset="0"/>
              </a:rPr>
              <a:t> 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F00B2C-507F-B978-E96B-A8C33C002959}"/>
              </a:ext>
            </a:extLst>
          </p:cNvPr>
          <p:cNvSpPr txBox="1"/>
          <p:nvPr/>
        </p:nvSpPr>
        <p:spPr>
          <a:xfrm>
            <a:off x="684212" y="930473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u="sng" dirty="0">
                <a:latin typeface="Meiryo UI" charset="0"/>
                <a:ea typeface="Meiryo UI" charset="0"/>
              </a:rPr>
              <a:t>引数と値を連動させる </a:t>
            </a:r>
            <a:r>
              <a:rPr kumimoji="1" lang="ja-JP" altLang="en-US" sz="2000" dirty="0">
                <a:latin typeface="Meiryo UI" charset="0"/>
                <a:ea typeface="Meiryo UI" charset="0"/>
              </a:rPr>
              <a:t> 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4AB4CDF-4684-A182-654B-E5FC2B73641B}"/>
              </a:ext>
            </a:extLst>
          </p:cNvPr>
          <p:cNvSpPr txBox="1"/>
          <p:nvPr/>
        </p:nvSpPr>
        <p:spPr>
          <a:xfrm>
            <a:off x="1217612" y="1507063"/>
            <a:ext cx="403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Meiryo UI" charset="0"/>
                <a:ea typeface="Meiryo UI" charset="0"/>
              </a:rPr>
              <a:t>引数の数だけ値を渡さないといけない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DC312E-2B7B-BEFF-CAE0-9E827DAA7041}"/>
              </a:ext>
            </a:extLst>
          </p:cNvPr>
          <p:cNvSpPr txBox="1"/>
          <p:nvPr/>
        </p:nvSpPr>
        <p:spPr>
          <a:xfrm>
            <a:off x="1217612" y="1997273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Meiryo UI" charset="0"/>
                <a:ea typeface="Meiryo UI" charset="0"/>
              </a:rPr>
              <a:t>引数の順番と値の順番が連動するため、順番通りに記述しないといけない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9309C3-F95D-BCC6-47A0-0B72679AD21A}"/>
              </a:ext>
            </a:extLst>
          </p:cNvPr>
          <p:cNvSpPr txBox="1"/>
          <p:nvPr/>
        </p:nvSpPr>
        <p:spPr>
          <a:xfrm>
            <a:off x="1279814" y="2759273"/>
            <a:ext cx="719279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CREATE PROCEDURE</a:t>
            </a: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      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プロシージャ名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引数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1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 定義 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,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引数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2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 定義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)</a:t>
            </a:r>
          </a:p>
          <a:p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86729907-8AFD-DA4E-C696-8DB9E14C0AAB}"/>
                  </a:ext>
                </a:extLst>
              </p14:cNvPr>
              <p14:cNvContentPartPr/>
              <p14:nvPr/>
            </p14:nvContentPartPr>
            <p14:xfrm>
              <a:off x="4201387" y="4657012"/>
              <a:ext cx="548280" cy="360"/>
            </p14:xfrm>
          </p:contentPart>
        </mc:Choice>
        <mc:Fallback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86729907-8AFD-DA4E-C696-8DB9E14C0A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5387" y="4585012"/>
                <a:ext cx="619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4D17C90D-F215-78C7-C60A-D1C51AEE77E8}"/>
                  </a:ext>
                </a:extLst>
              </p14:cNvPr>
              <p14:cNvContentPartPr/>
              <p14:nvPr/>
            </p14:nvContentPartPr>
            <p14:xfrm>
              <a:off x="4996267" y="4657012"/>
              <a:ext cx="432000" cy="360"/>
            </p14:xfrm>
          </p:contentPart>
        </mc:Choice>
        <mc:Fallback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4D17C90D-F215-78C7-C60A-D1C51AEE77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0267" y="4585012"/>
                <a:ext cx="503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7387094D-80E3-BD7E-6C81-63A93AC58941}"/>
                  </a:ext>
                </a:extLst>
              </p14:cNvPr>
              <p14:cNvContentPartPr/>
              <p14:nvPr/>
            </p14:nvContentPartPr>
            <p14:xfrm>
              <a:off x="4211467" y="3601132"/>
              <a:ext cx="1437840" cy="360"/>
            </p14:xfrm>
          </p:contentPart>
        </mc:Choice>
        <mc:Fallback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7387094D-80E3-BD7E-6C81-63A93AC589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75827" y="3529492"/>
                <a:ext cx="15094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インク 24">
                <a:extLst>
                  <a:ext uri="{FF2B5EF4-FFF2-40B4-BE49-F238E27FC236}">
                    <a16:creationId xmlns:a16="http://schemas.microsoft.com/office/drawing/2014/main" id="{1D91BBFE-66C8-6E5C-E805-3912B4B89025}"/>
                  </a:ext>
                </a:extLst>
              </p14:cNvPr>
              <p14:cNvContentPartPr/>
              <p14:nvPr/>
            </p14:nvContentPartPr>
            <p14:xfrm>
              <a:off x="5967187" y="3601132"/>
              <a:ext cx="1436400" cy="360"/>
            </p14:xfrm>
          </p:contentPart>
        </mc:Choice>
        <mc:Fallback>
          <p:pic>
            <p:nvPicPr>
              <p:cNvPr id="25" name="インク 24">
                <a:extLst>
                  <a:ext uri="{FF2B5EF4-FFF2-40B4-BE49-F238E27FC236}">
                    <a16:creationId xmlns:a16="http://schemas.microsoft.com/office/drawing/2014/main" id="{1D91BBFE-66C8-6E5C-E805-3912B4B890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31547" y="3529492"/>
                <a:ext cx="150804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943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5721</TotalTime>
  <Words>210</Words>
  <Application>Microsoft Office PowerPoint</Application>
  <PresentationFormat>ユーザー設定</PresentationFormat>
  <Paragraphs>36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Meiryo UI</vt:lpstr>
      <vt:lpstr>メイリオ</vt:lpstr>
      <vt:lpstr>Arial</vt:lpstr>
      <vt:lpstr>Franklin Gothic Medium</vt:lpstr>
      <vt:lpstr>Wingdings</vt:lpstr>
      <vt:lpstr>コントラストにより注目を集めるビジネス用プレゼンテーション (16x9)</vt:lpstr>
      <vt:lpstr>PowerPoint プレゼンテーション</vt:lpstr>
      <vt:lpstr>ストアドプロシージャの基礎構文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アビック 太郎</cp:lastModifiedBy>
  <cp:revision>91</cp:revision>
  <dcterms:created xsi:type="dcterms:W3CDTF">2013-04-05T19:55:11Z</dcterms:created>
  <dcterms:modified xsi:type="dcterms:W3CDTF">2025-09-09T03:10:52Z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