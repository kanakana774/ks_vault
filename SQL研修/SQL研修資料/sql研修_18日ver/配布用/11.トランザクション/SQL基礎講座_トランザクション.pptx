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1" r:id="rId5"/>
    <p:sldId id="312" r:id="rId6"/>
    <p:sldId id="313" r:id="rId7"/>
    <p:sldId id="314" r:id="rId8"/>
    <p:sldId id="315" r:id="rId9"/>
    <p:sldId id="310" r:id="rId10"/>
    <p:sldId id="317" r:id="rId11"/>
    <p:sldId id="318" r:id="rId12"/>
    <p:sldId id="319" r:id="rId13"/>
    <p:sldId id="320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>
        <p:scale>
          <a:sx n="92" d="100"/>
          <a:sy n="92" d="100"/>
        </p:scale>
        <p:origin x="69" y="35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9/8/2025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2025/9/8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09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76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122555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トランザクション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データベースに対して行う関連した操作を１つの処理とまとめること。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一連の処理を完了してから実際に、処理結果を反映するかどうかを決定するので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事故や入力ミスからデータを守ることができる。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コミット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  <a:r>
              <a:rPr kumimoji="1" lang="en-US" altLang="ja-JP" dirty="0">
                <a:latin typeface="Meiryo UI" charset="0"/>
                <a:ea typeface="Meiryo UI" charset="0"/>
              </a:rPr>
              <a:t>【COMMIT】</a:t>
            </a:r>
            <a:endParaRPr kumimoji="1" lang="ja-JP" altLang="en-US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トランザクションの中で行った処理が成功した場合、コミットを実行する。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コミットを実行すると登録や更新、削除したデータの内容が確定し</a:t>
            </a:r>
            <a:r>
              <a:rPr kumimoji="1" lang="en-US" altLang="ja-JP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dirty="0">
                <a:latin typeface="Meiryo UI" charset="0"/>
                <a:ea typeface="Meiryo UI" charset="0"/>
              </a:rPr>
              <a:t>に反映される。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ロールバック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 </a:t>
            </a:r>
            <a:r>
              <a:rPr kumimoji="1" lang="en-US" altLang="ja-JP" dirty="0">
                <a:latin typeface="Meiryo UI" charset="0"/>
                <a:ea typeface="Meiryo UI" charset="0"/>
              </a:rPr>
              <a:t>【ROLLBACK】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    トランザクションの中で行った処理が失敗した場合、ロールバックを実行する。 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 </a:t>
            </a:r>
            <a:r>
              <a:rPr kumimoji="1" lang="ja-JP" altLang="en-US" dirty="0">
                <a:latin typeface="Meiryo UI" charset="0"/>
                <a:ea typeface="Meiryo UI" charset="0"/>
              </a:rPr>
              <a:t>ロールバックを実行すると登録や更新、削除した処理が取り消され元のデータに戻る。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81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114425" y="773113"/>
            <a:ext cx="9485313" cy="530516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pic>
        <p:nvPicPr>
          <p:cNvPr id="2" name="図 1" descr="トランザクショ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775" y="873125"/>
            <a:ext cx="9222699" cy="53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3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AD6424-49C9-4E81-A997-241E5BA2E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5212" y="609600"/>
            <a:ext cx="9753600" cy="5715000"/>
          </a:xfrm>
        </p:spPr>
        <p:txBody>
          <a:bodyPr/>
          <a:lstStyle/>
          <a:p>
            <a:pPr marL="45720" indent="0">
              <a:buNone/>
            </a:pPr>
            <a:r>
              <a:rPr kumimoji="1" lang="ja-JP" altLang="en-US" b="1" dirty="0"/>
              <a:t>トランザクションの</a:t>
            </a:r>
            <a:r>
              <a:rPr kumimoji="1" lang="en-US" altLang="ja-JP" b="1" dirty="0"/>
              <a:t>ACID</a:t>
            </a:r>
            <a:r>
              <a:rPr kumimoji="1" lang="ja-JP" altLang="en-US" b="1" dirty="0"/>
              <a:t>属性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dirty="0"/>
              <a:t>  → データの整合性を保証するうえで必要とされる</a:t>
            </a:r>
            <a:r>
              <a:rPr kumimoji="1" lang="en-US" altLang="ja-JP" dirty="0"/>
              <a:t>4</a:t>
            </a:r>
            <a:r>
              <a:rPr kumimoji="1" lang="ja-JP" altLang="en-US" dirty="0" err="1"/>
              <a:t>つの</a:t>
            </a:r>
            <a:r>
              <a:rPr kumimoji="1" lang="ja-JP" altLang="en-US" dirty="0"/>
              <a:t>属性</a:t>
            </a:r>
            <a:endParaRPr kumimoji="1" lang="en-US" altLang="ja-JP" dirty="0"/>
          </a:p>
          <a:p>
            <a:pPr marL="45720" indent="0">
              <a:buNone/>
            </a:pPr>
            <a:endParaRPr lang="en-US" altLang="ja-JP" b="1" dirty="0"/>
          </a:p>
          <a:p>
            <a:pPr marL="45720" indent="0">
              <a:buNone/>
            </a:pPr>
            <a:r>
              <a:rPr kumimoji="1" lang="en-US" altLang="ja-JP" dirty="0"/>
              <a:t>1. Atomicity(</a:t>
            </a:r>
            <a:r>
              <a:rPr kumimoji="1" lang="ja-JP" altLang="en-US" dirty="0"/>
              <a:t>原子性</a:t>
            </a:r>
            <a:r>
              <a:rPr kumimoji="1" lang="en-US" altLang="ja-JP" dirty="0"/>
              <a:t>)</a:t>
            </a:r>
          </a:p>
          <a:p>
            <a:pPr marL="45720" indent="0">
              <a:buNone/>
            </a:pPr>
            <a:r>
              <a:rPr kumimoji="1" lang="en-US" altLang="ja-JP" dirty="0"/>
              <a:t>  </a:t>
            </a:r>
            <a:r>
              <a:rPr kumimoji="1" lang="ja-JP" altLang="en-US" sz="1400" dirty="0"/>
              <a:t>トランザクションが、</a:t>
            </a:r>
            <a:r>
              <a:rPr kumimoji="1" lang="en-US" altLang="ja-JP" sz="1400" dirty="0"/>
              <a:t>DB</a:t>
            </a:r>
            <a:r>
              <a:rPr kumimoji="1" lang="ja-JP" altLang="en-US" sz="1400" dirty="0"/>
              <a:t>に対する更新処理を完全に行うか、全く処理しなかったかのように取り消すか、のいずれかを保証する。</a:t>
            </a:r>
            <a:endParaRPr kumimoji="1" lang="en-US" altLang="ja-JP" sz="1400" dirty="0"/>
          </a:p>
          <a:p>
            <a:pPr marL="45720" indent="0">
              <a:buNone/>
            </a:pPr>
            <a:r>
              <a:rPr lang="en-US" altLang="ja-JP" dirty="0"/>
              <a:t>2. Consistency(</a:t>
            </a:r>
            <a:r>
              <a:rPr lang="ja-JP" altLang="en-US" dirty="0"/>
              <a:t>一貫性</a:t>
            </a:r>
            <a:r>
              <a:rPr lang="en-US" altLang="ja-JP" dirty="0"/>
              <a:t>)</a:t>
            </a:r>
          </a:p>
          <a:p>
            <a:pPr marL="45720" indent="0">
              <a:buNone/>
            </a:pPr>
            <a:r>
              <a:rPr kumimoji="1" lang="en-US" altLang="ja-JP" dirty="0"/>
              <a:t> </a:t>
            </a:r>
            <a:r>
              <a:rPr kumimoji="1" lang="ja-JP" altLang="en-US" dirty="0"/>
              <a:t> </a:t>
            </a:r>
            <a:r>
              <a:rPr kumimoji="1" lang="ja-JP" altLang="en-US" sz="1400" dirty="0"/>
              <a:t>トランザクション処理の前後でデータの矛盾が無く、常に</a:t>
            </a:r>
            <a:r>
              <a:rPr kumimoji="1" lang="en-US" altLang="ja-JP" sz="1400" dirty="0"/>
              <a:t>DB</a:t>
            </a:r>
            <a:r>
              <a:rPr kumimoji="1" lang="ja-JP" altLang="en-US" sz="1400" dirty="0"/>
              <a:t>の整合性が保たれている。</a:t>
            </a:r>
            <a:endParaRPr kumimoji="1" lang="en-US" altLang="ja-JP" sz="1400" dirty="0"/>
          </a:p>
          <a:p>
            <a:pPr marL="45720" indent="0">
              <a:buNone/>
            </a:pPr>
            <a:r>
              <a:rPr kumimoji="1" lang="en-US" altLang="ja-JP" dirty="0"/>
              <a:t>3. Isolation(</a:t>
            </a:r>
            <a:r>
              <a:rPr kumimoji="1" lang="ja-JP" altLang="en-US" dirty="0"/>
              <a:t>独立性</a:t>
            </a:r>
            <a:r>
              <a:rPr kumimoji="1" lang="en-US" altLang="ja-JP" dirty="0"/>
              <a:t>)</a:t>
            </a:r>
          </a:p>
          <a:p>
            <a:pPr marL="45720" indent="0">
              <a:buNone/>
            </a:pPr>
            <a:r>
              <a:rPr lang="en-US" altLang="ja-JP" dirty="0"/>
              <a:t>  </a:t>
            </a:r>
            <a:r>
              <a:rPr lang="ja-JP" altLang="en-US" sz="1400" dirty="0"/>
              <a:t>複数のトランザクションを同時に実行しても、順番に実行しても結果が同じになる。</a:t>
            </a:r>
            <a:endParaRPr lang="en-US" altLang="ja-JP" sz="1400" dirty="0"/>
          </a:p>
          <a:p>
            <a:pPr marL="45720" indent="0">
              <a:buNone/>
            </a:pPr>
            <a:r>
              <a:rPr lang="en-US" altLang="ja-JP" dirty="0"/>
              <a:t>4. Durability(</a:t>
            </a:r>
            <a:r>
              <a:rPr lang="ja-JP" altLang="en-US" dirty="0"/>
              <a:t>永続性</a:t>
            </a:r>
            <a:r>
              <a:rPr lang="en-US" altLang="ja-JP" dirty="0"/>
              <a:t>)</a:t>
            </a:r>
          </a:p>
          <a:p>
            <a:pPr marL="45720" indent="0">
              <a:buNone/>
            </a:pPr>
            <a:r>
              <a:rPr kumimoji="1" lang="en-US" altLang="ja-JP" dirty="0"/>
              <a:t>  </a:t>
            </a:r>
            <a:r>
              <a:rPr kumimoji="1" lang="ja-JP" altLang="en-US" sz="1400" dirty="0"/>
              <a:t>障害が発生しても、正常終了したトランザクションの結果は失われる事はない。</a:t>
            </a:r>
          </a:p>
        </p:txBody>
      </p:sp>
    </p:spTree>
    <p:extLst>
      <p:ext uri="{BB962C8B-B14F-4D97-AF65-F5344CB8AC3E}">
        <p14:creationId xmlns:p14="http://schemas.microsoft.com/office/powerpoint/2010/main" val="240995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50C4B7-49FA-6BEF-B32D-3A7D380A85EC}"/>
              </a:ext>
            </a:extLst>
          </p:cNvPr>
          <p:cNvSpPr txBox="1"/>
          <p:nvPr/>
        </p:nvSpPr>
        <p:spPr>
          <a:xfrm>
            <a:off x="684212" y="685800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トランザクションの書き方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9950AA-1125-2268-F1B8-FDC4D2707EC3}"/>
              </a:ext>
            </a:extLst>
          </p:cNvPr>
          <p:cNvSpPr txBox="1"/>
          <p:nvPr/>
        </p:nvSpPr>
        <p:spPr>
          <a:xfrm>
            <a:off x="1217612" y="1371600"/>
            <a:ext cx="7192795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BEGIN;</a:t>
            </a:r>
            <a:endParaRPr lang="en-US" altLang="ja-JP" sz="2400" dirty="0">
              <a:solidFill>
                <a:srgbClr val="0082B3"/>
              </a:solidFill>
              <a:latin typeface="Meiryo UI"/>
              <a:ea typeface="Meiryo UI"/>
            </a:endParaRPr>
          </a:p>
          <a:p>
            <a:endParaRPr lang="en-US" altLang="ja-JP" sz="2400" dirty="0">
              <a:latin typeface="Meiryo UI"/>
              <a:ea typeface="Meiryo UI"/>
            </a:endParaRPr>
          </a:p>
          <a:p>
            <a:r>
              <a:rPr lang="ja-JP" altLang="en-US" sz="2400" b="1" dirty="0">
                <a:solidFill>
                  <a:srgbClr val="0082B3"/>
                </a:solidFill>
                <a:latin typeface="Meiryo UI"/>
                <a:ea typeface="Meiryo UI"/>
              </a:rPr>
              <a:t>  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SQL</a:t>
            </a:r>
            <a:r>
              <a:rPr lang="ja-JP" altLang="en-US" sz="2400" b="1" dirty="0">
                <a:solidFill>
                  <a:srgbClr val="0082B3"/>
                </a:solidFill>
                <a:latin typeface="Meiryo UI"/>
                <a:ea typeface="Meiryo UI"/>
              </a:rPr>
              <a:t>文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(</a:t>
            </a:r>
            <a:r>
              <a:rPr lang="ja-JP" altLang="en-US" sz="2400" b="1" dirty="0">
                <a:solidFill>
                  <a:srgbClr val="0082B3"/>
                </a:solidFill>
                <a:latin typeface="Meiryo UI"/>
                <a:ea typeface="Meiryo UI"/>
              </a:rPr>
              <a:t>複数の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SQL</a:t>
            </a:r>
            <a:r>
              <a:rPr lang="ja-JP" altLang="en-US" sz="2400" b="1" dirty="0">
                <a:solidFill>
                  <a:srgbClr val="0082B3"/>
                </a:solidFill>
                <a:latin typeface="Meiryo UI"/>
                <a:ea typeface="Meiryo UI"/>
              </a:rPr>
              <a:t>文の実行可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)</a:t>
            </a:r>
          </a:p>
          <a:p>
            <a:endParaRPr lang="en-US" altLang="ja-JP" sz="2400" b="1" dirty="0">
              <a:solidFill>
                <a:srgbClr val="0082B3"/>
              </a:solidFill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  COMMIT; </a:t>
            </a:r>
            <a:r>
              <a:rPr lang="ja-JP" altLang="en-US" sz="2400" dirty="0">
                <a:solidFill>
                  <a:schemeClr val="tx1"/>
                </a:solidFill>
                <a:latin typeface="Meiryo UI"/>
                <a:ea typeface="Meiryo UI"/>
              </a:rPr>
              <a:t>もしくは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ROLLBACK;</a:t>
            </a:r>
            <a:endParaRPr lang="en-US" altLang="ja-JP" sz="2400" dirty="0">
              <a:latin typeface="Meiryo UI"/>
              <a:ea typeface="Meiryo UI"/>
            </a:endParaRPr>
          </a:p>
          <a:p>
            <a:endParaRPr lang="ja-JP" altLang="en-US" sz="2400" dirty="0">
              <a:latin typeface="Meiryo UI"/>
              <a:ea typeface="Meiryo UI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F5BAD1-FA82-8B40-0275-43A366831D99}"/>
              </a:ext>
            </a:extLst>
          </p:cNvPr>
          <p:cNvSpPr txBox="1"/>
          <p:nvPr/>
        </p:nvSpPr>
        <p:spPr>
          <a:xfrm>
            <a:off x="1674812" y="4114800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1.BEGIN</a:t>
            </a:r>
            <a:r>
              <a:rPr kumimoji="1" lang="ja-JP" altLang="en-US" sz="2000" dirty="0"/>
              <a:t>でトランザクションを開始</a:t>
            </a:r>
            <a:endParaRPr kumimoji="1"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B72B8C-1AF3-FF75-8B65-6C11AF0F10CC}"/>
              </a:ext>
            </a:extLst>
          </p:cNvPr>
          <p:cNvSpPr txBox="1"/>
          <p:nvPr/>
        </p:nvSpPr>
        <p:spPr>
          <a:xfrm>
            <a:off x="1674812" y="4625132"/>
            <a:ext cx="944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2.</a:t>
            </a:r>
            <a:r>
              <a:rPr kumimoji="1" lang="ja-JP" altLang="en-US" sz="2000" dirty="0"/>
              <a:t>一連の</a:t>
            </a:r>
            <a:r>
              <a:rPr kumimoji="1" lang="en-US" altLang="ja-JP" sz="2000" dirty="0"/>
              <a:t>SQL</a:t>
            </a:r>
            <a:r>
              <a:rPr kumimoji="1" lang="ja-JP" altLang="en-US" sz="2000" dirty="0"/>
              <a:t>文を実行</a:t>
            </a:r>
            <a:r>
              <a:rPr kumimoji="1" lang="en-US" altLang="ja-JP" sz="2000" dirty="0"/>
              <a:t>(</a:t>
            </a:r>
            <a:r>
              <a:rPr kumimoji="1" lang="ja-JP" altLang="en-US" sz="2000" dirty="0"/>
              <a:t>この時点で</a:t>
            </a:r>
            <a:r>
              <a:rPr kumimoji="1" lang="en-US" altLang="ja-JP" sz="2000" dirty="0"/>
              <a:t>SELECT</a:t>
            </a:r>
            <a:r>
              <a:rPr kumimoji="1" lang="ja-JP" altLang="en-US" sz="2000" dirty="0"/>
              <a:t>などをするとデータが変更されている。</a:t>
            </a:r>
            <a:r>
              <a:rPr kumimoji="1" lang="en-US" altLang="ja-JP" sz="2000" dirty="0"/>
              <a:t>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359C6B4-823E-4DCB-407C-0A98733EE4AA}"/>
              </a:ext>
            </a:extLst>
          </p:cNvPr>
          <p:cNvSpPr txBox="1"/>
          <p:nvPr/>
        </p:nvSpPr>
        <p:spPr>
          <a:xfrm>
            <a:off x="1674812" y="5135464"/>
            <a:ext cx="662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3.COMMIT</a:t>
            </a:r>
            <a:r>
              <a:rPr kumimoji="1" lang="ja-JP" altLang="en-US" sz="2000" dirty="0"/>
              <a:t>もしくは</a:t>
            </a:r>
            <a:r>
              <a:rPr kumimoji="1" lang="en-US" altLang="ja-JP" sz="2000" dirty="0"/>
              <a:t>ROLLBACK</a:t>
            </a:r>
          </a:p>
          <a:p>
            <a:r>
              <a:rPr kumimoji="1" lang="en-US" altLang="ja-JP" sz="2000" dirty="0"/>
              <a:t>(COMMIT</a:t>
            </a:r>
            <a:r>
              <a:rPr kumimoji="1" lang="ja-JP" altLang="en-US" sz="2000" dirty="0"/>
              <a:t>すると</a:t>
            </a:r>
            <a:r>
              <a:rPr kumimoji="1" lang="en-US" altLang="ja-JP" sz="2000" dirty="0"/>
              <a:t>2</a:t>
            </a:r>
            <a:r>
              <a:rPr kumimoji="1" lang="ja-JP" altLang="en-US" sz="2000" dirty="0"/>
              <a:t>の</a:t>
            </a:r>
            <a:r>
              <a:rPr kumimoji="1" lang="en-US" altLang="ja-JP" sz="2000" dirty="0"/>
              <a:t>SQL</a:t>
            </a:r>
            <a:r>
              <a:rPr kumimoji="1" lang="ja-JP" altLang="en-US" sz="2000" dirty="0"/>
              <a:t>の結果がすべて反映される。</a:t>
            </a:r>
            <a:r>
              <a:rPr kumimoji="1" lang="en-US" altLang="ja-JP" sz="2000" dirty="0"/>
              <a:t>)</a:t>
            </a:r>
          </a:p>
          <a:p>
            <a:r>
              <a:rPr kumimoji="1" lang="en-US" altLang="ja-JP" sz="2000" dirty="0"/>
              <a:t>(ROLLBACK</a:t>
            </a:r>
            <a:r>
              <a:rPr kumimoji="1" lang="ja-JP" altLang="en-US" sz="2000" dirty="0"/>
              <a:t>するとトランザクション開始前の状態に戻る</a:t>
            </a:r>
            <a:r>
              <a:rPr kumimoji="1" lang="en-US" altLang="ja-JP" sz="2000" dirty="0"/>
              <a:t>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D4C71E1-E028-D66B-AD4C-FBFA0466DA13}"/>
              </a:ext>
            </a:extLst>
          </p:cNvPr>
          <p:cNvSpPr txBox="1"/>
          <p:nvPr/>
        </p:nvSpPr>
        <p:spPr>
          <a:xfrm>
            <a:off x="1674812" y="6268336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課題の際にもこの</a:t>
            </a:r>
            <a:r>
              <a:rPr kumimoji="1" lang="en-US" altLang="ja-JP" sz="2000" dirty="0"/>
              <a:t>3</a:t>
            </a:r>
            <a:r>
              <a:rPr kumimoji="1" lang="ja-JP" altLang="en-US" sz="2000" dirty="0"/>
              <a:t>段階に分けて実行すると動作が分かりやすい</a:t>
            </a:r>
          </a:p>
        </p:txBody>
      </p:sp>
    </p:spTree>
    <p:extLst>
      <p:ext uri="{BB962C8B-B14F-4D97-AF65-F5344CB8AC3E}">
        <p14:creationId xmlns:p14="http://schemas.microsoft.com/office/powerpoint/2010/main" val="14750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50C4B7-49FA-6BEF-B32D-3A7D380A85EC}"/>
              </a:ext>
            </a:extLst>
          </p:cNvPr>
          <p:cNvSpPr txBox="1"/>
          <p:nvPr/>
        </p:nvSpPr>
        <p:spPr>
          <a:xfrm>
            <a:off x="455612" y="20949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PL/</a:t>
            </a:r>
            <a:r>
              <a:rPr kumimoji="1" lang="en-US" altLang="ja-JP" sz="2400" b="1" dirty="0" err="1"/>
              <a:t>pgSQL</a:t>
            </a:r>
            <a:r>
              <a:rPr kumimoji="1" lang="ja-JP" altLang="en-US" sz="2400" b="1" dirty="0"/>
              <a:t>とは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B28A3A-277E-70E6-26CD-B859035D4F53}"/>
              </a:ext>
            </a:extLst>
          </p:cNvPr>
          <p:cNvSpPr txBox="1"/>
          <p:nvPr/>
        </p:nvSpPr>
        <p:spPr>
          <a:xfrm>
            <a:off x="912812" y="745122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PL/</a:t>
            </a:r>
            <a:r>
              <a:rPr kumimoji="1" lang="en-US" altLang="ja-JP" sz="2000" dirty="0" err="1"/>
              <a:t>pgSQL</a:t>
            </a:r>
            <a:r>
              <a:rPr kumimoji="1" lang="ja-JP" altLang="en-US" sz="2000" dirty="0"/>
              <a:t>とは</a:t>
            </a:r>
            <a:r>
              <a:rPr kumimoji="1" lang="en-US" altLang="ja-JP" sz="2000" dirty="0"/>
              <a:t>PostgreSQL</a:t>
            </a:r>
            <a:r>
              <a:rPr kumimoji="1" lang="ja-JP" altLang="en-US" sz="2000" dirty="0"/>
              <a:t>用の手続き型言語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217FF9-A3D2-5460-B287-A9D55FF36233}"/>
              </a:ext>
            </a:extLst>
          </p:cNvPr>
          <p:cNvSpPr txBox="1"/>
          <p:nvPr/>
        </p:nvSpPr>
        <p:spPr>
          <a:xfrm>
            <a:off x="912812" y="114523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SQL</a:t>
            </a:r>
            <a:r>
              <a:rPr kumimoji="1" lang="ja-JP" altLang="en-US" sz="2000" dirty="0"/>
              <a:t>にプログラミング要素（条件分岐やループ、例外処理など）を加えたもの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D0CD1F7-8046-21E2-B220-30EBF2F795E9}"/>
              </a:ext>
            </a:extLst>
          </p:cNvPr>
          <p:cNvSpPr txBox="1"/>
          <p:nvPr/>
        </p:nvSpPr>
        <p:spPr>
          <a:xfrm>
            <a:off x="1370012" y="1676400"/>
            <a:ext cx="9601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F0"/>
                </a:solidFill>
              </a:rPr>
              <a:t>DO $$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DECLARE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INT;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BEGIN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SELECT points INTO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    FROM Members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WHERE </a:t>
            </a:r>
            <a:r>
              <a:rPr lang="en-US" altLang="ja-JP" dirty="0" err="1">
                <a:solidFill>
                  <a:srgbClr val="00B0F0"/>
                </a:solidFill>
              </a:rPr>
              <a:t>member_id</a:t>
            </a:r>
            <a:r>
              <a:rPr lang="en-US" altLang="ja-JP" dirty="0">
                <a:solidFill>
                  <a:srgbClr val="00B0F0"/>
                </a:solidFill>
              </a:rPr>
              <a:t> = 1;</a:t>
            </a:r>
          </a:p>
          <a:p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    IF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&lt; 50 THEN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    UPDATE Members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    SET points = points + 20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    WHERE </a:t>
            </a:r>
            <a:r>
              <a:rPr lang="en-US" altLang="ja-JP" dirty="0" err="1">
                <a:solidFill>
                  <a:srgbClr val="00B0F0"/>
                </a:solidFill>
              </a:rPr>
              <a:t>member_id</a:t>
            </a:r>
            <a:r>
              <a:rPr lang="en-US" altLang="ja-JP" dirty="0">
                <a:solidFill>
                  <a:srgbClr val="00B0F0"/>
                </a:solidFill>
              </a:rPr>
              <a:t> = 1;</a:t>
            </a:r>
          </a:p>
          <a:p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        RAISE NOTICE '</a:t>
            </a:r>
            <a:r>
              <a:rPr lang="ja-JP" altLang="en-US" dirty="0">
                <a:solidFill>
                  <a:srgbClr val="00B0F0"/>
                </a:solidFill>
              </a:rPr>
              <a:t>ポイントが少ないので </a:t>
            </a:r>
            <a:r>
              <a:rPr lang="en-US" altLang="ja-JP" dirty="0">
                <a:solidFill>
                  <a:srgbClr val="00B0F0"/>
                </a:solidFill>
              </a:rPr>
              <a:t>+20 </a:t>
            </a:r>
            <a:r>
              <a:rPr lang="ja-JP" altLang="en-US" dirty="0">
                <a:solidFill>
                  <a:srgbClr val="00B0F0"/>
                </a:solidFill>
              </a:rPr>
              <a:t>加算しました </a:t>
            </a:r>
            <a:r>
              <a:rPr lang="en-US" altLang="ja-JP" dirty="0">
                <a:solidFill>
                  <a:srgbClr val="00B0F0"/>
                </a:solidFill>
              </a:rPr>
              <a:t>(</a:t>
            </a:r>
            <a:r>
              <a:rPr lang="ja-JP" altLang="en-US" dirty="0">
                <a:solidFill>
                  <a:srgbClr val="00B0F0"/>
                </a:solidFill>
              </a:rPr>
              <a:t>現在</a:t>
            </a:r>
            <a:r>
              <a:rPr lang="en-US" altLang="ja-JP" dirty="0">
                <a:solidFill>
                  <a:srgbClr val="00B0F0"/>
                </a:solidFill>
              </a:rPr>
              <a:t>: %)',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+ 20;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ELSE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    RAISE NOTICE '</a:t>
            </a:r>
            <a:r>
              <a:rPr lang="ja-JP" altLang="en-US" dirty="0">
                <a:solidFill>
                  <a:srgbClr val="00B0F0"/>
                </a:solidFill>
              </a:rPr>
              <a:t>十分なポイントがあります </a:t>
            </a:r>
            <a:r>
              <a:rPr lang="en-US" altLang="ja-JP" dirty="0">
                <a:solidFill>
                  <a:srgbClr val="00B0F0"/>
                </a:solidFill>
              </a:rPr>
              <a:t>(</a:t>
            </a:r>
            <a:r>
              <a:rPr lang="ja-JP" altLang="en-US" dirty="0">
                <a:solidFill>
                  <a:srgbClr val="00B0F0"/>
                </a:solidFill>
              </a:rPr>
              <a:t>現在</a:t>
            </a:r>
            <a:r>
              <a:rPr lang="en-US" altLang="ja-JP" dirty="0">
                <a:solidFill>
                  <a:srgbClr val="00B0F0"/>
                </a:solidFill>
              </a:rPr>
              <a:t>: %)',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END IF;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END$$;</a:t>
            </a:r>
            <a:endParaRPr lang="ja-JP" altLang="en-US" dirty="0">
              <a:solidFill>
                <a:srgbClr val="00B0F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C96CB2D-FFE8-D8B9-4272-C84D6BDB85B4}"/>
              </a:ext>
            </a:extLst>
          </p:cNvPr>
          <p:cNvSpPr txBox="1"/>
          <p:nvPr/>
        </p:nvSpPr>
        <p:spPr>
          <a:xfrm>
            <a:off x="760412" y="160020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例</a:t>
            </a:r>
            <a:r>
              <a:rPr kumimoji="1" lang="en-US" altLang="ja-JP" sz="2000" dirty="0"/>
              <a:t>)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359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A0308F-0857-7DBE-6A44-757AF1A923C9}"/>
              </a:ext>
            </a:extLst>
          </p:cNvPr>
          <p:cNvSpPr txBox="1"/>
          <p:nvPr/>
        </p:nvSpPr>
        <p:spPr>
          <a:xfrm>
            <a:off x="455612" y="20949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DO$$</a:t>
            </a:r>
            <a:endParaRPr kumimoji="1" lang="ja-JP" altLang="en-US" sz="24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5984A4-83D6-E2C8-623A-7FA989017332}"/>
              </a:ext>
            </a:extLst>
          </p:cNvPr>
          <p:cNvSpPr txBox="1"/>
          <p:nvPr/>
        </p:nvSpPr>
        <p:spPr>
          <a:xfrm>
            <a:off x="912812" y="745122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試しに一度だけ処理を実行するという目印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AC733C-A095-8B0C-BC23-0F11B7305538}"/>
              </a:ext>
            </a:extLst>
          </p:cNvPr>
          <p:cNvSpPr txBox="1"/>
          <p:nvPr/>
        </p:nvSpPr>
        <p:spPr>
          <a:xfrm>
            <a:off x="912812" y="114523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何度も実行する場合は関数やストアドプロシージャにするので、不要</a:t>
            </a:r>
            <a:endParaRPr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622E7A-8227-9C74-5B67-E77CD3FE329C}"/>
              </a:ext>
            </a:extLst>
          </p:cNvPr>
          <p:cNvSpPr txBox="1"/>
          <p:nvPr/>
        </p:nvSpPr>
        <p:spPr>
          <a:xfrm>
            <a:off x="912812" y="1581710"/>
            <a:ext cx="1104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(</a:t>
            </a:r>
            <a:r>
              <a:rPr kumimoji="1" lang="ja-JP" altLang="en-US" sz="2000" dirty="0"/>
              <a:t>まだ関数やストアドプロシージャをしていないので、今日の課題ではこれをつけてください。</a:t>
            </a:r>
            <a:r>
              <a:rPr kumimoji="1" lang="en-US" altLang="ja-JP" sz="2000" dirty="0"/>
              <a:t>)</a:t>
            </a:r>
            <a:endParaRPr kumimoji="1" lang="ja-JP" altLang="en-US" sz="2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C7ABF57-45EA-AAFA-20C1-0567B6B699A9}"/>
              </a:ext>
            </a:extLst>
          </p:cNvPr>
          <p:cNvSpPr txBox="1"/>
          <p:nvPr/>
        </p:nvSpPr>
        <p:spPr>
          <a:xfrm>
            <a:off x="455612" y="2817168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BEGIN  END$$</a:t>
            </a:r>
            <a:endParaRPr kumimoji="1" lang="ja-JP" altLang="en-US" sz="2400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EAD9DC2-95EC-7327-4242-4C16DB5F569E}"/>
              </a:ext>
            </a:extLst>
          </p:cNvPr>
          <p:cNvSpPr txBox="1"/>
          <p:nvPr/>
        </p:nvSpPr>
        <p:spPr>
          <a:xfrm>
            <a:off x="912812" y="3352800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処理のかたまりを意味し、この</a:t>
            </a:r>
            <a:r>
              <a:rPr kumimoji="1" lang="en-US" altLang="ja-JP" sz="2000" dirty="0"/>
              <a:t>BEGIN</a:t>
            </a:r>
            <a:r>
              <a:rPr kumimoji="1" lang="ja-JP" altLang="en-US" sz="2000" dirty="0"/>
              <a:t>と</a:t>
            </a:r>
            <a:r>
              <a:rPr kumimoji="1" lang="en-US" altLang="ja-JP" sz="2000" dirty="0"/>
              <a:t>END</a:t>
            </a:r>
            <a:r>
              <a:rPr kumimoji="1" lang="ja-JP" altLang="en-US" sz="2000" dirty="0"/>
              <a:t>の間に</a:t>
            </a:r>
            <a:r>
              <a:rPr kumimoji="1" lang="en-US" altLang="ja-JP" sz="2000" dirty="0"/>
              <a:t>PL/</a:t>
            </a:r>
            <a:r>
              <a:rPr kumimoji="1" lang="en-US" altLang="ja-JP" sz="2000" dirty="0" err="1"/>
              <a:t>pgSQL</a:t>
            </a:r>
            <a:r>
              <a:rPr kumimoji="1" lang="ja-JP" altLang="en-US" sz="2000" dirty="0"/>
              <a:t>を記述する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84997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A0308F-0857-7DBE-6A44-757AF1A923C9}"/>
              </a:ext>
            </a:extLst>
          </p:cNvPr>
          <p:cNvSpPr txBox="1"/>
          <p:nvPr/>
        </p:nvSpPr>
        <p:spPr>
          <a:xfrm>
            <a:off x="455612" y="20949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DECLARE</a:t>
            </a:r>
            <a:endParaRPr kumimoji="1" lang="ja-JP" altLang="en-US" sz="24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1B4B14E-F935-3296-2B62-79EE6AFD1C03}"/>
              </a:ext>
            </a:extLst>
          </p:cNvPr>
          <p:cNvSpPr txBox="1"/>
          <p:nvPr/>
        </p:nvSpPr>
        <p:spPr>
          <a:xfrm>
            <a:off x="912812" y="2209800"/>
            <a:ext cx="60942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F0"/>
                </a:solidFill>
              </a:rPr>
              <a:t>DECLARE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INT;</a:t>
            </a:r>
          </a:p>
          <a:p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SELECT points INTO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FROM Members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WHERE </a:t>
            </a:r>
            <a:r>
              <a:rPr lang="en-US" altLang="ja-JP" dirty="0" err="1">
                <a:solidFill>
                  <a:srgbClr val="00B0F0"/>
                </a:solidFill>
              </a:rPr>
              <a:t>member_id</a:t>
            </a:r>
            <a:r>
              <a:rPr lang="en-US" altLang="ja-JP" dirty="0">
                <a:solidFill>
                  <a:srgbClr val="00B0F0"/>
                </a:solidFill>
              </a:rPr>
              <a:t> = 1;</a:t>
            </a:r>
          </a:p>
          <a:p>
            <a:endParaRPr lang="en-US" altLang="ja-JP" dirty="0">
              <a:solidFill>
                <a:srgbClr val="00B0F0"/>
              </a:solidFill>
            </a:endParaRPr>
          </a:p>
          <a:p>
            <a:r>
              <a:rPr lang="en-US" altLang="ja-JP" dirty="0">
                <a:solidFill>
                  <a:srgbClr val="00B0F0"/>
                </a:solidFill>
              </a:rPr>
              <a:t>IF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&lt; 50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A38F86D-7B6D-E1BB-AB1E-3D3B3492E2E5}"/>
              </a:ext>
            </a:extLst>
          </p:cNvPr>
          <p:cNvSpPr txBox="1"/>
          <p:nvPr/>
        </p:nvSpPr>
        <p:spPr>
          <a:xfrm>
            <a:off x="912812" y="4869313"/>
            <a:ext cx="1013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PL/</a:t>
            </a:r>
            <a:r>
              <a:rPr kumimoji="1" lang="en-US" altLang="ja-JP" sz="2000" dirty="0" err="1"/>
              <a:t>pgSQL</a:t>
            </a:r>
            <a:r>
              <a:rPr kumimoji="1" lang="ja-JP" altLang="en-US" sz="2000" dirty="0"/>
              <a:t>内では</a:t>
            </a:r>
            <a:r>
              <a:rPr lang="en-US" altLang="ja-JP" sz="2000" dirty="0" err="1"/>
              <a:t>current_points</a:t>
            </a:r>
            <a:r>
              <a:rPr lang="ja-JP" altLang="en-US" sz="2000" dirty="0"/>
              <a:t>という変数名を使って検索結果を使うことができる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5C4590-542C-AD2C-EF66-EB0D1FA8B478}"/>
              </a:ext>
            </a:extLst>
          </p:cNvPr>
          <p:cNvSpPr txBox="1"/>
          <p:nvPr/>
        </p:nvSpPr>
        <p:spPr>
          <a:xfrm>
            <a:off x="912812" y="745122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変数を宣言するための記述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CC6355-0BCA-4C96-9DD1-996ED4808F71}"/>
              </a:ext>
            </a:extLst>
          </p:cNvPr>
          <p:cNvSpPr txBox="1"/>
          <p:nvPr/>
        </p:nvSpPr>
        <p:spPr>
          <a:xfrm>
            <a:off x="912812" y="114523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変数とは</a:t>
            </a:r>
            <a:r>
              <a:rPr kumimoji="1" lang="en-US" altLang="ja-JP" sz="2000" dirty="0"/>
              <a:t>SELECT</a:t>
            </a:r>
            <a:r>
              <a:rPr kumimoji="1" lang="ja-JP" altLang="en-US" sz="2000" dirty="0"/>
              <a:t>の結果などを一時的に格納するためのもの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AB9FD3-7155-7A6C-7F70-A79CDB4B46BE}"/>
              </a:ext>
            </a:extLst>
          </p:cNvPr>
          <p:cNvSpPr txBox="1"/>
          <p:nvPr/>
        </p:nvSpPr>
        <p:spPr>
          <a:xfrm>
            <a:off x="912812" y="1581710"/>
            <a:ext cx="1104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例の</a:t>
            </a:r>
            <a:r>
              <a:rPr kumimoji="1" lang="en-US" altLang="ja-JP" sz="2000" dirty="0"/>
              <a:t>SQL</a:t>
            </a:r>
            <a:r>
              <a:rPr kumimoji="1" lang="ja-JP" altLang="en-US" sz="2000" dirty="0"/>
              <a:t>では以下のように記述し、</a:t>
            </a:r>
            <a:r>
              <a:rPr kumimoji="1" lang="en-US" altLang="ja-JP" sz="2000" dirty="0"/>
              <a:t>SELECT</a:t>
            </a:r>
            <a:r>
              <a:rPr kumimoji="1" lang="ja-JP" altLang="en-US" sz="2000" dirty="0"/>
              <a:t>した結果である</a:t>
            </a:r>
            <a:r>
              <a:rPr kumimoji="1" lang="en-US" altLang="ja-JP" sz="2000" dirty="0"/>
              <a:t>POINTS</a:t>
            </a:r>
            <a:r>
              <a:rPr kumimoji="1" lang="ja-JP" altLang="en-US" sz="2000" dirty="0"/>
              <a:t>を変数に格納している</a:t>
            </a:r>
          </a:p>
        </p:txBody>
      </p:sp>
    </p:spTree>
    <p:extLst>
      <p:ext uri="{BB962C8B-B14F-4D97-AF65-F5344CB8AC3E}">
        <p14:creationId xmlns:p14="http://schemas.microsoft.com/office/powerpoint/2010/main" val="390060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A0308F-0857-7DBE-6A44-757AF1A923C9}"/>
              </a:ext>
            </a:extLst>
          </p:cNvPr>
          <p:cNvSpPr txBox="1"/>
          <p:nvPr/>
        </p:nvSpPr>
        <p:spPr>
          <a:xfrm>
            <a:off x="455612" y="20949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条件分岐</a:t>
            </a:r>
            <a:r>
              <a:rPr kumimoji="1" lang="en-US" altLang="ja-JP" sz="2400" b="1" dirty="0"/>
              <a:t>(IF ~ ELSE)</a:t>
            </a:r>
            <a:endParaRPr kumimoji="1" lang="ja-JP" altLang="en-US" sz="24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1B4B14E-F935-3296-2B62-79EE6AFD1C03}"/>
              </a:ext>
            </a:extLst>
          </p:cNvPr>
          <p:cNvSpPr txBox="1"/>
          <p:nvPr/>
        </p:nvSpPr>
        <p:spPr>
          <a:xfrm>
            <a:off x="912812" y="2209800"/>
            <a:ext cx="9753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F0"/>
                </a:solidFill>
              </a:rPr>
              <a:t>IF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&lt; 50 THEN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UPDATE Members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SET points = points + 20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WHERE </a:t>
            </a:r>
            <a:r>
              <a:rPr lang="en-US" altLang="ja-JP" dirty="0" err="1">
                <a:solidFill>
                  <a:srgbClr val="00B0F0"/>
                </a:solidFill>
              </a:rPr>
              <a:t>member_id</a:t>
            </a:r>
            <a:r>
              <a:rPr lang="en-US" altLang="ja-JP" dirty="0">
                <a:solidFill>
                  <a:srgbClr val="00B0F0"/>
                </a:solidFill>
              </a:rPr>
              <a:t> = 1;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RAISE NOTICE '</a:t>
            </a:r>
            <a:r>
              <a:rPr lang="ja-JP" altLang="en-US" dirty="0">
                <a:solidFill>
                  <a:srgbClr val="00B0F0"/>
                </a:solidFill>
              </a:rPr>
              <a:t>ポイントが少ないので </a:t>
            </a:r>
            <a:r>
              <a:rPr lang="en-US" altLang="ja-JP" dirty="0">
                <a:solidFill>
                  <a:srgbClr val="00B0F0"/>
                </a:solidFill>
              </a:rPr>
              <a:t>+20 </a:t>
            </a:r>
            <a:r>
              <a:rPr lang="ja-JP" altLang="en-US" dirty="0">
                <a:solidFill>
                  <a:srgbClr val="00B0F0"/>
                </a:solidFill>
              </a:rPr>
              <a:t>加算しました </a:t>
            </a:r>
            <a:r>
              <a:rPr lang="en-US" altLang="ja-JP" dirty="0">
                <a:solidFill>
                  <a:srgbClr val="00B0F0"/>
                </a:solidFill>
              </a:rPr>
              <a:t>(</a:t>
            </a:r>
            <a:r>
              <a:rPr lang="ja-JP" altLang="en-US" dirty="0">
                <a:solidFill>
                  <a:srgbClr val="00B0F0"/>
                </a:solidFill>
              </a:rPr>
              <a:t>現在</a:t>
            </a:r>
            <a:r>
              <a:rPr lang="en-US" altLang="ja-JP" dirty="0">
                <a:solidFill>
                  <a:srgbClr val="00B0F0"/>
                </a:solidFill>
              </a:rPr>
              <a:t>: %)',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+ 20;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ELSE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RAISE NOTICE '</a:t>
            </a:r>
            <a:r>
              <a:rPr lang="ja-JP" altLang="en-US" dirty="0">
                <a:solidFill>
                  <a:srgbClr val="00B0F0"/>
                </a:solidFill>
              </a:rPr>
              <a:t>十分なポイントがあります </a:t>
            </a:r>
            <a:r>
              <a:rPr lang="en-US" altLang="ja-JP" dirty="0">
                <a:solidFill>
                  <a:srgbClr val="00B0F0"/>
                </a:solidFill>
              </a:rPr>
              <a:t>(</a:t>
            </a:r>
            <a:r>
              <a:rPr lang="ja-JP" altLang="en-US" dirty="0">
                <a:solidFill>
                  <a:srgbClr val="00B0F0"/>
                </a:solidFill>
              </a:rPr>
              <a:t>現在</a:t>
            </a:r>
            <a:r>
              <a:rPr lang="en-US" altLang="ja-JP" dirty="0">
                <a:solidFill>
                  <a:srgbClr val="00B0F0"/>
                </a:solidFill>
              </a:rPr>
              <a:t>: %)',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END IF;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A38F86D-7B6D-E1BB-AB1E-3D3B3492E2E5}"/>
              </a:ext>
            </a:extLst>
          </p:cNvPr>
          <p:cNvSpPr txBox="1"/>
          <p:nvPr/>
        </p:nvSpPr>
        <p:spPr>
          <a:xfrm>
            <a:off x="912812" y="4869313"/>
            <a:ext cx="1013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基本形</a:t>
            </a:r>
            <a:endParaRPr kumimoji="1" lang="en-US" altLang="ja-JP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5C4590-542C-AD2C-EF66-EB0D1FA8B478}"/>
              </a:ext>
            </a:extLst>
          </p:cNvPr>
          <p:cNvSpPr txBox="1"/>
          <p:nvPr/>
        </p:nvSpPr>
        <p:spPr>
          <a:xfrm>
            <a:off x="912812" y="745122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条件分岐を宣言するための記述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CC6355-0BCA-4C96-9DD1-996ED4808F71}"/>
              </a:ext>
            </a:extLst>
          </p:cNvPr>
          <p:cNvSpPr txBox="1"/>
          <p:nvPr/>
        </p:nvSpPr>
        <p:spPr>
          <a:xfrm>
            <a:off x="912812" y="1145232"/>
            <a:ext cx="990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条件式を用意し、その条件が</a:t>
            </a:r>
            <a:r>
              <a:rPr kumimoji="1" lang="en-US" altLang="ja-JP" sz="2000" dirty="0"/>
              <a:t>true</a:t>
            </a:r>
            <a:r>
              <a:rPr kumimoji="1" lang="ja-JP" altLang="en-US" sz="2000" dirty="0"/>
              <a:t>か</a:t>
            </a:r>
            <a:r>
              <a:rPr kumimoji="1" lang="en-US" altLang="ja-JP" sz="2000" dirty="0"/>
              <a:t>false</a:t>
            </a:r>
            <a:r>
              <a:rPr kumimoji="1" lang="ja-JP" altLang="en-US" sz="2000" dirty="0"/>
              <a:t>かによって実行するものを変えることが可能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AB9FD3-7155-7A6C-7F70-A79CDB4B46BE}"/>
              </a:ext>
            </a:extLst>
          </p:cNvPr>
          <p:cNvSpPr txBox="1"/>
          <p:nvPr/>
        </p:nvSpPr>
        <p:spPr>
          <a:xfrm>
            <a:off x="912812" y="1581710"/>
            <a:ext cx="1104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例の</a:t>
            </a:r>
            <a:r>
              <a:rPr kumimoji="1" lang="en-US" altLang="ja-JP" sz="2000" dirty="0"/>
              <a:t>SQL</a:t>
            </a:r>
            <a:r>
              <a:rPr kumimoji="1" lang="ja-JP" altLang="en-US" sz="2000" dirty="0"/>
              <a:t>では以下のように記述し、分岐を行っている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7B27CF-1A41-3C93-C0B4-9A704ED43A37}"/>
              </a:ext>
            </a:extLst>
          </p:cNvPr>
          <p:cNvSpPr txBox="1"/>
          <p:nvPr/>
        </p:nvSpPr>
        <p:spPr>
          <a:xfrm>
            <a:off x="1903412" y="4881436"/>
            <a:ext cx="8153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F0"/>
                </a:solidFill>
              </a:rPr>
              <a:t>IF </a:t>
            </a:r>
            <a:r>
              <a:rPr lang="ja-JP" altLang="en-US" dirty="0"/>
              <a:t>条件式</a:t>
            </a:r>
            <a:r>
              <a:rPr lang="ja-JP" altLang="en-US" dirty="0">
                <a:solidFill>
                  <a:srgbClr val="00B0F0"/>
                </a:solidFill>
              </a:rPr>
              <a:t> </a:t>
            </a:r>
            <a:r>
              <a:rPr lang="en-US" altLang="ja-JP" dirty="0">
                <a:solidFill>
                  <a:srgbClr val="00B0F0"/>
                </a:solidFill>
              </a:rPr>
              <a:t>THEN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</a:t>
            </a:r>
            <a:r>
              <a:rPr lang="ja-JP" altLang="en-US" dirty="0"/>
              <a:t>条件式が</a:t>
            </a:r>
            <a:r>
              <a:rPr lang="en-US" altLang="ja-JP" dirty="0"/>
              <a:t>true</a:t>
            </a:r>
            <a:r>
              <a:rPr lang="ja-JP" altLang="en-US" dirty="0"/>
              <a:t>の時の実行処理</a:t>
            </a:r>
            <a:endParaRPr lang="en-US" altLang="ja-JP" dirty="0"/>
          </a:p>
          <a:p>
            <a:r>
              <a:rPr lang="en-US" altLang="ja-JP" dirty="0">
                <a:solidFill>
                  <a:srgbClr val="00B0F0"/>
                </a:solidFill>
              </a:rPr>
              <a:t>ELSE</a:t>
            </a:r>
          </a:p>
          <a:p>
            <a:r>
              <a:rPr lang="ja-JP" altLang="en-US" dirty="0">
                <a:solidFill>
                  <a:srgbClr val="00B0F0"/>
                </a:solidFill>
              </a:rPr>
              <a:t>　</a:t>
            </a:r>
            <a:r>
              <a:rPr lang="ja-JP" altLang="en-US" dirty="0"/>
              <a:t>条件式が</a:t>
            </a:r>
            <a:r>
              <a:rPr lang="en-US" altLang="ja-JP" dirty="0"/>
              <a:t>true</a:t>
            </a:r>
            <a:r>
              <a:rPr lang="ja-JP" altLang="en-US" dirty="0"/>
              <a:t>の時の実行処理</a:t>
            </a:r>
            <a:endParaRPr lang="en-US" altLang="ja-JP" dirty="0"/>
          </a:p>
          <a:p>
            <a:r>
              <a:rPr lang="en-US" altLang="ja-JP" dirty="0">
                <a:solidFill>
                  <a:srgbClr val="00B0F0"/>
                </a:solidFill>
              </a:rPr>
              <a:t>END IF;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B2AF9D-F5E1-0663-E33A-CDB736C95619}"/>
              </a:ext>
            </a:extLst>
          </p:cNvPr>
          <p:cNvSpPr txBox="1"/>
          <p:nvPr/>
        </p:nvSpPr>
        <p:spPr>
          <a:xfrm>
            <a:off x="3122612" y="6370887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※</a:t>
            </a:r>
            <a:r>
              <a:rPr lang="en-US" altLang="ja-JP" dirty="0">
                <a:solidFill>
                  <a:srgbClr val="00B0F0"/>
                </a:solidFill>
              </a:rPr>
              <a:t>ELSIF </a:t>
            </a:r>
            <a:r>
              <a:rPr lang="ja-JP" altLang="en-US" dirty="0">
                <a:solidFill>
                  <a:srgbClr val="00B0F0"/>
                </a:solidFill>
              </a:rPr>
              <a:t>条件式 </a:t>
            </a:r>
            <a:r>
              <a:rPr lang="en-US" altLang="ja-JP" dirty="0">
                <a:solidFill>
                  <a:srgbClr val="00B0F0"/>
                </a:solidFill>
              </a:rPr>
              <a:t>THEN</a:t>
            </a:r>
            <a:r>
              <a:rPr lang="ja-JP" altLang="en-US" dirty="0">
                <a:solidFill>
                  <a:srgbClr val="00B0F0"/>
                </a:solidFill>
              </a:rPr>
              <a:t> </a:t>
            </a:r>
            <a:r>
              <a:rPr lang="ja-JP" altLang="en-US" dirty="0"/>
              <a:t>を使ってより複雑な条件式の作成も可能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626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A0308F-0857-7DBE-6A44-757AF1A923C9}"/>
              </a:ext>
            </a:extLst>
          </p:cNvPr>
          <p:cNvSpPr txBox="1"/>
          <p:nvPr/>
        </p:nvSpPr>
        <p:spPr>
          <a:xfrm>
            <a:off x="455612" y="20949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条件式の作り方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5C4590-542C-AD2C-EF66-EB0D1FA8B478}"/>
              </a:ext>
            </a:extLst>
          </p:cNvPr>
          <p:cNvSpPr txBox="1"/>
          <p:nvPr/>
        </p:nvSpPr>
        <p:spPr>
          <a:xfrm>
            <a:off x="912812" y="745122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WHERE</a:t>
            </a:r>
            <a:r>
              <a:rPr kumimoji="1" lang="ja-JP" altLang="en-US" sz="2000" dirty="0"/>
              <a:t>句と同様、比較演算子や論理演算子などが使用可能</a:t>
            </a:r>
          </a:p>
        </p:txBody>
      </p:sp>
      <p:pic>
        <p:nvPicPr>
          <p:cNvPr id="6" name="図 5" descr="enzansi.png">
            <a:extLst>
              <a:ext uri="{FF2B5EF4-FFF2-40B4-BE49-F238E27FC236}">
                <a16:creationId xmlns:a16="http://schemas.microsoft.com/office/drawing/2014/main" id="{B97B6FBF-A8F3-12D7-E783-BCC9831D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1219199"/>
            <a:ext cx="4207304" cy="2438400"/>
          </a:xfrm>
          <a:prstGeom prst="rect">
            <a:avLst/>
          </a:prstGeom>
        </p:spPr>
      </p:pic>
      <p:pic>
        <p:nvPicPr>
          <p:cNvPr id="7" name="図 6" descr="ronri.png">
            <a:extLst>
              <a:ext uri="{FF2B5EF4-FFF2-40B4-BE49-F238E27FC236}">
                <a16:creationId xmlns:a16="http://schemas.microsoft.com/office/drawing/2014/main" id="{EF583EFB-600E-3497-24FC-E02B2AB63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3731566"/>
            <a:ext cx="6916513" cy="30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0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A0308F-0857-7DBE-6A44-757AF1A923C9}"/>
              </a:ext>
            </a:extLst>
          </p:cNvPr>
          <p:cNvSpPr txBox="1"/>
          <p:nvPr/>
        </p:nvSpPr>
        <p:spPr>
          <a:xfrm>
            <a:off x="455612" y="209490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デバッグ・確認用のメッセージ出力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1B4B14E-F935-3296-2B62-79EE6AFD1C03}"/>
              </a:ext>
            </a:extLst>
          </p:cNvPr>
          <p:cNvSpPr txBox="1"/>
          <p:nvPr/>
        </p:nvSpPr>
        <p:spPr>
          <a:xfrm>
            <a:off x="1293812" y="1942291"/>
            <a:ext cx="9753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F0"/>
                </a:solidFill>
              </a:rPr>
              <a:t>IF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&lt; 50 THEN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RAISE NOTICE '</a:t>
            </a:r>
            <a:r>
              <a:rPr lang="ja-JP" altLang="en-US" dirty="0">
                <a:solidFill>
                  <a:srgbClr val="00B0F0"/>
                </a:solidFill>
              </a:rPr>
              <a:t>ポイントが少ないので </a:t>
            </a:r>
            <a:r>
              <a:rPr lang="en-US" altLang="ja-JP" dirty="0">
                <a:solidFill>
                  <a:srgbClr val="00B0F0"/>
                </a:solidFill>
              </a:rPr>
              <a:t>+20 </a:t>
            </a:r>
            <a:r>
              <a:rPr lang="ja-JP" altLang="en-US" dirty="0">
                <a:solidFill>
                  <a:srgbClr val="00B0F0"/>
                </a:solidFill>
              </a:rPr>
              <a:t>加算しました </a:t>
            </a:r>
            <a:r>
              <a:rPr lang="en-US" altLang="ja-JP" dirty="0">
                <a:solidFill>
                  <a:srgbClr val="00B0F0"/>
                </a:solidFill>
              </a:rPr>
              <a:t>(</a:t>
            </a:r>
            <a:r>
              <a:rPr lang="ja-JP" altLang="en-US" dirty="0">
                <a:solidFill>
                  <a:srgbClr val="00B0F0"/>
                </a:solidFill>
              </a:rPr>
              <a:t>現在</a:t>
            </a:r>
            <a:r>
              <a:rPr lang="en-US" altLang="ja-JP" dirty="0">
                <a:solidFill>
                  <a:srgbClr val="00B0F0"/>
                </a:solidFill>
              </a:rPr>
              <a:t>: %)',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 + 20;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ELSE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    RAISE NOTICE '</a:t>
            </a:r>
            <a:r>
              <a:rPr lang="ja-JP" altLang="en-US" dirty="0">
                <a:solidFill>
                  <a:srgbClr val="00B0F0"/>
                </a:solidFill>
              </a:rPr>
              <a:t>十分なポイントがあります </a:t>
            </a:r>
            <a:r>
              <a:rPr lang="en-US" altLang="ja-JP" dirty="0">
                <a:solidFill>
                  <a:srgbClr val="00B0F0"/>
                </a:solidFill>
              </a:rPr>
              <a:t>(</a:t>
            </a:r>
            <a:r>
              <a:rPr lang="ja-JP" altLang="en-US" dirty="0">
                <a:solidFill>
                  <a:srgbClr val="00B0F0"/>
                </a:solidFill>
              </a:rPr>
              <a:t>現在</a:t>
            </a:r>
            <a:r>
              <a:rPr lang="en-US" altLang="ja-JP" dirty="0">
                <a:solidFill>
                  <a:srgbClr val="00B0F0"/>
                </a:solidFill>
              </a:rPr>
              <a:t>: %)', </a:t>
            </a:r>
            <a:r>
              <a:rPr lang="en-US" altLang="ja-JP" dirty="0" err="1">
                <a:solidFill>
                  <a:srgbClr val="00B0F0"/>
                </a:solidFill>
              </a:rPr>
              <a:t>current_points</a:t>
            </a:r>
            <a:r>
              <a:rPr lang="en-US" altLang="ja-JP" dirty="0">
                <a:solidFill>
                  <a:srgbClr val="00B0F0"/>
                </a:solidFill>
              </a:rPr>
              <a:t>;</a:t>
            </a:r>
          </a:p>
          <a:p>
            <a:r>
              <a:rPr lang="en-US" altLang="ja-JP" dirty="0">
                <a:solidFill>
                  <a:srgbClr val="00B0F0"/>
                </a:solidFill>
              </a:rPr>
              <a:t>END IF;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AB9FD3-7155-7A6C-7F70-A79CDB4B46BE}"/>
              </a:ext>
            </a:extLst>
          </p:cNvPr>
          <p:cNvSpPr txBox="1"/>
          <p:nvPr/>
        </p:nvSpPr>
        <p:spPr>
          <a:xfrm>
            <a:off x="1205777" y="1382033"/>
            <a:ext cx="4486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PL/</a:t>
            </a:r>
            <a:r>
              <a:rPr kumimoji="1" lang="en-US" altLang="ja-JP" sz="2000" dirty="0" err="1"/>
              <a:t>pgSQL</a:t>
            </a:r>
            <a:r>
              <a:rPr kumimoji="1" lang="ja-JP" altLang="en-US" sz="2000" dirty="0"/>
              <a:t>で使えるメッセージ出力文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81B3C2-60E6-4381-AED3-9FE2E4019DC1}"/>
              </a:ext>
            </a:extLst>
          </p:cNvPr>
          <p:cNvSpPr txBox="1"/>
          <p:nvPr/>
        </p:nvSpPr>
        <p:spPr>
          <a:xfrm>
            <a:off x="760412" y="775808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RAISE NOTICE</a:t>
            </a:r>
            <a:endParaRPr kumimoji="1" lang="ja-JP" altLang="en-US" sz="24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81E167-4A24-6AE2-20CB-16D35C1AE7BF}"/>
              </a:ext>
            </a:extLst>
          </p:cNvPr>
          <p:cNvSpPr txBox="1"/>
          <p:nvPr/>
        </p:nvSpPr>
        <p:spPr>
          <a:xfrm>
            <a:off x="1293812" y="3733800"/>
            <a:ext cx="9079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メッセージ内の</a:t>
            </a:r>
            <a:r>
              <a:rPr kumimoji="1" lang="en-US" altLang="ja-JP" sz="2000" dirty="0"/>
              <a:t>%</a:t>
            </a:r>
            <a:r>
              <a:rPr kumimoji="1" lang="ja-JP" altLang="en-US" sz="2000" dirty="0"/>
              <a:t>のところにはカンマ以降の変数に格納されている値が入る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4BAE4C6-A0D8-09AB-4C13-DC49F47DF5EA}"/>
              </a:ext>
            </a:extLst>
          </p:cNvPr>
          <p:cNvSpPr txBox="1"/>
          <p:nvPr/>
        </p:nvSpPr>
        <p:spPr>
          <a:xfrm>
            <a:off x="760412" y="5014302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RAISE WARNING</a:t>
            </a:r>
            <a:endParaRPr kumimoji="1" lang="ja-JP" altLang="en-US" sz="24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036E8D-AE62-71F2-6CCE-FAC075E20A84}"/>
              </a:ext>
            </a:extLst>
          </p:cNvPr>
          <p:cNvSpPr txBox="1"/>
          <p:nvPr/>
        </p:nvSpPr>
        <p:spPr>
          <a:xfrm>
            <a:off x="760412" y="4386585"/>
            <a:ext cx="4486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■その他メッセージ表示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3EA2936-1B8D-AB3F-DA46-9E268545DE94}"/>
              </a:ext>
            </a:extLst>
          </p:cNvPr>
          <p:cNvSpPr txBox="1"/>
          <p:nvPr/>
        </p:nvSpPr>
        <p:spPr>
          <a:xfrm>
            <a:off x="760412" y="5562396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RAISE EXCEPTION</a:t>
            </a:r>
            <a:endParaRPr kumimoji="1" lang="ja-JP" altLang="en-US" sz="24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FF1138F-A81E-4F0F-664A-459129D5E164}"/>
              </a:ext>
            </a:extLst>
          </p:cNvPr>
          <p:cNvSpPr txBox="1"/>
          <p:nvPr/>
        </p:nvSpPr>
        <p:spPr>
          <a:xfrm>
            <a:off x="3590202" y="5045079"/>
            <a:ext cx="4486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警告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927F32-521B-CA42-D72B-B32D9F5839F5}"/>
              </a:ext>
            </a:extLst>
          </p:cNvPr>
          <p:cNvSpPr txBox="1"/>
          <p:nvPr/>
        </p:nvSpPr>
        <p:spPr>
          <a:xfrm>
            <a:off x="3590202" y="5593173"/>
            <a:ext cx="4486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例外を投げて処理を中断</a:t>
            </a:r>
          </a:p>
        </p:txBody>
      </p:sp>
    </p:spTree>
    <p:extLst>
      <p:ext uri="{BB962C8B-B14F-4D97-AF65-F5344CB8AC3E}">
        <p14:creationId xmlns:p14="http://schemas.microsoft.com/office/powerpoint/2010/main" val="265520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</TotalTime>
  <Words>962</Words>
  <Application>Microsoft Office PowerPoint</Application>
  <PresentationFormat>ユーザー設定</PresentationFormat>
  <Paragraphs>113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Meiryo UI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アビック 太郎</cp:lastModifiedBy>
  <cp:revision>92</cp:revision>
  <dcterms:created xsi:type="dcterms:W3CDTF">2013-04-05T19:55:11Z</dcterms:created>
  <dcterms:modified xsi:type="dcterms:W3CDTF">2025-09-08T08:01:09Z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