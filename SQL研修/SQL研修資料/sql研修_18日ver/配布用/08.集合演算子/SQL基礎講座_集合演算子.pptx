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00" r:id="rId5"/>
    <p:sldId id="311" r:id="rId6"/>
    <p:sldId id="312" r:id="rId7"/>
    <p:sldId id="313" r:id="rId8"/>
    <p:sldId id="314" r:id="rId9"/>
    <p:sldId id="315" r:id="rId10"/>
    <p:sldId id="316" r:id="rId11"/>
    <p:sldId id="317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92" d="100"/>
          <a:sy n="92" d="100"/>
        </p:scale>
        <p:origin x="69" y="35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8/21/2025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2025/8/21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901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1853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16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8/21/2025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8/21/2025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2025/8/21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2025/8/21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2025/8/21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2025/8/21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2025/8/21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2025/8/21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2025/8/21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2025/8/21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8/21/2025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73375"/>
            <a:ext cx="9199562" cy="5386125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集合演算子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集合演算子とは、２つの</a:t>
            </a:r>
            <a:r>
              <a:rPr kumimoji="1" lang="en-US" altLang="ja-JP" dirty="0">
                <a:latin typeface="Meiryo UI"/>
                <a:ea typeface="Meiryo UI"/>
              </a:rPr>
              <a:t>SELECT</a:t>
            </a:r>
            <a:r>
              <a:rPr kumimoji="1" lang="ja-JP" altLang="en-US" dirty="0">
                <a:latin typeface="Meiryo UI"/>
                <a:ea typeface="Meiryo UI"/>
              </a:rPr>
              <a:t>文の結果どうしを加算、積算、減算する演算子。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列の数やそれぞれのデータ型を同じにする必要がある。</a:t>
            </a:r>
            <a:endParaRPr kumimoji="1" lang="en-US" altLang="ja-JP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/>
                <a:ea typeface="Meiryo UI"/>
              </a:rPr>
              <a:t>  </a:t>
            </a:r>
            <a:r>
              <a:rPr kumimoji="1" lang="en-US" altLang="ja-JP" b="1" u="sng" dirty="0">
                <a:latin typeface="Meiryo UI"/>
                <a:ea typeface="Meiryo UI"/>
              </a:rPr>
              <a:t>UNION</a:t>
            </a:r>
            <a:r>
              <a:rPr kumimoji="1" lang="en-US" altLang="ja-JP" dirty="0">
                <a:latin typeface="Meiryo UI"/>
                <a:ea typeface="Meiryo UI"/>
              </a:rPr>
              <a:t>(</a:t>
            </a:r>
            <a:r>
              <a:rPr kumimoji="1" lang="ja-JP" altLang="en-US" dirty="0">
                <a:latin typeface="Meiryo UI"/>
                <a:ea typeface="Meiryo UI"/>
              </a:rPr>
              <a:t>和集合</a:t>
            </a:r>
            <a:r>
              <a:rPr kumimoji="1" lang="en-US" altLang="ja-JP" dirty="0">
                <a:latin typeface="Meiryo UI"/>
                <a:ea typeface="Meiryo UI"/>
              </a:rPr>
              <a:t>)</a:t>
            </a:r>
            <a:endParaRPr kumimoji="1" lang="ja-JP" altLang="en-US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en-US" altLang="ja-JP" dirty="0">
                <a:latin typeface="Meiryo UI"/>
                <a:ea typeface="Meiryo UI"/>
              </a:rPr>
              <a:t>     SELECT</a:t>
            </a:r>
            <a:r>
              <a:rPr kumimoji="1" lang="ja-JP" altLang="en-US" dirty="0">
                <a:latin typeface="Meiryo UI"/>
                <a:ea typeface="Meiryo UI"/>
              </a:rPr>
              <a:t>文を</a:t>
            </a:r>
            <a:r>
              <a:rPr kumimoji="1" lang="en-US" altLang="ja-JP" dirty="0">
                <a:latin typeface="Meiryo UI"/>
                <a:ea typeface="Meiryo UI"/>
              </a:rPr>
              <a:t>UNION</a:t>
            </a:r>
            <a:r>
              <a:rPr kumimoji="1" lang="ja-JP" altLang="en-US" dirty="0">
                <a:latin typeface="Meiryo UI"/>
                <a:ea typeface="Meiryo UI"/>
              </a:rPr>
              <a:t>でつなぐと、重複するデータは、まとめてからとりだされる。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     「</a:t>
            </a:r>
            <a:r>
              <a:rPr kumimoji="1" lang="en-US" altLang="ja-JP" dirty="0">
                <a:latin typeface="Meiryo UI"/>
                <a:ea typeface="Meiryo UI"/>
              </a:rPr>
              <a:t>UNION ALL</a:t>
            </a:r>
            <a:r>
              <a:rPr kumimoji="1" lang="ja-JP" altLang="en-US" dirty="0">
                <a:latin typeface="Meiryo UI"/>
                <a:ea typeface="Meiryo UI"/>
              </a:rPr>
              <a:t>」でつなぐと全てのデータを取り出す。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/>
                <a:ea typeface="Meiryo UI"/>
              </a:rPr>
              <a:t>  </a:t>
            </a:r>
            <a:r>
              <a:rPr kumimoji="1" lang="en-US" altLang="ja-JP" b="1" u="sng" dirty="0">
                <a:latin typeface="Meiryo UI"/>
                <a:ea typeface="Meiryo UI"/>
              </a:rPr>
              <a:t>INTERSECT</a:t>
            </a:r>
            <a:r>
              <a:rPr kumimoji="1" lang="en-US" altLang="ja-JP" dirty="0">
                <a:latin typeface="Meiryo UI"/>
                <a:ea typeface="Meiryo UI"/>
              </a:rPr>
              <a:t>(</a:t>
            </a:r>
            <a:r>
              <a:rPr kumimoji="1" lang="ja-JP" altLang="en-US" dirty="0">
                <a:latin typeface="Meiryo UI"/>
                <a:ea typeface="Meiryo UI"/>
              </a:rPr>
              <a:t>積集合</a:t>
            </a:r>
            <a:r>
              <a:rPr kumimoji="1" lang="en-US" altLang="ja-JP" dirty="0">
                <a:latin typeface="Meiryo UI"/>
                <a:ea typeface="Meiryo UI"/>
              </a:rPr>
              <a:t>)</a:t>
            </a:r>
            <a:endParaRPr kumimoji="1" lang="ja-JP" altLang="en-US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/>
                <a:ea typeface="Meiryo UI"/>
              </a:rPr>
              <a:t>　   </a:t>
            </a:r>
            <a:r>
              <a:rPr kumimoji="1" lang="en-US" altLang="ja-JP" dirty="0">
                <a:latin typeface="Meiryo UI"/>
                <a:ea typeface="Meiryo UI"/>
              </a:rPr>
              <a:t>SELECT</a:t>
            </a:r>
            <a:r>
              <a:rPr kumimoji="1" lang="ja-JP" altLang="en-US" dirty="0">
                <a:latin typeface="Meiryo UI"/>
                <a:ea typeface="Meiryo UI"/>
              </a:rPr>
              <a:t>文で取り出したデータを比較し、一致するデータのみ取り出す。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EXCEPT(MINUS)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差集合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つのテーブルから</a:t>
            </a:r>
            <a:r>
              <a:rPr kumimoji="1" lang="en-US" altLang="ja-JP" dirty="0">
                <a:latin typeface="Meiryo UI" charset="0"/>
                <a:ea typeface="Meiryo UI" charset="0"/>
              </a:rPr>
              <a:t>SELECT</a:t>
            </a:r>
            <a:r>
              <a:rPr kumimoji="1" lang="ja-JP" altLang="en-US" dirty="0">
                <a:latin typeface="Meiryo UI" charset="0"/>
                <a:ea typeface="Meiryo UI" charset="0"/>
              </a:rPr>
              <a:t>文で取り出したデータのうち、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もう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つのテーブルには登録されていないを取り出す。</a:t>
            </a:r>
            <a:endParaRPr kumimoji="1" lang="ja-JP" b="1" u="sng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890587" y="326792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UNION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435099" y="1524000"/>
            <a:ext cx="7192795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列名 </a:t>
            </a:r>
            <a:r>
              <a:rPr lang="en-US" altLang="ja-JP" sz="2400" dirty="0">
                <a:latin typeface="Meiryo UI"/>
                <a:ea typeface="Meiryo UI"/>
              </a:rPr>
              <a:t>[,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  <a:r>
              <a:rPr lang="en-US" altLang="ja-JP" sz="2400" dirty="0">
                <a:latin typeface="Meiryo UI"/>
                <a:ea typeface="Meiryo UI"/>
              </a:rPr>
              <a:t>1</a:t>
            </a:r>
            <a:endParaRPr lang="en-US" altLang="ja-JP" dirty="0">
              <a:latin typeface="Meiryo UI"/>
              <a:ea typeface="Meiryo UI"/>
            </a:endParaRPr>
          </a:p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0082B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UNION</a:t>
            </a:r>
            <a:endParaRPr lang="en-US" altLang="ja-JP" dirty="0">
              <a:latin typeface="Meiryo UI"/>
              <a:ea typeface="Meiryo UI"/>
            </a:endParaRPr>
          </a:p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列名 </a:t>
            </a:r>
            <a:r>
              <a:rPr lang="en-US" altLang="ja-JP" sz="2400" dirty="0">
                <a:latin typeface="Meiryo UI"/>
                <a:ea typeface="Meiryo UI"/>
              </a:rPr>
              <a:t>[,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  <a:r>
              <a:rPr lang="en-US" altLang="ja-JP" sz="2400" dirty="0">
                <a:latin typeface="Meiryo UI"/>
                <a:ea typeface="Meiryo UI"/>
              </a:rPr>
              <a:t>2;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474825-98FF-CE56-DBCB-B88E78D74E5D}"/>
              </a:ext>
            </a:extLst>
          </p:cNvPr>
          <p:cNvSpPr txBox="1"/>
          <p:nvPr/>
        </p:nvSpPr>
        <p:spPr>
          <a:xfrm>
            <a:off x="1119186" y="1012592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eiryo UI" charset="0"/>
                <a:ea typeface="Meiryo UI" charset="0"/>
              </a:rPr>
              <a:t>2</a:t>
            </a:r>
            <a:r>
              <a:rPr kumimoji="1" lang="ja-JP" altLang="en-US" dirty="0">
                <a:latin typeface="Meiryo UI" charset="0"/>
                <a:ea typeface="Meiryo UI" charset="0"/>
              </a:rPr>
              <a:t>つのテーブルから、自動的に重複するデータを取り除いて取得できる</a:t>
            </a:r>
            <a:endParaRPr kumimoji="1" lang="ja-JP" altLang="en-US" dirty="0"/>
          </a:p>
        </p:txBody>
      </p:sp>
      <p:sp>
        <p:nvSpPr>
          <p:cNvPr id="5" name="タイトル 12">
            <a:extLst>
              <a:ext uri="{FF2B5EF4-FFF2-40B4-BE49-F238E27FC236}">
                <a16:creationId xmlns:a16="http://schemas.microsoft.com/office/drawing/2014/main" id="{300D3F76-9CA3-9D06-1D20-DBCC03612F97}"/>
              </a:ext>
            </a:extLst>
          </p:cNvPr>
          <p:cNvSpPr txBox="1">
            <a:spLocks/>
          </p:cNvSpPr>
          <p:nvPr/>
        </p:nvSpPr>
        <p:spPr>
          <a:xfrm>
            <a:off x="890587" y="3657141"/>
            <a:ext cx="8686800" cy="5385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lang="ja-JP" sz="3600" b="1" kern="120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altLang="ja-JP" sz="2800" dirty="0"/>
              <a:t>UNION</a:t>
            </a:r>
            <a:r>
              <a:rPr lang="ja-JP" altLang="en-US" sz="2800" dirty="0"/>
              <a:t> </a:t>
            </a:r>
            <a:r>
              <a:rPr lang="en-US" altLang="ja-JP" sz="2800" dirty="0"/>
              <a:t>ALL</a:t>
            </a:r>
            <a:endParaRPr lang="en-US" sz="28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ACE309F-F57F-C796-3FA9-806517B62B55}"/>
              </a:ext>
            </a:extLst>
          </p:cNvPr>
          <p:cNvSpPr txBox="1"/>
          <p:nvPr/>
        </p:nvSpPr>
        <p:spPr>
          <a:xfrm>
            <a:off x="1435098" y="4854349"/>
            <a:ext cx="7192795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列名 </a:t>
            </a:r>
            <a:r>
              <a:rPr lang="en-US" altLang="ja-JP" sz="2400" dirty="0">
                <a:latin typeface="Meiryo UI"/>
                <a:ea typeface="Meiryo UI"/>
              </a:rPr>
              <a:t>[,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  <a:r>
              <a:rPr lang="en-US" altLang="ja-JP" sz="2400" dirty="0">
                <a:latin typeface="Meiryo UI"/>
                <a:ea typeface="Meiryo UI"/>
              </a:rPr>
              <a:t>1</a:t>
            </a:r>
            <a:endParaRPr lang="en-US" altLang="ja-JP" dirty="0">
              <a:latin typeface="Meiryo UI"/>
              <a:ea typeface="Meiryo UI"/>
            </a:endParaRPr>
          </a:p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0082B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UNION</a:t>
            </a:r>
            <a:r>
              <a:rPr lang="ja-JP" altLang="en-US" sz="2400" b="1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ALL</a:t>
            </a:r>
            <a:endParaRPr lang="en-US" altLang="ja-JP" dirty="0">
              <a:latin typeface="Meiryo UI"/>
              <a:ea typeface="Meiryo UI"/>
            </a:endParaRPr>
          </a:p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列名 </a:t>
            </a:r>
            <a:r>
              <a:rPr lang="en-US" altLang="ja-JP" sz="2400" dirty="0">
                <a:latin typeface="Meiryo UI"/>
                <a:ea typeface="Meiryo UI"/>
              </a:rPr>
              <a:t>[,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  <a:r>
              <a:rPr lang="en-US" altLang="ja-JP" sz="2400" dirty="0">
                <a:latin typeface="Meiryo UI"/>
                <a:ea typeface="Meiryo UI"/>
              </a:rPr>
              <a:t>2;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8BE810C-9B75-7574-E0A8-D6A20892C747}"/>
              </a:ext>
            </a:extLst>
          </p:cNvPr>
          <p:cNvSpPr txBox="1"/>
          <p:nvPr/>
        </p:nvSpPr>
        <p:spPr>
          <a:xfrm>
            <a:off x="1153966" y="4342941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eiryo UI" charset="0"/>
                <a:ea typeface="Meiryo UI" charset="0"/>
              </a:rPr>
              <a:t>2</a:t>
            </a:r>
            <a:r>
              <a:rPr kumimoji="1" lang="ja-JP" altLang="en-US" dirty="0">
                <a:latin typeface="Meiryo UI" charset="0"/>
                <a:ea typeface="Meiryo UI" charset="0"/>
              </a:rPr>
              <a:t>つのテーブルのデータを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つにまとめて取得できる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564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9FF86BA-1251-C5E9-85DC-B82F3FB5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415447"/>
            <a:ext cx="3124200" cy="457200"/>
          </a:xfrm>
        </p:spPr>
        <p:txBody>
          <a:bodyPr>
            <a:normAutofit/>
          </a:bodyPr>
          <a:lstStyle/>
          <a:p>
            <a:r>
              <a:rPr kumimoji="1" lang="en-US" altLang="ja-JP" sz="2800" dirty="0">
                <a:solidFill>
                  <a:schemeClr val="tx1"/>
                </a:solidFill>
              </a:rPr>
              <a:t>UNION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197BC4AE-3853-CD96-2E16-F0063D44E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515004"/>
              </p:ext>
            </p:extLst>
          </p:nvPr>
        </p:nvGraphicFramePr>
        <p:xfrm>
          <a:off x="385444" y="1420136"/>
          <a:ext cx="4032567" cy="2237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川口恵実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埼玉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川崎圭子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0004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成田拓也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1DF628-F0E2-24F6-7095-3A79E287454C}"/>
              </a:ext>
            </a:extLst>
          </p:cNvPr>
          <p:cNvSpPr txBox="1"/>
          <p:nvPr/>
        </p:nvSpPr>
        <p:spPr>
          <a:xfrm>
            <a:off x="336793" y="4028589"/>
            <a:ext cx="2307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■大阪支店顧客テーブル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0DE1D3-0BD7-69A3-8D26-09DB3E984677}"/>
              </a:ext>
            </a:extLst>
          </p:cNvPr>
          <p:cNvSpPr txBox="1"/>
          <p:nvPr/>
        </p:nvSpPr>
        <p:spPr>
          <a:xfrm>
            <a:off x="364646" y="1080719"/>
            <a:ext cx="2279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■東京支店顧客テーブル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6661E0F-AEB0-EA63-7955-6664306746F4}"/>
              </a:ext>
            </a:extLst>
          </p:cNvPr>
          <p:cNvSpPr txBox="1"/>
          <p:nvPr/>
        </p:nvSpPr>
        <p:spPr>
          <a:xfrm>
            <a:off x="5561012" y="345763"/>
            <a:ext cx="624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UNION</a:t>
            </a:r>
            <a:r>
              <a:rPr kumimoji="1" lang="ja-JP" altLang="en-US" sz="1200" dirty="0"/>
              <a:t>は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つのテーブルそれぞれの検索結果を比べ、</a:t>
            </a:r>
            <a:endParaRPr kumimoji="1" lang="en-US" altLang="ja-JP" sz="1200" dirty="0"/>
          </a:p>
          <a:p>
            <a:r>
              <a:rPr kumimoji="1" lang="ja-JP" altLang="en-US" sz="1200" dirty="0"/>
              <a:t>重複しているデータを</a:t>
            </a:r>
            <a:r>
              <a:rPr kumimoji="1" lang="en-US" altLang="ja-JP" sz="1200" dirty="0"/>
              <a:t>1</a:t>
            </a:r>
            <a:r>
              <a:rPr kumimoji="1" lang="ja-JP" altLang="en-US" sz="1200" dirty="0"/>
              <a:t>つにまとめて表示してくれるものである。</a:t>
            </a:r>
            <a:endParaRPr kumimoji="1" lang="en-US" altLang="ja-JP" sz="1200" dirty="0"/>
          </a:p>
          <a:p>
            <a:r>
              <a:rPr kumimoji="1" lang="ja-JP" altLang="en-US" sz="1200" dirty="0"/>
              <a:t>左記の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つのテーブルに対して</a:t>
            </a:r>
            <a:r>
              <a:rPr kumimoji="1" lang="en-US" altLang="ja-JP" sz="1200" dirty="0"/>
              <a:t>UNION</a:t>
            </a:r>
            <a:r>
              <a:rPr kumimoji="1" lang="ja-JP" altLang="en-US" sz="1200" dirty="0"/>
              <a:t>を用いて下記の</a:t>
            </a:r>
            <a:r>
              <a:rPr kumimoji="1" lang="en-US" altLang="ja-JP" sz="1200" dirty="0"/>
              <a:t>SQL</a:t>
            </a:r>
            <a:r>
              <a:rPr kumimoji="1" lang="ja-JP" altLang="en-US" sz="1200" dirty="0"/>
              <a:t>を実行する</a:t>
            </a:r>
            <a:endParaRPr kumimoji="1" lang="en-US" altLang="ja-JP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41E6AB1-48D4-7876-4AD0-B6B4AFE2508C}"/>
              </a:ext>
            </a:extLst>
          </p:cNvPr>
          <p:cNvSpPr txBox="1"/>
          <p:nvPr/>
        </p:nvSpPr>
        <p:spPr>
          <a:xfrm>
            <a:off x="6094412" y="992094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東京支店顧客テーブル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u="sng" dirty="0">
                <a:solidFill>
                  <a:srgbClr val="0070C0"/>
                </a:solidFill>
              </a:rPr>
              <a:t>UNION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大阪支店顧客テーブル</a:t>
            </a:r>
            <a:r>
              <a:rPr kumimoji="1" lang="en-US" altLang="ja-JP" sz="1400" dirty="0">
                <a:solidFill>
                  <a:srgbClr val="0070C0"/>
                </a:solidFill>
              </a:rPr>
              <a:t>;</a:t>
            </a: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A96E258D-7344-6CB4-7A87-18E59BC16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659846"/>
              </p:ext>
            </p:extLst>
          </p:nvPr>
        </p:nvGraphicFramePr>
        <p:xfrm>
          <a:off x="385444" y="4419600"/>
          <a:ext cx="4032567" cy="193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645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0006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丹波陽菜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0007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枚方翔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3770D349-2645-4DE4-4E19-88AEADA2C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983866"/>
              </p:ext>
            </p:extLst>
          </p:nvPr>
        </p:nvGraphicFramePr>
        <p:xfrm>
          <a:off x="5637212" y="3200400"/>
          <a:ext cx="4953000" cy="27691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4009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上野貴也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川口恵実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埼玉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645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川崎圭子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0004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成田拓也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0006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丹波陽菜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33929714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0007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枚方翔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527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04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9FF86BA-1251-C5E9-85DC-B82F3FB5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415447"/>
            <a:ext cx="3124200" cy="457200"/>
          </a:xfrm>
        </p:spPr>
        <p:txBody>
          <a:bodyPr>
            <a:normAutofit/>
          </a:bodyPr>
          <a:lstStyle/>
          <a:p>
            <a:r>
              <a:rPr kumimoji="1" lang="en-US" altLang="ja-JP" sz="2800" dirty="0">
                <a:solidFill>
                  <a:schemeClr val="tx1"/>
                </a:solidFill>
              </a:rPr>
              <a:t>UNION ALL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197BC4AE-3853-CD96-2E16-F0063D44E418}"/>
              </a:ext>
            </a:extLst>
          </p:cNvPr>
          <p:cNvGraphicFramePr>
            <a:graphicFrameLocks noGrp="1"/>
          </p:cNvGraphicFramePr>
          <p:nvPr/>
        </p:nvGraphicFramePr>
        <p:xfrm>
          <a:off x="385444" y="1420136"/>
          <a:ext cx="4032567" cy="2237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川口恵実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埼玉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川崎圭子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0004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成田拓也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1DF628-F0E2-24F6-7095-3A79E287454C}"/>
              </a:ext>
            </a:extLst>
          </p:cNvPr>
          <p:cNvSpPr txBox="1"/>
          <p:nvPr/>
        </p:nvSpPr>
        <p:spPr>
          <a:xfrm>
            <a:off x="336793" y="4028589"/>
            <a:ext cx="2307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■大阪支店顧客テーブル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0DE1D3-0BD7-69A3-8D26-09DB3E984677}"/>
              </a:ext>
            </a:extLst>
          </p:cNvPr>
          <p:cNvSpPr txBox="1"/>
          <p:nvPr/>
        </p:nvSpPr>
        <p:spPr>
          <a:xfrm>
            <a:off x="364646" y="1080719"/>
            <a:ext cx="2279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■東京支店顧客テーブル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6661E0F-AEB0-EA63-7955-6664306746F4}"/>
              </a:ext>
            </a:extLst>
          </p:cNvPr>
          <p:cNvSpPr txBox="1"/>
          <p:nvPr/>
        </p:nvSpPr>
        <p:spPr>
          <a:xfrm>
            <a:off x="5561012" y="345763"/>
            <a:ext cx="6242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UNION ALL</a:t>
            </a:r>
            <a:r>
              <a:rPr kumimoji="1" lang="ja-JP" altLang="en-US" sz="1200" dirty="0"/>
              <a:t>は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つのテーブルそれぞれの検索結果を縦に並べて表示するものである。</a:t>
            </a:r>
            <a:endParaRPr kumimoji="1" lang="en-US" altLang="ja-JP" sz="1200" dirty="0"/>
          </a:p>
          <a:p>
            <a:r>
              <a:rPr kumimoji="1" lang="ja-JP" altLang="en-US" sz="1200" dirty="0"/>
              <a:t>左記の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つのテーブルに対して</a:t>
            </a:r>
            <a:r>
              <a:rPr kumimoji="1" lang="en-US" altLang="ja-JP" sz="1200" dirty="0"/>
              <a:t>UNION</a:t>
            </a:r>
            <a:r>
              <a:rPr kumimoji="1" lang="ja-JP" altLang="en-US" sz="1200" dirty="0"/>
              <a:t>　</a:t>
            </a:r>
            <a:r>
              <a:rPr kumimoji="1" lang="en-US" altLang="ja-JP" sz="1200" dirty="0"/>
              <a:t>ALL</a:t>
            </a:r>
            <a:r>
              <a:rPr kumimoji="1" lang="ja-JP" altLang="en-US" sz="1200" dirty="0"/>
              <a:t>を用いて下記の</a:t>
            </a:r>
            <a:r>
              <a:rPr kumimoji="1" lang="en-US" altLang="ja-JP" sz="1200" dirty="0"/>
              <a:t>SQL</a:t>
            </a:r>
            <a:r>
              <a:rPr kumimoji="1" lang="ja-JP" altLang="en-US" sz="1200" dirty="0"/>
              <a:t>を実行する</a:t>
            </a:r>
            <a:endParaRPr kumimoji="1" lang="en-US" altLang="ja-JP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41E6AB1-48D4-7876-4AD0-B6B4AFE2508C}"/>
              </a:ext>
            </a:extLst>
          </p:cNvPr>
          <p:cNvSpPr txBox="1"/>
          <p:nvPr/>
        </p:nvSpPr>
        <p:spPr>
          <a:xfrm>
            <a:off x="6094412" y="992094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東京支店顧客テーブル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u="sng" dirty="0">
                <a:solidFill>
                  <a:srgbClr val="0070C0"/>
                </a:solidFill>
              </a:rPr>
              <a:t>UNION</a:t>
            </a:r>
            <a:r>
              <a:rPr kumimoji="1" lang="ja-JP" altLang="en-US" sz="1400" u="sng" dirty="0">
                <a:solidFill>
                  <a:srgbClr val="0070C0"/>
                </a:solidFill>
              </a:rPr>
              <a:t> </a:t>
            </a:r>
            <a:r>
              <a:rPr kumimoji="1" lang="en-US" altLang="ja-JP" sz="1400" u="sng" dirty="0">
                <a:solidFill>
                  <a:srgbClr val="0070C0"/>
                </a:solidFill>
              </a:rPr>
              <a:t>ALL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大阪支店顧客テーブル</a:t>
            </a:r>
            <a:r>
              <a:rPr kumimoji="1" lang="en-US" altLang="ja-JP" sz="1400" dirty="0">
                <a:solidFill>
                  <a:srgbClr val="0070C0"/>
                </a:solidFill>
              </a:rPr>
              <a:t>;</a:t>
            </a: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A96E258D-7344-6CB4-7A87-18E59BC16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261868"/>
              </p:ext>
            </p:extLst>
          </p:nvPr>
        </p:nvGraphicFramePr>
        <p:xfrm>
          <a:off x="385444" y="4419600"/>
          <a:ext cx="4032567" cy="193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645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0006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丹波陽菜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0007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枚方翔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3770D349-2645-4DE4-4E19-88AEADA2C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528885"/>
              </p:ext>
            </p:extLst>
          </p:nvPr>
        </p:nvGraphicFramePr>
        <p:xfrm>
          <a:off x="5637212" y="3200400"/>
          <a:ext cx="4953000" cy="34370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4009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上野貴也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川口恵実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埼玉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645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川崎圭子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0004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成田拓也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07533964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91597310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0006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丹波陽菜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33929714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0007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枚方翔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527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27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890587" y="326792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INTERSECT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435099" y="1524000"/>
            <a:ext cx="7192795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列名 </a:t>
            </a:r>
            <a:r>
              <a:rPr lang="en-US" altLang="ja-JP" sz="2400" dirty="0">
                <a:latin typeface="Meiryo UI"/>
                <a:ea typeface="Meiryo UI"/>
              </a:rPr>
              <a:t>[,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  <a:r>
              <a:rPr lang="en-US" altLang="ja-JP" sz="2400" dirty="0">
                <a:latin typeface="Meiryo UI"/>
                <a:ea typeface="Meiryo UI"/>
              </a:rPr>
              <a:t>1</a:t>
            </a:r>
            <a:endParaRPr lang="en-US" altLang="ja-JP" dirty="0">
              <a:latin typeface="Meiryo UI"/>
              <a:ea typeface="Meiryo UI"/>
            </a:endParaRPr>
          </a:p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0082B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INTERSECT</a:t>
            </a:r>
            <a:endParaRPr lang="en-US" altLang="ja-JP" dirty="0">
              <a:latin typeface="Meiryo UI"/>
              <a:ea typeface="Meiryo UI"/>
            </a:endParaRPr>
          </a:p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列名 </a:t>
            </a:r>
            <a:r>
              <a:rPr lang="en-US" altLang="ja-JP" sz="2400" dirty="0">
                <a:latin typeface="Meiryo UI"/>
                <a:ea typeface="Meiryo UI"/>
              </a:rPr>
              <a:t>[,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  <a:r>
              <a:rPr lang="en-US" altLang="ja-JP" sz="2400" dirty="0">
                <a:latin typeface="Meiryo UI"/>
                <a:ea typeface="Meiryo UI"/>
              </a:rPr>
              <a:t>2;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474825-98FF-CE56-DBCB-B88E78D74E5D}"/>
              </a:ext>
            </a:extLst>
          </p:cNvPr>
          <p:cNvSpPr txBox="1"/>
          <p:nvPr/>
        </p:nvSpPr>
        <p:spPr>
          <a:xfrm>
            <a:off x="1119186" y="1012592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eiryo UI" charset="0"/>
                <a:ea typeface="Meiryo UI" charset="0"/>
              </a:rPr>
              <a:t>2</a:t>
            </a:r>
            <a:r>
              <a:rPr kumimoji="1" lang="ja-JP" altLang="en-US" dirty="0">
                <a:latin typeface="Meiryo UI" charset="0"/>
                <a:ea typeface="Meiryo UI" charset="0"/>
              </a:rPr>
              <a:t>つのテーブルから、重複するデータのみを取得できる</a:t>
            </a:r>
            <a:endParaRPr kumimoji="1" lang="ja-JP" altLang="en-US" dirty="0"/>
          </a:p>
        </p:txBody>
      </p:sp>
      <p:sp>
        <p:nvSpPr>
          <p:cNvPr id="5" name="タイトル 12">
            <a:extLst>
              <a:ext uri="{FF2B5EF4-FFF2-40B4-BE49-F238E27FC236}">
                <a16:creationId xmlns:a16="http://schemas.microsoft.com/office/drawing/2014/main" id="{300D3F76-9CA3-9D06-1D20-DBCC03612F97}"/>
              </a:ext>
            </a:extLst>
          </p:cNvPr>
          <p:cNvSpPr txBox="1">
            <a:spLocks/>
          </p:cNvSpPr>
          <p:nvPr/>
        </p:nvSpPr>
        <p:spPr>
          <a:xfrm>
            <a:off x="890587" y="3657141"/>
            <a:ext cx="8686800" cy="5385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lang="ja-JP" sz="3600" b="1" kern="120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en-US" sz="2800" dirty="0"/>
              <a:t>EXCEPT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ACE309F-F57F-C796-3FA9-806517B62B55}"/>
              </a:ext>
            </a:extLst>
          </p:cNvPr>
          <p:cNvSpPr txBox="1"/>
          <p:nvPr/>
        </p:nvSpPr>
        <p:spPr>
          <a:xfrm>
            <a:off x="1435098" y="4854349"/>
            <a:ext cx="7192795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列名 </a:t>
            </a:r>
            <a:r>
              <a:rPr lang="en-US" altLang="ja-JP" sz="2400" dirty="0">
                <a:latin typeface="Meiryo UI"/>
                <a:ea typeface="Meiryo UI"/>
              </a:rPr>
              <a:t>[,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  <a:r>
              <a:rPr lang="en-US" altLang="ja-JP" sz="2400" dirty="0">
                <a:latin typeface="Meiryo UI"/>
                <a:ea typeface="Meiryo UI"/>
              </a:rPr>
              <a:t>1</a:t>
            </a:r>
            <a:endParaRPr lang="en-US" altLang="ja-JP" dirty="0">
              <a:latin typeface="Meiryo UI"/>
              <a:ea typeface="Meiryo UI"/>
            </a:endParaRPr>
          </a:p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rgbClr val="0082B3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EXCEPT</a:t>
            </a:r>
            <a:endParaRPr lang="en-US" altLang="ja-JP" dirty="0">
              <a:latin typeface="Meiryo UI"/>
              <a:ea typeface="Meiryo UI"/>
            </a:endParaRPr>
          </a:p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列名 </a:t>
            </a:r>
            <a:r>
              <a:rPr lang="en-US" altLang="ja-JP" sz="2400" dirty="0">
                <a:latin typeface="Meiryo UI"/>
                <a:ea typeface="Meiryo UI"/>
              </a:rPr>
              <a:t>[,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]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  <a:r>
              <a:rPr lang="en-US" altLang="ja-JP" sz="2400" dirty="0">
                <a:latin typeface="Meiryo UI"/>
                <a:ea typeface="Meiryo UI"/>
              </a:rPr>
              <a:t>2;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8BE810C-9B75-7574-E0A8-D6A20892C747}"/>
              </a:ext>
            </a:extLst>
          </p:cNvPr>
          <p:cNvSpPr txBox="1"/>
          <p:nvPr/>
        </p:nvSpPr>
        <p:spPr>
          <a:xfrm>
            <a:off x="1153965" y="4342941"/>
            <a:ext cx="7912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eiryo UI" charset="0"/>
                <a:ea typeface="Meiryo UI" charset="0"/>
              </a:rPr>
              <a:t>2</a:t>
            </a:r>
            <a:r>
              <a:rPr kumimoji="1" lang="ja-JP" altLang="en-US" dirty="0">
                <a:latin typeface="Meiryo UI" charset="0"/>
                <a:ea typeface="Meiryo UI" charset="0"/>
              </a:rPr>
              <a:t>つのテーブルのデータをのうち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つ目のテーブルにのみ登録されているデータを取得できる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7447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9FF86BA-1251-C5E9-85DC-B82F3FB5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415447"/>
            <a:ext cx="3124200" cy="457200"/>
          </a:xfrm>
        </p:spPr>
        <p:txBody>
          <a:bodyPr>
            <a:normAutofit/>
          </a:bodyPr>
          <a:lstStyle/>
          <a:p>
            <a:r>
              <a:rPr kumimoji="1" lang="en-US" altLang="ja-JP" sz="2800" dirty="0">
                <a:solidFill>
                  <a:schemeClr val="tx1"/>
                </a:solidFill>
              </a:rPr>
              <a:t>INTERSECT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197BC4AE-3853-CD96-2E16-F0063D44E418}"/>
              </a:ext>
            </a:extLst>
          </p:cNvPr>
          <p:cNvGraphicFramePr>
            <a:graphicFrameLocks noGrp="1"/>
          </p:cNvGraphicFramePr>
          <p:nvPr/>
        </p:nvGraphicFramePr>
        <p:xfrm>
          <a:off x="385444" y="1420136"/>
          <a:ext cx="4032567" cy="2237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川口恵実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埼玉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川崎圭子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0004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成田拓也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1DF628-F0E2-24F6-7095-3A79E287454C}"/>
              </a:ext>
            </a:extLst>
          </p:cNvPr>
          <p:cNvSpPr txBox="1"/>
          <p:nvPr/>
        </p:nvSpPr>
        <p:spPr>
          <a:xfrm>
            <a:off x="336793" y="4028589"/>
            <a:ext cx="2307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■大阪支店顧客テーブル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0DE1D3-0BD7-69A3-8D26-09DB3E984677}"/>
              </a:ext>
            </a:extLst>
          </p:cNvPr>
          <p:cNvSpPr txBox="1"/>
          <p:nvPr/>
        </p:nvSpPr>
        <p:spPr>
          <a:xfrm>
            <a:off x="364646" y="1080719"/>
            <a:ext cx="2279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■東京支店顧客テーブル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6661E0F-AEB0-EA63-7955-6664306746F4}"/>
              </a:ext>
            </a:extLst>
          </p:cNvPr>
          <p:cNvSpPr txBox="1"/>
          <p:nvPr/>
        </p:nvSpPr>
        <p:spPr>
          <a:xfrm>
            <a:off x="5561012" y="1388496"/>
            <a:ext cx="624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INTERSECT</a:t>
            </a:r>
            <a:r>
              <a:rPr kumimoji="1" lang="ja-JP" altLang="en-US" sz="1200" dirty="0"/>
              <a:t>は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つのテーブルそれぞれの検索結果を比べ、</a:t>
            </a:r>
            <a:endParaRPr kumimoji="1" lang="en-US" altLang="ja-JP" sz="1200" dirty="0"/>
          </a:p>
          <a:p>
            <a:r>
              <a:rPr kumimoji="1" lang="ja-JP" altLang="en-US" sz="1200" dirty="0"/>
              <a:t>重複しているデータのみを取り出すことができる。</a:t>
            </a:r>
            <a:endParaRPr kumimoji="1" lang="en-US" altLang="ja-JP" sz="1200" dirty="0"/>
          </a:p>
          <a:p>
            <a:r>
              <a:rPr kumimoji="1" lang="ja-JP" altLang="en-US" sz="1200" dirty="0"/>
              <a:t>左記の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つのテーブルに対して</a:t>
            </a:r>
            <a:r>
              <a:rPr kumimoji="1" lang="en-US" altLang="ja-JP" sz="1200" dirty="0"/>
              <a:t>INTERSECT</a:t>
            </a:r>
            <a:r>
              <a:rPr kumimoji="1" lang="ja-JP" altLang="en-US" sz="1200" dirty="0"/>
              <a:t>を用いて下記の</a:t>
            </a:r>
            <a:r>
              <a:rPr kumimoji="1" lang="en-US" altLang="ja-JP" sz="1200" dirty="0"/>
              <a:t>SQL</a:t>
            </a:r>
            <a:r>
              <a:rPr kumimoji="1" lang="ja-JP" altLang="en-US" sz="1200" dirty="0"/>
              <a:t>を実行する</a:t>
            </a:r>
            <a:endParaRPr kumimoji="1" lang="en-US" altLang="ja-JP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41E6AB1-48D4-7876-4AD0-B6B4AFE2508C}"/>
              </a:ext>
            </a:extLst>
          </p:cNvPr>
          <p:cNvSpPr txBox="1"/>
          <p:nvPr/>
        </p:nvSpPr>
        <p:spPr>
          <a:xfrm>
            <a:off x="6094412" y="2034827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東京支店顧客テーブル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u="sng" dirty="0">
                <a:solidFill>
                  <a:srgbClr val="0070C0"/>
                </a:solidFill>
              </a:rPr>
              <a:t>INTERSECT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大阪支店顧客テーブル</a:t>
            </a:r>
            <a:r>
              <a:rPr kumimoji="1" lang="en-US" altLang="ja-JP" sz="1400" dirty="0">
                <a:solidFill>
                  <a:srgbClr val="0070C0"/>
                </a:solidFill>
              </a:rPr>
              <a:t>;</a:t>
            </a: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A96E258D-7344-6CB4-7A87-18E59BC16381}"/>
              </a:ext>
            </a:extLst>
          </p:cNvPr>
          <p:cNvGraphicFramePr>
            <a:graphicFrameLocks noGrp="1"/>
          </p:cNvGraphicFramePr>
          <p:nvPr/>
        </p:nvGraphicFramePr>
        <p:xfrm>
          <a:off x="385444" y="4419600"/>
          <a:ext cx="4032567" cy="193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645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0006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丹波陽菜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0007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枚方翔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3770D349-2645-4DE4-4E19-88AEADA2C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281884"/>
              </p:ext>
            </p:extLst>
          </p:nvPr>
        </p:nvGraphicFramePr>
        <p:xfrm>
          <a:off x="5637212" y="4243133"/>
          <a:ext cx="4953000" cy="106880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4009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上野貴也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06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9FF86BA-1251-C5E9-85DC-B82F3FB5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415447"/>
            <a:ext cx="3124200" cy="457200"/>
          </a:xfrm>
        </p:spPr>
        <p:txBody>
          <a:bodyPr>
            <a:normAutofit/>
          </a:bodyPr>
          <a:lstStyle/>
          <a:p>
            <a:r>
              <a:rPr kumimoji="1" lang="en-US" altLang="ja-JP" sz="2800" dirty="0">
                <a:solidFill>
                  <a:schemeClr val="tx1"/>
                </a:solidFill>
              </a:rPr>
              <a:t>EXCEPT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197BC4AE-3853-CD96-2E16-F0063D44E418}"/>
              </a:ext>
            </a:extLst>
          </p:cNvPr>
          <p:cNvGraphicFramePr>
            <a:graphicFrameLocks noGrp="1"/>
          </p:cNvGraphicFramePr>
          <p:nvPr/>
        </p:nvGraphicFramePr>
        <p:xfrm>
          <a:off x="385444" y="1420136"/>
          <a:ext cx="4032567" cy="2237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川口恵実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埼玉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川崎圭子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0004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成田拓也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1DF628-F0E2-24F6-7095-3A79E287454C}"/>
              </a:ext>
            </a:extLst>
          </p:cNvPr>
          <p:cNvSpPr txBox="1"/>
          <p:nvPr/>
        </p:nvSpPr>
        <p:spPr>
          <a:xfrm>
            <a:off x="336793" y="4028589"/>
            <a:ext cx="2307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■大阪支店顧客テーブル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0DE1D3-0BD7-69A3-8D26-09DB3E984677}"/>
              </a:ext>
            </a:extLst>
          </p:cNvPr>
          <p:cNvSpPr txBox="1"/>
          <p:nvPr/>
        </p:nvSpPr>
        <p:spPr>
          <a:xfrm>
            <a:off x="364646" y="1080719"/>
            <a:ext cx="2279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■東京支店顧客テーブル</a:t>
            </a: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A96E258D-7344-6CB4-7A87-18E59BC16381}"/>
              </a:ext>
            </a:extLst>
          </p:cNvPr>
          <p:cNvGraphicFramePr>
            <a:graphicFrameLocks noGrp="1"/>
          </p:cNvGraphicFramePr>
          <p:nvPr/>
        </p:nvGraphicFramePr>
        <p:xfrm>
          <a:off x="385444" y="4419600"/>
          <a:ext cx="4032567" cy="193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645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0006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丹波陽菜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0007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枚方翔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3770D349-2645-4DE4-4E19-88AEADA2C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850857"/>
              </p:ext>
            </p:extLst>
          </p:nvPr>
        </p:nvGraphicFramePr>
        <p:xfrm>
          <a:off x="5637212" y="4243133"/>
          <a:ext cx="4953000" cy="14333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4009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川口恵実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埼玉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645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川崎圭子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0004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成田拓也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EB6785-F358-3F42-4F59-FF4BCFC5BF0A}"/>
              </a:ext>
            </a:extLst>
          </p:cNvPr>
          <p:cNvSpPr txBox="1"/>
          <p:nvPr/>
        </p:nvSpPr>
        <p:spPr>
          <a:xfrm>
            <a:off x="5561012" y="1388496"/>
            <a:ext cx="624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EXCEPT</a:t>
            </a:r>
            <a:r>
              <a:rPr kumimoji="1" lang="ja-JP" altLang="en-US" sz="1200" dirty="0"/>
              <a:t>は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つのテーブルそれぞれの検索結果を比べ、</a:t>
            </a:r>
            <a:endParaRPr kumimoji="1" lang="en-US" altLang="ja-JP" sz="1200" dirty="0"/>
          </a:p>
          <a:p>
            <a:r>
              <a:rPr kumimoji="1" lang="en-US" altLang="ja-JP" sz="1200" dirty="0"/>
              <a:t>1</a:t>
            </a:r>
            <a:r>
              <a:rPr kumimoji="1" lang="ja-JP" altLang="en-US" sz="1200" dirty="0"/>
              <a:t>つ目のテーブルには存在し、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つ目のテーブルには存在しないデータを取得する</a:t>
            </a:r>
            <a:endParaRPr kumimoji="1" lang="en-US" altLang="ja-JP" sz="1200" dirty="0"/>
          </a:p>
          <a:p>
            <a:r>
              <a:rPr kumimoji="1" lang="ja-JP" altLang="en-US" sz="1200" dirty="0"/>
              <a:t>左記の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つのテーブルに対して</a:t>
            </a:r>
            <a:r>
              <a:rPr kumimoji="1" lang="en-US" altLang="ja-JP" sz="1200" dirty="0"/>
              <a:t>EXCEPT</a:t>
            </a:r>
            <a:r>
              <a:rPr kumimoji="1" lang="ja-JP" altLang="en-US" sz="1200" dirty="0"/>
              <a:t>を用いて下記の</a:t>
            </a:r>
            <a:r>
              <a:rPr kumimoji="1" lang="en-US" altLang="ja-JP" sz="1200" dirty="0"/>
              <a:t>SQL</a:t>
            </a:r>
            <a:r>
              <a:rPr kumimoji="1" lang="ja-JP" altLang="en-US" sz="1200" dirty="0"/>
              <a:t>を実行する</a:t>
            </a:r>
            <a:endParaRPr kumimoji="1" lang="en-US" altLang="ja-JP" sz="12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FA2623-8CA4-DE5A-45DA-9EED4818D93A}"/>
              </a:ext>
            </a:extLst>
          </p:cNvPr>
          <p:cNvSpPr txBox="1"/>
          <p:nvPr/>
        </p:nvSpPr>
        <p:spPr>
          <a:xfrm>
            <a:off x="6094412" y="2034827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東京支店顧客テーブル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u="sng" dirty="0">
                <a:solidFill>
                  <a:srgbClr val="0070C0"/>
                </a:solidFill>
              </a:rPr>
              <a:t>INTERSECT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大阪支店顧客テーブル</a:t>
            </a:r>
            <a:r>
              <a:rPr kumimoji="1" lang="en-US" altLang="ja-JP" sz="1400" dirty="0">
                <a:solidFill>
                  <a:srgbClr val="0070C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6087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9FF86BA-1251-C5E9-85DC-B82F3FB5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415447"/>
            <a:ext cx="3124200" cy="457200"/>
          </a:xfrm>
        </p:spPr>
        <p:txBody>
          <a:bodyPr>
            <a:normAutofit/>
          </a:bodyPr>
          <a:lstStyle/>
          <a:p>
            <a:r>
              <a:rPr kumimoji="1" lang="en-US" altLang="ja-JP" sz="2800" dirty="0">
                <a:solidFill>
                  <a:schemeClr val="tx1"/>
                </a:solidFill>
              </a:rPr>
              <a:t>EXCEPT</a:t>
            </a:r>
            <a:r>
              <a:rPr kumimoji="1" lang="ja-JP" altLang="en-US" sz="2800" dirty="0">
                <a:solidFill>
                  <a:schemeClr val="tx1"/>
                </a:solidFill>
              </a:rPr>
              <a:t>②</a:t>
            </a:r>
            <a:endParaRPr kumimoji="1" lang="en-US" altLang="ja-JP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197BC4AE-3853-CD96-2E16-F0063D44E418}"/>
              </a:ext>
            </a:extLst>
          </p:cNvPr>
          <p:cNvGraphicFramePr>
            <a:graphicFrameLocks noGrp="1"/>
          </p:cNvGraphicFramePr>
          <p:nvPr/>
        </p:nvGraphicFramePr>
        <p:xfrm>
          <a:off x="385444" y="1420136"/>
          <a:ext cx="4032567" cy="2237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川口恵実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埼玉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川崎圭子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神奈川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0004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成田拓也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1DF628-F0E2-24F6-7095-3A79E287454C}"/>
              </a:ext>
            </a:extLst>
          </p:cNvPr>
          <p:cNvSpPr txBox="1"/>
          <p:nvPr/>
        </p:nvSpPr>
        <p:spPr>
          <a:xfrm>
            <a:off x="336793" y="4028589"/>
            <a:ext cx="2307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■大阪支店顧客テーブル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0DE1D3-0BD7-69A3-8D26-09DB3E984677}"/>
              </a:ext>
            </a:extLst>
          </p:cNvPr>
          <p:cNvSpPr txBox="1"/>
          <p:nvPr/>
        </p:nvSpPr>
        <p:spPr>
          <a:xfrm>
            <a:off x="364646" y="1080719"/>
            <a:ext cx="2279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■東京支店顧客テーブル</a:t>
            </a: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A96E258D-7344-6CB4-7A87-18E59BC16381}"/>
              </a:ext>
            </a:extLst>
          </p:cNvPr>
          <p:cNvGraphicFramePr>
            <a:graphicFrameLocks noGrp="1"/>
          </p:cNvGraphicFramePr>
          <p:nvPr/>
        </p:nvGraphicFramePr>
        <p:xfrm>
          <a:off x="385444" y="4419600"/>
          <a:ext cx="4032567" cy="193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89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344189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56771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上野貴也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0005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明石遥人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645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0006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丹波陽菜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0007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枚方翔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</a:tbl>
          </a:graphicData>
        </a:graphic>
      </p:graphicFrame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3770D349-2645-4DE4-4E19-88AEADA2C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88905"/>
              </p:ext>
            </p:extLst>
          </p:nvPr>
        </p:nvGraphicFramePr>
        <p:xfrm>
          <a:off x="5637212" y="4243133"/>
          <a:ext cx="4953000" cy="109944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</a:tblGrid>
              <a:tr h="4009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顧客</a:t>
                      </a:r>
                      <a:r>
                        <a:rPr kumimoji="1" lang="en-US" altLang="ja-JP" sz="14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地域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33395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0006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丹波陽菜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兵庫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36458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0007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枚方翔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EB6785-F358-3F42-4F59-FF4BCFC5BF0A}"/>
              </a:ext>
            </a:extLst>
          </p:cNvPr>
          <p:cNvSpPr txBox="1"/>
          <p:nvPr/>
        </p:nvSpPr>
        <p:spPr>
          <a:xfrm>
            <a:off x="5561012" y="1388496"/>
            <a:ext cx="624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EXCEPT</a:t>
            </a:r>
            <a:r>
              <a:rPr kumimoji="1" lang="ja-JP" altLang="en-US" sz="1200" dirty="0"/>
              <a:t>は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つのテーブルそれぞれの検索結果を比べ、</a:t>
            </a:r>
            <a:endParaRPr kumimoji="1" lang="en-US" altLang="ja-JP" sz="1200" dirty="0"/>
          </a:p>
          <a:p>
            <a:r>
              <a:rPr kumimoji="1" lang="en-US" altLang="ja-JP" sz="1200" dirty="0"/>
              <a:t>1</a:t>
            </a:r>
            <a:r>
              <a:rPr kumimoji="1" lang="ja-JP" altLang="en-US" sz="1200" dirty="0"/>
              <a:t>つ目のテーブルには存在し、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つ目のテーブルには存在しないデータを取得する</a:t>
            </a:r>
            <a:endParaRPr kumimoji="1" lang="en-US" altLang="ja-JP" sz="1200" dirty="0"/>
          </a:p>
          <a:p>
            <a:r>
              <a:rPr kumimoji="1" lang="ja-JP" altLang="en-US" sz="1200" dirty="0"/>
              <a:t>左記の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つのテーブルに対して</a:t>
            </a:r>
            <a:r>
              <a:rPr kumimoji="1" lang="en-US" altLang="ja-JP" sz="1200" dirty="0"/>
              <a:t>EXCEPT</a:t>
            </a:r>
            <a:r>
              <a:rPr kumimoji="1" lang="ja-JP" altLang="en-US" sz="1200" dirty="0"/>
              <a:t>を用いて下記の</a:t>
            </a:r>
            <a:r>
              <a:rPr kumimoji="1" lang="en-US" altLang="ja-JP" sz="1200" dirty="0"/>
              <a:t>SQL</a:t>
            </a:r>
            <a:r>
              <a:rPr kumimoji="1" lang="ja-JP" altLang="en-US" sz="1200" dirty="0"/>
              <a:t>を実行する</a:t>
            </a:r>
            <a:endParaRPr kumimoji="1" lang="en-US" altLang="ja-JP" sz="12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FA2623-8CA4-DE5A-45DA-9EED4818D93A}"/>
              </a:ext>
            </a:extLst>
          </p:cNvPr>
          <p:cNvSpPr txBox="1"/>
          <p:nvPr/>
        </p:nvSpPr>
        <p:spPr>
          <a:xfrm>
            <a:off x="6094412" y="2034827"/>
            <a:ext cx="274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大阪支店顧客テーブル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u="sng" dirty="0">
                <a:solidFill>
                  <a:srgbClr val="0070C0"/>
                </a:solidFill>
              </a:rPr>
              <a:t>INTERSECT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　顧客</a:t>
            </a:r>
            <a:r>
              <a:rPr kumimoji="1" lang="en-US" altLang="ja-JP" sz="1400" dirty="0">
                <a:solidFill>
                  <a:srgbClr val="0070C0"/>
                </a:solidFill>
              </a:rPr>
              <a:t>ID,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r>
              <a:rPr kumimoji="1" lang="en-US" altLang="ja-JP" sz="1400" dirty="0">
                <a:solidFill>
                  <a:srgbClr val="0070C0"/>
                </a:solidFill>
              </a:rPr>
              <a:t>,</a:t>
            </a:r>
            <a:r>
              <a:rPr kumimoji="1" lang="ja-JP" altLang="en-US" sz="1400" dirty="0">
                <a:solidFill>
                  <a:srgbClr val="0070C0"/>
                </a:solidFill>
              </a:rPr>
              <a:t>地域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東京支店顧客テーブル</a:t>
            </a:r>
            <a:r>
              <a:rPr kumimoji="1" lang="en-US" altLang="ja-JP" sz="1400" dirty="0">
                <a:solidFill>
                  <a:srgbClr val="0070C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7317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1043</Words>
  <Application>Microsoft Office PowerPoint</Application>
  <PresentationFormat>ユーザー設定</PresentationFormat>
  <Paragraphs>365</Paragraphs>
  <Slides>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Meiryo UI</vt:lpstr>
      <vt:lpstr>メイリオ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  <vt:lpstr>UNION</vt:lpstr>
      <vt:lpstr>UNION</vt:lpstr>
      <vt:lpstr>UNION ALL</vt:lpstr>
      <vt:lpstr>INTERSECT</vt:lpstr>
      <vt:lpstr>INTERSECT</vt:lpstr>
      <vt:lpstr>EXCEPT</vt:lpstr>
      <vt:lpstr>EXCEPT②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太郎 アビック</cp:lastModifiedBy>
  <cp:revision>92</cp:revision>
  <dcterms:created xsi:type="dcterms:W3CDTF">2013-04-05T19:55:11Z</dcterms:created>
  <dcterms:modified xsi:type="dcterms:W3CDTF">2025-08-21T08:44:36Z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