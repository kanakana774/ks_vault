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8" r:id="rId5"/>
    <p:sldId id="284" r:id="rId6"/>
    <p:sldId id="272" r:id="rId7"/>
    <p:sldId id="289" r:id="rId8"/>
    <p:sldId id="290" r:id="rId9"/>
    <p:sldId id="285" r:id="rId10"/>
    <p:sldId id="293" r:id="rId11"/>
    <p:sldId id="29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925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78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10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64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86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817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AD74-F583-7C66-9533-38BE8194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5CF386-1CFD-826A-F8A2-FB6C1AACA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16BF5E-95DD-28EF-F795-530CC45A7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27C877-4A98-1C00-80BD-B81AB8096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432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A8AE-3846-8A28-D806-DFF92DCF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60398D-BAB3-C812-ABFC-6D300F5BA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CC05B7-5D2A-574D-37F9-DFE576843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F9CAAE-E075-65D4-94EE-B325C5066A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71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963204" y="122209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①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テーブルからデータを取り出すには、「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  </a:t>
            </a:r>
            <a:r>
              <a:rPr kumimoji="1" lang="en-US" altLang="ja-JP">
                <a:latin typeface="Meiryo UI" charset="0"/>
                <a:ea typeface="Meiryo UI" charset="0"/>
              </a:rPr>
              <a:t>(a) SELECT 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・テーブルから取り出したい列をカンマ区切りで指定する。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全ての列を取り出したい場合、「*」を指定することも可能。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(b) FROM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・データの取り出す元となるテーブルを指定する。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SQL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の基礎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725" y="2286000"/>
            <a:ext cx="7192795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</a:p>
          <a:p>
            <a:r>
              <a:rPr lang="en-US" altLang="ja-JP">
                <a:latin typeface="Meiryo UI"/>
                <a:ea typeface="Meiryo UI"/>
              </a:rPr>
              <a:t>     (</a:t>
            </a:r>
            <a:r>
              <a:rPr lang="ja-JP" altLang="en-US">
                <a:latin typeface="Meiryo UI"/>
                <a:ea typeface="Meiryo UI"/>
              </a:rPr>
              <a:t>ａ</a:t>
            </a:r>
            <a:r>
              <a:rPr lang="en-US" altLang="ja-JP">
                <a:latin typeface="Meiryo UI"/>
                <a:ea typeface="Meiryo UI"/>
              </a:rPr>
              <a:t>)</a:t>
            </a:r>
            <a:r>
              <a:rPr lang="ja-JP" altLang="en-US">
                <a:latin typeface="Meiryo UI"/>
                <a:ea typeface="Meiryo UI"/>
              </a:rPr>
              <a:t>　　　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（ｂ）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088274" y="2990505"/>
            <a:ext cx="239530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>
            <a:off x="1997947" y="2976128"/>
            <a:ext cx="2992627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71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37809"/>
            <a:ext cx="9199562" cy="552169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特定のデータを取り出す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テーブルから特定データのみ取り出すには、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文に条件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en-US" altLang="ja-JP" b="1">
                <a:latin typeface="Meiryo UI" charset="0"/>
                <a:ea typeface="Meiryo UI" charset="0"/>
              </a:rPr>
              <a:t>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(c) WHERE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・テーブルから取り出したいデータの条件式を指定する。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859" y="2645448"/>
            <a:ext cx="77856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WHERE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= '0001'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</a:t>
            </a:r>
            <a:r>
              <a:rPr lang="en-US" altLang="ja-JP">
                <a:latin typeface="Meiryo UI"/>
                <a:ea typeface="Meiryo UI"/>
              </a:rPr>
              <a:t>c</a:t>
            </a:r>
            <a:r>
              <a:rPr lang="ja-JP" altLang="en-US">
                <a:latin typeface="Meiryo UI"/>
                <a:ea typeface="Meiryo UI"/>
              </a:rPr>
              <a:t>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907570" y="3321184"/>
            <a:ext cx="322687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73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句に値や数値を演算子を使用して比較する条件式を作りデータを特定する。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比較演算子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条件式で使用する演算子。演算の結果、条件が成立した場合、「</a:t>
            </a:r>
            <a:r>
              <a:rPr kumimoji="1" lang="en-US" altLang="ja-JP">
                <a:latin typeface="Meiryo UI" charset="0"/>
                <a:ea typeface="Meiryo UI" charset="0"/>
              </a:rPr>
              <a:t>TRUE(</a:t>
            </a:r>
            <a:r>
              <a:rPr kumimoji="1" lang="ja-JP" altLang="en-US">
                <a:latin typeface="Meiryo UI" charset="0"/>
                <a:ea typeface="Meiryo UI" charset="0"/>
              </a:rPr>
              <a:t>真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」、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成立しない場合「</a:t>
            </a:r>
            <a:r>
              <a:rPr kumimoji="1" lang="en-US" altLang="ja-JP">
                <a:latin typeface="Meiryo UI" charset="0"/>
                <a:ea typeface="Meiryo UI" charset="0"/>
              </a:rPr>
              <a:t>FALSE(</a:t>
            </a:r>
            <a:r>
              <a:rPr kumimoji="1" lang="ja-JP" altLang="en-US">
                <a:latin typeface="Meiryo UI" charset="0"/>
                <a:ea typeface="Meiryo UI" charset="0"/>
              </a:rPr>
              <a:t>偽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」と評価し、「</a:t>
            </a:r>
            <a:r>
              <a:rPr kumimoji="1" lang="en-US" altLang="ja-JP">
                <a:latin typeface="Meiryo UI" charset="0"/>
                <a:ea typeface="Meiryo UI" charset="0"/>
              </a:rPr>
              <a:t>TRUE</a:t>
            </a:r>
            <a:r>
              <a:rPr kumimoji="1" lang="ja-JP" altLang="en-US">
                <a:latin typeface="Meiryo UI" charset="0"/>
                <a:ea typeface="Meiryo UI" charset="0"/>
              </a:rPr>
              <a:t>」のデータのみを取り出す。</a:t>
            </a:r>
          </a:p>
        </p:txBody>
      </p:sp>
      <p:pic>
        <p:nvPicPr>
          <p:cNvPr id="4" name="図 3" descr="enzan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46" y="3640084"/>
            <a:ext cx="4338457" cy="25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論理演算子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複数の条件式を組み合わせて、より複雑な条件式を作るための演算子。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例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WHERE (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 '0001' OR  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'0002') AND </a:t>
            </a:r>
            <a:r>
              <a:rPr kumimoji="1" lang="ja-JP" altLang="en-US">
                <a:latin typeface="Meiryo UI" charset="0"/>
                <a:ea typeface="Meiryo UI" charset="0"/>
              </a:rPr>
              <a:t>給与 </a:t>
            </a:r>
            <a:r>
              <a:rPr kumimoji="1" lang="en-US" altLang="ja-JP">
                <a:latin typeface="Meiryo UI" charset="0"/>
                <a:ea typeface="Meiryo UI" charset="0"/>
              </a:rPr>
              <a:t>&gt; 10</a:t>
            </a:r>
            <a:r>
              <a:rPr kumimoji="1" lang="ja-JP" altLang="en-US">
                <a:latin typeface="Meiryo UI" charset="0"/>
                <a:ea typeface="Meiryo UI" charset="0"/>
              </a:rPr>
              <a:t>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→ 社員番号が</a:t>
            </a:r>
            <a:r>
              <a:rPr kumimoji="1" lang="en-US" altLang="ja-JP">
                <a:latin typeface="Meiryo UI" charset="0"/>
                <a:ea typeface="Meiryo UI" charset="0"/>
              </a:rPr>
              <a:t>'0001'</a:t>
            </a:r>
            <a:r>
              <a:rPr kumimoji="1" lang="ja-JP" altLang="en-US">
                <a:latin typeface="Meiryo UI" charset="0"/>
                <a:ea typeface="Meiryo UI" charset="0"/>
              </a:rPr>
              <a:t>または、</a:t>
            </a:r>
            <a:r>
              <a:rPr kumimoji="1" lang="en-US" altLang="ja-JP">
                <a:latin typeface="Meiryo UI" charset="0"/>
                <a:ea typeface="Meiryo UI" charset="0"/>
              </a:rPr>
              <a:t>'0002' </a:t>
            </a:r>
            <a:r>
              <a:rPr kumimoji="1" lang="ja-JP" altLang="en-US">
                <a:latin typeface="Meiryo UI" charset="0"/>
                <a:ea typeface="Meiryo UI" charset="0"/>
              </a:rPr>
              <a:t>かつ、給与が</a:t>
            </a:r>
            <a:r>
              <a:rPr kumimoji="1" lang="en-US" altLang="ja-JP">
                <a:latin typeface="Meiryo UI" charset="0"/>
                <a:ea typeface="Meiryo UI" charset="0"/>
              </a:rPr>
              <a:t>10</a:t>
            </a:r>
            <a:r>
              <a:rPr kumimoji="1" lang="ja-JP" altLang="en-US">
                <a:latin typeface="Meiryo UI" charset="0"/>
                <a:ea typeface="Meiryo UI" charset="0"/>
              </a:rPr>
              <a:t>万より大きい</a:t>
            </a:r>
          </a:p>
        </p:txBody>
      </p:sp>
      <p:pic>
        <p:nvPicPr>
          <p:cNvPr id="2" name="図 1" descr="ron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838" y="1643063"/>
            <a:ext cx="6916513" cy="30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5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その他演算子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WHERE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句で使用できるその他の演算子。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5B63640-8069-EECE-1058-9B9C054F7B17}"/>
              </a:ext>
            </a:extLst>
          </p:cNvPr>
          <p:cNvGrpSpPr/>
          <p:nvPr/>
        </p:nvGrpSpPr>
        <p:grpSpPr>
          <a:xfrm>
            <a:off x="1522412" y="1695450"/>
            <a:ext cx="8915400" cy="3562350"/>
            <a:chOff x="1522412" y="1695450"/>
            <a:chExt cx="8915400" cy="3562350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412" y="1695450"/>
              <a:ext cx="8894762" cy="356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1CEEAB2-0104-F3C1-4929-C4CA00867806}"/>
                </a:ext>
              </a:extLst>
            </p:cNvPr>
            <p:cNvSpPr/>
            <p:nvPr/>
          </p:nvSpPr>
          <p:spPr>
            <a:xfrm>
              <a:off x="1522412" y="1981200"/>
              <a:ext cx="8915400" cy="2286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39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34915" y="445712"/>
            <a:ext cx="9199562" cy="5697836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データを並び替えて取得する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テーブルからデータを並び替えて取得する場合、「</a:t>
            </a:r>
            <a:r>
              <a:rPr kumimoji="1" lang="en-US" altLang="ja-JP" b="1">
                <a:latin typeface="Meiryo UI" charset="0"/>
                <a:ea typeface="Meiryo UI" charset="0"/>
              </a:rPr>
              <a:t>ORDER BY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文の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最後に指定する。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(d) ORDER BY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・データ取得時の、並び順を指定したい列名をカンマ区切りで指定する。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</a:t>
            </a:r>
            <a:r>
              <a:rPr kumimoji="1" lang="en-US" altLang="ja-JP">
                <a:latin typeface="Meiryo UI" charset="0"/>
                <a:ea typeface="Meiryo UI" charset="0"/>
              </a:rPr>
              <a:t>※ </a:t>
            </a:r>
            <a:r>
              <a:rPr kumimoji="1" lang="ja-JP" altLang="en-US">
                <a:latin typeface="Meiryo UI" charset="0"/>
                <a:ea typeface="Meiryo UI" charset="0"/>
              </a:rPr>
              <a:t>列名のみ指定した場合、昇順となる。降順としたい場合、列名の後に降順を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  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DESC</a:t>
            </a:r>
            <a:r>
              <a:rPr kumimoji="1" lang="ja-JP" altLang="en-US">
                <a:latin typeface="Meiryo UI" charset="0"/>
                <a:ea typeface="Meiryo UI" charset="0"/>
              </a:rPr>
              <a:t>」を指定する。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 列名のみの場合、</a:t>
            </a:r>
            <a:r>
              <a:rPr kumimoji="1" lang="en-US" altLang="ja-JP">
                <a:latin typeface="Meiryo UI" charset="0"/>
                <a:ea typeface="Meiryo UI" charset="0"/>
              </a:rPr>
              <a:t>RDBMS</a:t>
            </a:r>
            <a:r>
              <a:rPr kumimoji="1" lang="ja-JP" altLang="en-US">
                <a:latin typeface="Meiryo UI" charset="0"/>
                <a:ea typeface="Meiryo UI" charset="0"/>
              </a:rPr>
              <a:t>が昇順を示す「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ASC</a:t>
            </a:r>
            <a:r>
              <a:rPr kumimoji="1" lang="ja-JP" altLang="en-US">
                <a:latin typeface="Meiryo UI" charset="0"/>
                <a:ea typeface="Meiryo UI" charset="0"/>
              </a:rPr>
              <a:t>」が省略されていると解釈している。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81112" y="2286014"/>
            <a:ext cx="82423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ORDER BY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　（</a:t>
            </a:r>
            <a:r>
              <a:rPr lang="en-US" altLang="ja-JP">
                <a:latin typeface="Meiryo UI"/>
                <a:ea typeface="Meiryo UI"/>
              </a:rPr>
              <a:t>d</a:t>
            </a:r>
            <a:r>
              <a:rPr lang="ja-JP" altLang="en-US">
                <a:latin typeface="Meiryo UI"/>
                <a:ea typeface="Meiryo UI"/>
              </a:rPr>
              <a:t>）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850075" y="2976128"/>
            <a:ext cx="3498408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04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5F24-4C36-1623-5E1D-5F8F2AAD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82822D-5564-E056-CB30-50B477E08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4914" y="445712"/>
            <a:ext cx="9707697" cy="569783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【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データを制限して取得する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】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テーブルからデータを</a:t>
            </a:r>
            <a:r>
              <a:rPr lang="ja-JP" altLang="en-US" dirty="0">
                <a:latin typeface="Meiryo UI" charset="0"/>
                <a:ea typeface="Meiryo UI" charset="0"/>
              </a:rPr>
              <a:t>制限し</a:t>
            </a:r>
            <a:r>
              <a:rPr kumimoji="1" lang="ja-JP" altLang="en-US" dirty="0">
                <a:latin typeface="Meiryo UI" charset="0"/>
                <a:ea typeface="Meiryo UI" charset="0"/>
              </a:rPr>
              <a:t>て取得する場合、「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LIMIT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句」を</a:t>
            </a:r>
            <a:r>
              <a:rPr kumimoji="1" lang="en-US" altLang="ja-JP" dirty="0">
                <a:latin typeface="Meiryo UI" charset="0"/>
                <a:ea typeface="Meiryo UI" charset="0"/>
              </a:rPr>
              <a:t>SELECT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文の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最後に指定する。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(e) LIMIT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・取得件数を制限する場合に使用する。</a:t>
            </a: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　　　・</a:t>
            </a:r>
            <a:r>
              <a:rPr lang="en-US" altLang="ja-JP" dirty="0">
                <a:latin typeface="Meiryo UI" charset="0"/>
                <a:ea typeface="Meiryo UI" charset="0"/>
              </a:rPr>
              <a:t>OFFSET</a:t>
            </a:r>
            <a:r>
              <a:rPr lang="ja-JP" altLang="en-US" dirty="0">
                <a:latin typeface="Meiryo UI" charset="0"/>
                <a:ea typeface="Meiryo UI" charset="0"/>
              </a:rPr>
              <a:t>を指定すれば開始位置を指定できる。</a:t>
            </a: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・</a:t>
            </a:r>
            <a:r>
              <a:rPr kumimoji="1" lang="en-US" altLang="ja-JP" dirty="0">
                <a:latin typeface="Meiryo UI" charset="0"/>
                <a:ea typeface="Meiryo UI" charset="0"/>
              </a:rPr>
              <a:t>ORDER BY</a:t>
            </a:r>
            <a:r>
              <a:rPr kumimoji="1" lang="ja-JP" altLang="en-US" dirty="0">
                <a:latin typeface="Meiryo UI" charset="0"/>
                <a:ea typeface="Meiryo UI" charset="0"/>
              </a:rPr>
              <a:t>と組み合わせてサブクエリで使用することがよく</a:t>
            </a:r>
            <a:r>
              <a:rPr kumimoji="1" lang="ja-JP" altLang="en-US">
                <a:latin typeface="Meiryo UI" charset="0"/>
                <a:ea typeface="Meiryo UI" charset="0"/>
              </a:rPr>
              <a:t>ある。</a:t>
            </a:r>
            <a:endParaRPr kumimoji="1" lang="en-US" alt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CCE472-F7EC-DFFA-C09C-87630D4EBE18}"/>
              </a:ext>
            </a:extLst>
          </p:cNvPr>
          <p:cNvSpPr txBox="1"/>
          <p:nvPr/>
        </p:nvSpPr>
        <p:spPr>
          <a:xfrm>
            <a:off x="1581112" y="2286014"/>
            <a:ext cx="88567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LIMIT</a:t>
            </a:r>
            <a:r>
              <a:rPr lang="en-US" altLang="ja-JP" sz="2400" dirty="0">
                <a:solidFill>
                  <a:srgbClr val="000000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数字　</a:t>
            </a:r>
            <a:r>
              <a:rPr lang="en-US" altLang="ja-JP" sz="2400" dirty="0">
                <a:latin typeface="Meiryo UI"/>
                <a:ea typeface="Meiryo UI"/>
              </a:rPr>
              <a:t>[OFFSET </a:t>
            </a:r>
            <a:r>
              <a:rPr lang="ja-JP" altLang="en-US" sz="2400" dirty="0">
                <a:latin typeface="Meiryo UI"/>
                <a:ea typeface="Meiryo UI"/>
              </a:rPr>
              <a:t>数字</a:t>
            </a:r>
            <a:r>
              <a:rPr lang="en-US" altLang="ja-JP" sz="2400" dirty="0">
                <a:latin typeface="Meiryo UI"/>
                <a:ea typeface="Meiryo UI"/>
              </a:rPr>
              <a:t>]</a:t>
            </a:r>
            <a:endParaRPr lang="ja-JP" altLang="en-US" sz="2400" dirty="0">
              <a:latin typeface="Meiryo UI"/>
              <a:ea typeface="Meiryo UI"/>
            </a:endParaRPr>
          </a:p>
          <a:p>
            <a:r>
              <a:rPr lang="en-US" altLang="ja-JP" dirty="0">
                <a:latin typeface="Meiryo UI"/>
                <a:ea typeface="Meiryo UI"/>
              </a:rPr>
              <a:t>                        </a:t>
            </a:r>
            <a:r>
              <a:rPr lang="ja-JP" altLang="en-US" dirty="0">
                <a:latin typeface="Meiryo UI"/>
                <a:ea typeface="Meiryo UI"/>
              </a:rPr>
              <a:t>　　　　　　　　　　　　　　　（</a:t>
            </a:r>
            <a:r>
              <a:rPr lang="en-US" altLang="ja-JP" dirty="0">
                <a:latin typeface="Meiryo UI"/>
                <a:ea typeface="Meiryo UI"/>
              </a:rPr>
              <a:t>e</a:t>
            </a:r>
            <a:r>
              <a:rPr lang="ja-JP" altLang="en-US" dirty="0">
                <a:latin typeface="Meiryo UI"/>
                <a:ea typeface="Meiryo UI"/>
              </a:rPr>
              <a:t>）　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C2F54B6-FCE0-ED28-DDE5-C9EBCD76B9A0}"/>
              </a:ext>
            </a:extLst>
          </p:cNvPr>
          <p:cNvCxnSpPr>
            <a:cxnSpLocks/>
          </p:cNvCxnSpPr>
          <p:nvPr/>
        </p:nvCxnSpPr>
        <p:spPr>
          <a:xfrm>
            <a:off x="5850075" y="2976128"/>
            <a:ext cx="1692137" cy="0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17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0278-22E0-7126-9387-78577BF1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949AF1-D691-112F-4C3F-6922A789D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3204" y="1222090"/>
            <a:ext cx="4445408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/>
              <a:t>シンプル </a:t>
            </a:r>
            <a:r>
              <a:rPr lang="en-US" altLang="ja-JP" b="1" dirty="0"/>
              <a:t>CASE </a:t>
            </a:r>
            <a:r>
              <a:rPr lang="ja-JP" altLang="en-US" b="1" dirty="0"/>
              <a:t>式 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  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lang="en-US" altLang="ja-JP" dirty="0">
                <a:latin typeface="Meiryo UI" charset="0"/>
                <a:ea typeface="Meiryo UI" charset="0"/>
              </a:rPr>
              <a:t>f</a:t>
            </a:r>
            <a:r>
              <a:rPr kumimoji="1" lang="en-US" altLang="ja-JP" dirty="0">
                <a:latin typeface="Meiryo UI" charset="0"/>
                <a:ea typeface="Meiryo UI" charset="0"/>
              </a:rPr>
              <a:t>) </a:t>
            </a:r>
            <a:r>
              <a:rPr kumimoji="1" lang="ja-JP" altLang="en-US" dirty="0">
                <a:latin typeface="Meiryo UI" charset="0"/>
                <a:ea typeface="Meiryo UI" charset="0"/>
              </a:rPr>
              <a:t>列名＝</a:t>
            </a:r>
            <a:r>
              <a:rPr lang="ja-JP" altLang="en-US" dirty="0">
                <a:latin typeface="Meiryo UI" charset="0"/>
                <a:ea typeface="Meiryo UI" charset="0"/>
              </a:rPr>
              <a:t>値</a:t>
            </a:r>
            <a:r>
              <a:rPr lang="en-US" altLang="ja-JP" dirty="0">
                <a:latin typeface="Meiryo UI" charset="0"/>
                <a:ea typeface="Meiryo UI" charset="0"/>
              </a:rPr>
              <a:t>1</a:t>
            </a:r>
            <a:r>
              <a:rPr lang="ja-JP" altLang="en-US" dirty="0">
                <a:latin typeface="Meiryo UI" charset="0"/>
                <a:ea typeface="Meiryo UI" charset="0"/>
              </a:rPr>
              <a:t>の時、結果</a:t>
            </a:r>
            <a:r>
              <a:rPr lang="en-US" altLang="ja-JP" dirty="0">
                <a:latin typeface="Meiryo UI" charset="0"/>
                <a:ea typeface="Meiryo UI" charset="0"/>
              </a:rPr>
              <a:t>1</a:t>
            </a:r>
            <a:r>
              <a:rPr lang="ja-JP" altLang="en-US" dirty="0">
                <a:latin typeface="Meiryo UI" charset="0"/>
                <a:ea typeface="Meiryo UI" charset="0"/>
              </a:rPr>
              <a:t>を返す</a:t>
            </a: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361D82B7-EFEA-F15F-4ECE-D94E616FF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CASE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式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7E01F9B-BAF5-A008-6702-DBAA1305E722}"/>
              </a:ext>
            </a:extLst>
          </p:cNvPr>
          <p:cNvGrpSpPr/>
          <p:nvPr/>
        </p:nvGrpSpPr>
        <p:grpSpPr>
          <a:xfrm>
            <a:off x="1600287" y="1646110"/>
            <a:ext cx="3458753" cy="2215991"/>
            <a:chOff x="1600287" y="1646110"/>
            <a:chExt cx="3458753" cy="2215991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5D6923A-D446-E797-BD09-9C3CDFEC82C3}"/>
                </a:ext>
              </a:extLst>
            </p:cNvPr>
            <p:cNvSpPr txBox="1"/>
            <p:nvPr/>
          </p:nvSpPr>
          <p:spPr>
            <a:xfrm>
              <a:off x="1600287" y="1646110"/>
              <a:ext cx="3458753" cy="22159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altLang="ja-JP" dirty="0">
                <a:latin typeface="Meiryo UI"/>
                <a:ea typeface="Meiryo UI"/>
              </a:endParaRPr>
            </a:p>
            <a:p>
              <a:r>
                <a:rPr lang="en-US" altLang="ja-JP" sz="1600" dirty="0"/>
                <a:t>CASE </a:t>
              </a:r>
              <a:r>
                <a:rPr lang="ja-JP" altLang="en-US" sz="1600" dirty="0"/>
                <a:t>列名</a:t>
              </a:r>
              <a:br>
                <a:rPr lang="ja-JP" altLang="en-US" sz="1600" dirty="0"/>
              </a:br>
              <a:r>
                <a:rPr lang="en-US" altLang="ja-JP" sz="1600" dirty="0"/>
                <a:t>WHEN </a:t>
              </a:r>
              <a:r>
                <a:rPr lang="ja-JP" altLang="en-US" sz="1600" dirty="0"/>
                <a:t>値 </a:t>
              </a:r>
              <a:r>
                <a:rPr lang="en-US" altLang="ja-JP" sz="1600" dirty="0"/>
                <a:t>1 THEN </a:t>
              </a:r>
              <a:r>
                <a:rPr lang="ja-JP" altLang="en-US" sz="1600" dirty="0"/>
                <a:t>結果 </a:t>
              </a:r>
              <a:r>
                <a:rPr lang="en-US" altLang="ja-JP" sz="1600" dirty="0"/>
                <a:t>1</a:t>
              </a:r>
              <a:r>
                <a:rPr lang="ja-JP" altLang="en-US" sz="1600" dirty="0"/>
                <a:t>　</a:t>
              </a:r>
              <a:r>
                <a:rPr lang="en-US" altLang="ja-JP" sz="1600" dirty="0">
                  <a:latin typeface="Meiryo UI"/>
                  <a:ea typeface="Meiryo UI"/>
                </a:rPr>
                <a:t> (f)</a:t>
              </a:r>
              <a:br>
                <a:rPr lang="ja-JP" altLang="en-US" sz="1600" dirty="0"/>
              </a:br>
              <a:r>
                <a:rPr lang="en-US" altLang="ja-JP" sz="1600" dirty="0"/>
                <a:t>WHEN </a:t>
              </a:r>
              <a:r>
                <a:rPr lang="ja-JP" altLang="en-US" sz="1600" dirty="0"/>
                <a:t>値 </a:t>
              </a:r>
              <a:r>
                <a:rPr lang="en-US" altLang="ja-JP" sz="1600" dirty="0"/>
                <a:t>2 THEN </a:t>
              </a:r>
              <a:r>
                <a:rPr lang="ja-JP" altLang="en-US" sz="1600" dirty="0"/>
                <a:t>結果 </a:t>
              </a:r>
              <a:r>
                <a:rPr lang="en-US" altLang="ja-JP" sz="1600" dirty="0"/>
                <a:t>2</a:t>
              </a:r>
              <a:br>
                <a:rPr lang="ja-JP" altLang="en-US" sz="1600" dirty="0"/>
              </a:br>
              <a:r>
                <a:rPr lang="en-US" altLang="ja-JP" sz="1600" dirty="0"/>
                <a:t>...</a:t>
              </a:r>
              <a:br>
                <a:rPr lang="ja-JP" altLang="en-US" sz="1600" dirty="0"/>
              </a:br>
              <a:r>
                <a:rPr lang="en-US" altLang="ja-JP" sz="1600" dirty="0"/>
                <a:t>[ELSE </a:t>
              </a:r>
              <a:r>
                <a:rPr lang="ja-JP" altLang="en-US" sz="1600" dirty="0"/>
                <a:t>デフォルト結果</a:t>
              </a:r>
              <a:r>
                <a:rPr lang="en-US" altLang="ja-JP" sz="1600" dirty="0"/>
                <a:t>]</a:t>
              </a:r>
              <a:br>
                <a:rPr lang="ja-JP" altLang="en-US" sz="1600" dirty="0"/>
              </a:br>
              <a:r>
                <a:rPr lang="en-US" altLang="ja-JP" sz="1600" dirty="0"/>
                <a:t>END</a:t>
              </a:r>
            </a:p>
            <a:p>
              <a:r>
                <a:rPr lang="ja-JP" altLang="en-US" sz="2400" dirty="0">
                  <a:latin typeface="Meiryo UI"/>
                  <a:ea typeface="Meiryo UI"/>
                </a:rPr>
                <a:t>　　</a:t>
              </a:r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E70BCFFE-797A-BA30-1736-F0C7BDAB98CD}"/>
                </a:ext>
              </a:extLst>
            </p:cNvPr>
            <p:cNvCxnSpPr>
              <a:cxnSpLocks/>
            </p:cNvCxnSpPr>
            <p:nvPr/>
          </p:nvCxnSpPr>
          <p:spPr>
            <a:xfrm>
              <a:off x="1600287" y="2438400"/>
              <a:ext cx="2929214" cy="13337"/>
            </a:xfrm>
            <a:prstGeom prst="straightConnector1">
              <a:avLst/>
            </a:prstGeom>
            <a:ln w="57150">
              <a:headEnd type="none"/>
              <a:tailEnd type="non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EA30B690-7EE7-B1BC-BD0B-FB8DD95A0E77}"/>
                </a:ext>
              </a:extLst>
            </p:cNvPr>
            <p:cNvCxnSpPr>
              <a:cxnSpLocks/>
            </p:cNvCxnSpPr>
            <p:nvPr/>
          </p:nvCxnSpPr>
          <p:spPr>
            <a:xfrm>
              <a:off x="2173574" y="2202272"/>
              <a:ext cx="415638" cy="0"/>
            </a:xfrm>
            <a:prstGeom prst="straightConnector1">
              <a:avLst/>
            </a:prstGeom>
            <a:ln w="57150">
              <a:headEnd type="none"/>
              <a:tailEnd type="non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" name="コンテンツ プレースホルダー 5">
            <a:extLst>
              <a:ext uri="{FF2B5EF4-FFF2-40B4-BE49-F238E27FC236}">
                <a16:creationId xmlns:a16="http://schemas.microsoft.com/office/drawing/2014/main" id="{7D030163-6762-C09E-16DE-2F7625DBF3A1}"/>
              </a:ext>
            </a:extLst>
          </p:cNvPr>
          <p:cNvSpPr txBox="1">
            <a:spLocks/>
          </p:cNvSpPr>
          <p:nvPr/>
        </p:nvSpPr>
        <p:spPr>
          <a:xfrm>
            <a:off x="5450173" y="1222089"/>
            <a:ext cx="4606639" cy="493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検索</a:t>
            </a:r>
            <a:r>
              <a:rPr lang="ja-JP" altLang="en-US" b="1" dirty="0"/>
              <a:t> </a:t>
            </a:r>
            <a:r>
              <a:rPr lang="en-US" altLang="ja-JP" b="1" dirty="0"/>
              <a:t>CASE </a:t>
            </a:r>
            <a:r>
              <a:rPr lang="ja-JP" altLang="en-US" b="1" dirty="0"/>
              <a:t>式 </a:t>
            </a:r>
            <a:endParaRPr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　　</a:t>
            </a:r>
          </a:p>
          <a:p>
            <a:pPr marL="45720" indent="0">
              <a:buFont typeface="Arial" pitchFamily="34" charset="0"/>
              <a:buNone/>
            </a:pPr>
            <a:endParaRPr lang="ja-JP" altLang="en-US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endParaRPr lang="ja-JP" altLang="en-US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endParaRPr lang="ja-JP" altLang="en-US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endParaRPr lang="ja-JP" altLang="en-US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　  </a:t>
            </a:r>
            <a:r>
              <a:rPr lang="en-US" altLang="ja-JP" dirty="0">
                <a:latin typeface="Meiryo UI" charset="0"/>
                <a:ea typeface="Meiryo UI" charset="0"/>
              </a:rPr>
              <a:t>(g) </a:t>
            </a:r>
            <a:r>
              <a:rPr lang="ja-JP" altLang="en-US" dirty="0">
                <a:latin typeface="Meiryo UI" charset="0"/>
                <a:ea typeface="Meiryo UI" charset="0"/>
              </a:rPr>
              <a:t>条件式</a:t>
            </a:r>
            <a:r>
              <a:rPr lang="en-US" altLang="ja-JP" dirty="0">
                <a:latin typeface="Meiryo UI" charset="0"/>
                <a:ea typeface="Meiryo UI" charset="0"/>
              </a:rPr>
              <a:t>1</a:t>
            </a:r>
            <a:r>
              <a:rPr lang="ja-JP" altLang="en-US" dirty="0">
                <a:latin typeface="Meiryo UI" charset="0"/>
                <a:ea typeface="Meiryo UI" charset="0"/>
              </a:rPr>
              <a:t>を満たす時、結果</a:t>
            </a:r>
            <a:r>
              <a:rPr lang="en-US" altLang="ja-JP" dirty="0">
                <a:latin typeface="Meiryo UI" charset="0"/>
                <a:ea typeface="Meiryo UI" charset="0"/>
              </a:rPr>
              <a:t>1</a:t>
            </a:r>
            <a:r>
              <a:rPr lang="ja-JP" altLang="en-US" dirty="0">
                <a:latin typeface="Meiryo UI" charset="0"/>
                <a:ea typeface="Meiryo UI" charset="0"/>
              </a:rPr>
              <a:t>を返す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D826C00-A50C-1F4C-EC82-5C26D7A627C2}"/>
              </a:ext>
            </a:extLst>
          </p:cNvPr>
          <p:cNvGrpSpPr/>
          <p:nvPr/>
        </p:nvGrpSpPr>
        <p:grpSpPr>
          <a:xfrm>
            <a:off x="6105394" y="1630559"/>
            <a:ext cx="3875218" cy="2215991"/>
            <a:chOff x="5279658" y="1630559"/>
            <a:chExt cx="3875218" cy="2215991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5F62455-6895-0056-FA22-CB306240E413}"/>
                </a:ext>
              </a:extLst>
            </p:cNvPr>
            <p:cNvSpPr txBox="1"/>
            <p:nvPr/>
          </p:nvSpPr>
          <p:spPr>
            <a:xfrm>
              <a:off x="5279658" y="1630559"/>
              <a:ext cx="3875218" cy="22159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altLang="ja-JP" dirty="0">
                <a:latin typeface="Meiryo UI"/>
                <a:ea typeface="Meiryo UI"/>
              </a:endParaRPr>
            </a:p>
            <a:p>
              <a:r>
                <a:rPr lang="en-US" altLang="ja-JP" sz="1600" dirty="0"/>
                <a:t>CASE</a:t>
              </a:r>
              <a:br>
                <a:rPr lang="ja-JP" altLang="en-US" sz="1600" dirty="0"/>
              </a:br>
              <a:r>
                <a:rPr lang="en-US" altLang="ja-JP" sz="1600" dirty="0"/>
                <a:t>WHEN </a:t>
              </a:r>
              <a:r>
                <a:rPr lang="ja-JP" altLang="en-US" sz="1600" dirty="0"/>
                <a:t>条件式 </a:t>
              </a:r>
              <a:r>
                <a:rPr lang="en-US" altLang="ja-JP" sz="1600" dirty="0"/>
                <a:t>1</a:t>
              </a:r>
              <a:r>
                <a:rPr lang="ja-JP" altLang="en-US" sz="1600" dirty="0"/>
                <a:t> </a:t>
              </a:r>
              <a:r>
                <a:rPr lang="en-US" altLang="ja-JP" sz="1600" dirty="0"/>
                <a:t> THEN </a:t>
              </a:r>
              <a:r>
                <a:rPr lang="ja-JP" altLang="en-US" sz="1600" dirty="0"/>
                <a:t>結果 </a:t>
              </a:r>
              <a:r>
                <a:rPr lang="en-US" altLang="ja-JP" sz="1600" dirty="0"/>
                <a:t>1</a:t>
              </a:r>
              <a:r>
                <a:rPr lang="ja-JP" altLang="en-US" sz="1600" dirty="0"/>
                <a:t>　</a:t>
              </a:r>
              <a:r>
                <a:rPr lang="en-US" altLang="ja-JP" sz="1600" dirty="0">
                  <a:latin typeface="Meiryo UI"/>
                  <a:ea typeface="Meiryo UI"/>
                </a:rPr>
                <a:t> (g)</a:t>
              </a:r>
              <a:br>
                <a:rPr lang="ja-JP" altLang="en-US" sz="1600" dirty="0"/>
              </a:br>
              <a:r>
                <a:rPr lang="en-US" altLang="ja-JP" sz="1600" dirty="0"/>
                <a:t>WHEN </a:t>
              </a:r>
              <a:r>
                <a:rPr lang="ja-JP" altLang="en-US" sz="1600" dirty="0"/>
                <a:t>条件式 </a:t>
              </a:r>
              <a:r>
                <a:rPr lang="en-US" altLang="ja-JP" sz="1600" dirty="0"/>
                <a:t>2</a:t>
              </a:r>
              <a:r>
                <a:rPr lang="ja-JP" altLang="en-US" sz="1600" dirty="0"/>
                <a:t> </a:t>
              </a:r>
              <a:r>
                <a:rPr lang="en-US" altLang="ja-JP" sz="1600" dirty="0"/>
                <a:t>THEN </a:t>
              </a:r>
              <a:r>
                <a:rPr lang="ja-JP" altLang="en-US" sz="1600" dirty="0"/>
                <a:t>結果 </a:t>
              </a:r>
              <a:r>
                <a:rPr lang="en-US" altLang="ja-JP" sz="1600" dirty="0"/>
                <a:t>2</a:t>
              </a:r>
              <a:br>
                <a:rPr lang="ja-JP" altLang="en-US" sz="1600" dirty="0"/>
              </a:br>
              <a:r>
                <a:rPr lang="en-US" altLang="ja-JP" sz="1600" dirty="0"/>
                <a:t>...</a:t>
              </a:r>
              <a:br>
                <a:rPr lang="ja-JP" altLang="en-US" sz="1600" dirty="0"/>
              </a:br>
              <a:r>
                <a:rPr lang="en-US" altLang="ja-JP" sz="1600" dirty="0"/>
                <a:t>[ELSE </a:t>
              </a:r>
              <a:r>
                <a:rPr lang="ja-JP" altLang="en-US" sz="1600" dirty="0"/>
                <a:t>デフォルト結果</a:t>
              </a:r>
              <a:r>
                <a:rPr lang="en-US" altLang="ja-JP" sz="1600" dirty="0"/>
                <a:t>]</a:t>
              </a:r>
              <a:br>
                <a:rPr lang="ja-JP" altLang="en-US" sz="1600" dirty="0"/>
              </a:br>
              <a:r>
                <a:rPr lang="en-US" altLang="ja-JP" sz="1600" dirty="0"/>
                <a:t>END</a:t>
              </a:r>
            </a:p>
            <a:p>
              <a:r>
                <a:rPr lang="ja-JP" altLang="en-US" sz="2400" dirty="0">
                  <a:latin typeface="Meiryo UI"/>
                  <a:ea typeface="Meiryo UI"/>
                </a:rPr>
                <a:t>　　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E5457CD-524F-47F0-3B88-BAD318736914}"/>
                </a:ext>
              </a:extLst>
            </p:cNvPr>
            <p:cNvCxnSpPr>
              <a:cxnSpLocks/>
            </p:cNvCxnSpPr>
            <p:nvPr/>
          </p:nvCxnSpPr>
          <p:spPr>
            <a:xfrm>
              <a:off x="5301397" y="2449306"/>
              <a:ext cx="3216396" cy="14644"/>
            </a:xfrm>
            <a:prstGeom prst="straightConnector1">
              <a:avLst/>
            </a:prstGeom>
            <a:ln w="57150">
              <a:headEnd type="none"/>
              <a:tailEnd type="non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2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642</Words>
  <Application>Microsoft Office PowerPoint</Application>
  <PresentationFormat>ユーザー設定</PresentationFormat>
  <Paragraphs>112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Meiryo UI</vt:lpstr>
      <vt:lpstr>Arial</vt:lpstr>
      <vt:lpstr>Franklin Gothic Medium</vt:lpstr>
      <vt:lpstr>コントラストにより注目を集めるビジネス用プレゼンテーション (16x9)</vt:lpstr>
      <vt:lpstr>SQLの基礎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CASE式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107</cp:revision>
  <dcterms:created xsi:type="dcterms:W3CDTF">2013-04-05T19:55:11Z</dcterms:created>
  <dcterms:modified xsi:type="dcterms:W3CDTF">2025-08-28T07:08:11Z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