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80" r:id="rId5"/>
    <p:sldId id="317" r:id="rId6"/>
    <p:sldId id="318" r:id="rId7"/>
    <p:sldId id="313" r:id="rId8"/>
    <p:sldId id="314" r:id="rId9"/>
    <p:sldId id="315" r:id="rId10"/>
    <p:sldId id="316" r:id="rId1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howGuides="1">
      <p:cViewPr>
        <p:scale>
          <a:sx n="92" d="100"/>
          <a:sy n="92" d="100"/>
        </p:scale>
        <p:origin x="69" y="351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24CE221E-83ED-4F6C-BA5F-3F9E6FDB6953}" type="datetimeFigureOut">
              <a:rPr kumimoji="1" lang="en-US" altLang="ja-JP"/>
              <a:t>9/2/2025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CA4CBEF8-5CDE-472B-839B-B8BB0C881006}" type="slidenum">
              <a:rPr kumimoji="1" lang="en-US" altLang="ja-JP"/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8T09:39:08.637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0,'1732'0,"-1705"0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8T09:39:26.474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0,'1783'0,"-1757"0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97853E5F-CE67-483C-A264-F17AC70E9CA2}" type="datetimeFigureOut">
              <a:t>2025/9/1</a:t>
            </a:fld>
            <a:endParaRPr kumimoji="1" 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kumimoji="1"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6BB98AFB-CB0D-4DFE-87B9-B4B0D0DE73CD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9200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8428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4597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 latinLnBrk="0">
              <a:defRPr kumimoji="1" lang="ja-JP" sz="5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/>
              <a:t>マスター サブタイトルのスタイルを編集するには、ここをクリック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9/1/2025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9/1/2025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 latinLnBrk="0">
              <a:defRPr kumimoji="1" lang="ja-JP" sz="5400" b="1" cap="none" baseline="0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kumimoji="1" lang="ja-JP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2025/9/1</a:t>
            </a:fld>
            <a:endParaRPr kumimoji="1" lang="ja-JP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2025/9/1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kumimoji="1" lang="ja-JP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2025/9/1</a:t>
            </a:fld>
            <a:endParaRPr kumimoji="1" 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2025/9/1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2025/9/1</a:t>
            </a:fld>
            <a:endParaRPr kumimoji="1" 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2025/9/1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画像とキャプション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画像プレースホルダー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 latinLnBrk="0">
              <a:buNone/>
              <a:defRPr kumimoji="1" lang="ja-JP" sz="2400"/>
            </a:lvl1pPr>
            <a:lvl2pPr marL="457200" indent="0" latinLnBrk="0">
              <a:buNone/>
              <a:defRPr kumimoji="1" lang="ja-JP" sz="2800"/>
            </a:lvl2pPr>
            <a:lvl3pPr marL="914400" indent="0" latinLnBrk="0">
              <a:buNone/>
              <a:defRPr kumimoji="1" lang="ja-JP" sz="2400"/>
            </a:lvl3pPr>
            <a:lvl4pPr marL="1371600" indent="0" latinLnBrk="0">
              <a:buNone/>
              <a:defRPr kumimoji="1" lang="ja-JP" sz="2000"/>
            </a:lvl4pPr>
            <a:lvl5pPr marL="1828800" indent="0" latinLnBrk="0">
              <a:buNone/>
              <a:defRPr kumimoji="1" lang="ja-JP" sz="2000"/>
            </a:lvl5pPr>
            <a:lvl6pPr marL="2286000" indent="0" latinLnBrk="0">
              <a:buNone/>
              <a:defRPr kumimoji="1" lang="ja-JP" sz="2000"/>
            </a:lvl6pPr>
            <a:lvl7pPr marL="2743200" indent="0" latinLnBrk="0">
              <a:buNone/>
              <a:defRPr kumimoji="1" lang="ja-JP" sz="2000"/>
            </a:lvl7pPr>
            <a:lvl8pPr marL="3200400" indent="0" latinLnBrk="0">
              <a:buNone/>
              <a:defRPr kumimoji="1" lang="ja-JP" sz="2000"/>
            </a:lvl8pPr>
            <a:lvl9pPr marL="3657600" indent="0" latinLnBrk="0">
              <a:buNone/>
              <a:defRPr kumimoji="1" lang="ja-JP" sz="2000"/>
            </a:lvl9pPr>
          </a:lstStyle>
          <a:p>
            <a:endParaRPr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/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2025/9/1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2025/9/1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9/1/2025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3600" b="1" kern="120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20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8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6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kumimoji="1"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455612" y="304800"/>
            <a:ext cx="2590799" cy="381001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kumimoji="1" lang="ja-JP" altLang="en-US" sz="2800" b="1" dirty="0">
                <a:latin typeface="Meiryo UI" charset="0"/>
                <a:ea typeface="Meiryo UI" charset="0"/>
              </a:rPr>
              <a:t>サブクエリとは？</a:t>
            </a:r>
            <a:endParaRPr kumimoji="1" lang="en-US" altLang="ja-JP" sz="2800" b="1" dirty="0">
              <a:latin typeface="Meiryo UI" charset="0"/>
              <a:ea typeface="Meiryo UI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4FE7A3C-DB92-CF0F-005C-0EE5670E2D64}"/>
              </a:ext>
            </a:extLst>
          </p:cNvPr>
          <p:cNvSpPr txBox="1"/>
          <p:nvPr/>
        </p:nvSpPr>
        <p:spPr>
          <a:xfrm>
            <a:off x="1217612" y="990600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サブ ・・・ 下位の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628C6B8-5B11-D0DE-378D-520BEFFE27D1}"/>
              </a:ext>
            </a:extLst>
          </p:cNvPr>
          <p:cNvSpPr txBox="1"/>
          <p:nvPr/>
        </p:nvSpPr>
        <p:spPr>
          <a:xfrm>
            <a:off x="1217612" y="1359932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クエリ ・・・問い合わせ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BDE46FC-A0D3-BDBD-8589-84003E8B5874}"/>
              </a:ext>
            </a:extLst>
          </p:cNvPr>
          <p:cNvSpPr txBox="1"/>
          <p:nvPr/>
        </p:nvSpPr>
        <p:spPr>
          <a:xfrm>
            <a:off x="912812" y="1834429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の中にある下位の問い合わせ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E850AFA-00DD-9D7A-672B-79F931411BF6}"/>
              </a:ext>
            </a:extLst>
          </p:cNvPr>
          <p:cNvSpPr txBox="1"/>
          <p:nvPr/>
        </p:nvSpPr>
        <p:spPr>
          <a:xfrm>
            <a:off x="912812" y="2303182"/>
            <a:ext cx="373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kumimoji="1" lang="ja-JP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の中に</a:t>
            </a:r>
            <a:r>
              <a:rPr kumimoji="1" lang="en-US" altLang="ja-JP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kumimoji="1" lang="ja-JP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が書ける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48A08A1-0646-52B4-F396-0B5E15E13420}"/>
              </a:ext>
            </a:extLst>
          </p:cNvPr>
          <p:cNvSpPr txBox="1"/>
          <p:nvPr/>
        </p:nvSpPr>
        <p:spPr>
          <a:xfrm>
            <a:off x="912812" y="2904239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サブクエリにはスカラ・サブクエリ、相関サブクエリなど種類がある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730D7E2-B2B8-7118-9E7A-49798886A37D}"/>
              </a:ext>
            </a:extLst>
          </p:cNvPr>
          <p:cNvSpPr txBox="1"/>
          <p:nvPr/>
        </p:nvSpPr>
        <p:spPr>
          <a:xfrm>
            <a:off x="1141412" y="5313402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使われるのが比較的多いのは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句、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句、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FROM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句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8D9C06D-F33A-68E0-365A-F108A2416C9D}"/>
              </a:ext>
            </a:extLst>
          </p:cNvPr>
          <p:cNvSpPr txBox="1"/>
          <p:nvPr/>
        </p:nvSpPr>
        <p:spPr>
          <a:xfrm>
            <a:off x="912812" y="4509428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サブクエリは特に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文で用いられることが多い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A87D693-4126-4F8D-0B64-E00945135A8F}"/>
              </a:ext>
            </a:extLst>
          </p:cNvPr>
          <p:cNvSpPr txBox="1"/>
          <p:nvPr/>
        </p:nvSpPr>
        <p:spPr>
          <a:xfrm>
            <a:off x="1141412" y="3352389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スカラ・サブクエリ → 単独の値を返すサブクエリ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9D89418-40FE-B0A0-DFAC-14342B2C1EC1}"/>
              </a:ext>
            </a:extLst>
          </p:cNvPr>
          <p:cNvSpPr txBox="1"/>
          <p:nvPr/>
        </p:nvSpPr>
        <p:spPr>
          <a:xfrm>
            <a:off x="1141412" y="3721721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相関サブクエリ → 外部への参照があるサブクエリ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665CCC0-DBBC-87B8-585B-A073974735CE}"/>
              </a:ext>
            </a:extLst>
          </p:cNvPr>
          <p:cNvSpPr txBox="1"/>
          <p:nvPr/>
        </p:nvSpPr>
        <p:spPr>
          <a:xfrm>
            <a:off x="1141412" y="4883729"/>
            <a:ext cx="647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他の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文や、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HAVING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句、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GROUP BY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句でも使用が可能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10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455612" y="304800"/>
            <a:ext cx="2819400" cy="381001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kumimoji="1" lang="ja-JP" altLang="en-US" sz="2800" b="1" dirty="0">
                <a:latin typeface="Meiryo UI" charset="0"/>
                <a:ea typeface="Meiryo UI" charset="0"/>
              </a:rPr>
              <a:t>スカラ・サブクエリ</a:t>
            </a:r>
            <a:endParaRPr kumimoji="1" lang="en-US" altLang="ja-JP" sz="2800" b="1" dirty="0">
              <a:latin typeface="Meiryo UI" charset="0"/>
              <a:ea typeface="Meiryo UI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4FE7A3C-DB92-CF0F-005C-0EE5670E2D64}"/>
              </a:ext>
            </a:extLst>
          </p:cNvPr>
          <p:cNvSpPr txBox="1"/>
          <p:nvPr/>
        </p:nvSpPr>
        <p:spPr>
          <a:xfrm>
            <a:off x="608012" y="977920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単独の値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(1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行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列のデータ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を返す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文を用いたサブクエリ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8102EFD-3105-F720-6107-1C36A46E54F2}"/>
              </a:ext>
            </a:extLst>
          </p:cNvPr>
          <p:cNvSpPr txBox="1"/>
          <p:nvPr/>
        </p:nvSpPr>
        <p:spPr>
          <a:xfrm>
            <a:off x="5484812" y="2044362"/>
            <a:ext cx="4114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rgbClr val="0070C0"/>
                </a:solidFill>
              </a:rPr>
              <a:t>SELECT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CODE,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NAME,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PRICE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FROM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FRUIT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WHERE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PRICE &gt;= (</a:t>
            </a:r>
          </a:p>
          <a:p>
            <a:endParaRPr kumimoji="1" lang="en-US" altLang="ja-JP" sz="1600" dirty="0">
              <a:solidFill>
                <a:srgbClr val="0070C0"/>
              </a:solidFill>
            </a:endParaRP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SELECT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    AVG(PRICE)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FROM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     FRUIT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);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9F0844FE-C9F1-B028-4051-4C6612BC3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547191"/>
              </p:ext>
            </p:extLst>
          </p:nvPr>
        </p:nvGraphicFramePr>
        <p:xfrm>
          <a:off x="760412" y="2337098"/>
          <a:ext cx="3962400" cy="1938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5780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PRICE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メロン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ぶどう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マンゴー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7000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いちご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</a:tbl>
          </a:graphicData>
        </a:graphic>
      </p:graphicFrame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EB89361-E1C4-5CE8-BBBC-218A0908D89E}"/>
              </a:ext>
            </a:extLst>
          </p:cNvPr>
          <p:cNvSpPr txBox="1"/>
          <p:nvPr/>
        </p:nvSpPr>
        <p:spPr>
          <a:xfrm>
            <a:off x="608012" y="1424995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結果が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つなので、比較演算子を用いて比較が可能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4791A59-4343-84E3-7011-872D0D07C300}"/>
              </a:ext>
            </a:extLst>
          </p:cNvPr>
          <p:cNvSpPr txBox="1"/>
          <p:nvPr/>
        </p:nvSpPr>
        <p:spPr>
          <a:xfrm>
            <a:off x="667611" y="1911824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</a:t>
            </a:r>
            <a:r>
              <a:rPr kumimoji="1" lang="en-US" altLang="ja-JP" sz="1400" dirty="0"/>
              <a:t>FRUIT</a:t>
            </a:r>
            <a:r>
              <a:rPr kumimoji="1" lang="ja-JP" altLang="en-US" sz="1400" dirty="0"/>
              <a:t>テーブル</a:t>
            </a:r>
          </a:p>
        </p:txBody>
      </p:sp>
      <p:sp>
        <p:nvSpPr>
          <p:cNvPr id="13" name="右中かっこ 12">
            <a:extLst>
              <a:ext uri="{FF2B5EF4-FFF2-40B4-BE49-F238E27FC236}">
                <a16:creationId xmlns:a16="http://schemas.microsoft.com/office/drawing/2014/main" id="{24799804-A3DE-6611-9A4B-E167C19D03F0}"/>
              </a:ext>
            </a:extLst>
          </p:cNvPr>
          <p:cNvSpPr/>
          <p:nvPr/>
        </p:nvSpPr>
        <p:spPr>
          <a:xfrm>
            <a:off x="7389812" y="4275336"/>
            <a:ext cx="457200" cy="990600"/>
          </a:xfrm>
          <a:prstGeom prst="rightBrac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6516909-EA8B-9D53-4B17-1FBAC190747A}"/>
              </a:ext>
            </a:extLst>
          </p:cNvPr>
          <p:cNvSpPr txBox="1"/>
          <p:nvPr/>
        </p:nvSpPr>
        <p:spPr>
          <a:xfrm>
            <a:off x="8041480" y="4382869"/>
            <a:ext cx="3539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スカラ・サブクエリ</a:t>
            </a:r>
            <a:endParaRPr kumimoji="1"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平均金額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(6500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円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を返している</a:t>
            </a:r>
          </a:p>
        </p:txBody>
      </p:sp>
      <p:graphicFrame>
        <p:nvGraphicFramePr>
          <p:cNvPr id="20" name="表 19">
            <a:extLst>
              <a:ext uri="{FF2B5EF4-FFF2-40B4-BE49-F238E27FC236}">
                <a16:creationId xmlns:a16="http://schemas.microsoft.com/office/drawing/2014/main" id="{1402BCE9-1468-5902-0361-D6A5C94DB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21063"/>
              </p:ext>
            </p:extLst>
          </p:nvPr>
        </p:nvGraphicFramePr>
        <p:xfrm>
          <a:off x="760412" y="5433005"/>
          <a:ext cx="3962400" cy="1258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5780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PRICE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マンゴー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7000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いちご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</a:tbl>
          </a:graphicData>
        </a:graphic>
      </p:graphicFrame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AB11673-4D84-E4A1-F1DF-43DC88591208}"/>
              </a:ext>
            </a:extLst>
          </p:cNvPr>
          <p:cNvSpPr txBox="1"/>
          <p:nvPr/>
        </p:nvSpPr>
        <p:spPr>
          <a:xfrm>
            <a:off x="667611" y="5029200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■取得結果</a:t>
            </a:r>
          </a:p>
        </p:txBody>
      </p:sp>
    </p:spTree>
    <p:extLst>
      <p:ext uri="{BB962C8B-B14F-4D97-AF65-F5344CB8AC3E}">
        <p14:creationId xmlns:p14="http://schemas.microsoft.com/office/powerpoint/2010/main" val="27652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455612" y="304800"/>
            <a:ext cx="2819400" cy="381001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kumimoji="1" lang="ja-JP" altLang="en-US" sz="2800" b="1" dirty="0">
                <a:latin typeface="Meiryo UI" charset="0"/>
                <a:ea typeface="Meiryo UI" charset="0"/>
              </a:rPr>
              <a:t>相関サブクエリ</a:t>
            </a:r>
            <a:endParaRPr kumimoji="1" lang="en-US" altLang="ja-JP" sz="2800" b="1" dirty="0">
              <a:latin typeface="Meiryo UI" charset="0"/>
              <a:ea typeface="Meiryo UI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4FE7A3C-DB92-CF0F-005C-0EE5670E2D64}"/>
              </a:ext>
            </a:extLst>
          </p:cNvPr>
          <p:cNvSpPr txBox="1"/>
          <p:nvPr/>
        </p:nvSpPr>
        <p:spPr>
          <a:xfrm>
            <a:off x="608012" y="97792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0" i="0" dirty="0">
                <a:effectLst/>
                <a:latin typeface="YakuHanJPs"/>
              </a:rPr>
              <a:t>外側のクエリの値をサブクエリ内で使用する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文を用いたサブクエリ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9F0844FE-C9F1-B028-4051-4C6612BC3346}"/>
              </a:ext>
            </a:extLst>
          </p:cNvPr>
          <p:cNvGraphicFramePr>
            <a:graphicFrameLocks noGrp="1"/>
          </p:cNvGraphicFramePr>
          <p:nvPr/>
        </p:nvGraphicFramePr>
        <p:xfrm>
          <a:off x="760412" y="2337098"/>
          <a:ext cx="3962400" cy="1938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5780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PRICE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メロン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ぶどう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マンゴー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7000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いちご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</a:tbl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4791A59-4343-84E3-7011-872D0D07C300}"/>
              </a:ext>
            </a:extLst>
          </p:cNvPr>
          <p:cNvSpPr txBox="1"/>
          <p:nvPr/>
        </p:nvSpPr>
        <p:spPr>
          <a:xfrm>
            <a:off x="667611" y="1911824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</a:t>
            </a:r>
            <a:r>
              <a:rPr kumimoji="1" lang="en-US" altLang="ja-JP" sz="1400" dirty="0"/>
              <a:t>FRUIT</a:t>
            </a:r>
            <a:r>
              <a:rPr kumimoji="1" lang="ja-JP" altLang="en-US" sz="1400" dirty="0"/>
              <a:t>テーブル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FCE383A7-1383-9F8A-9428-AB2ACBDDF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767004"/>
              </p:ext>
            </p:extLst>
          </p:nvPr>
        </p:nvGraphicFramePr>
        <p:xfrm>
          <a:off x="760412" y="4816375"/>
          <a:ext cx="3962399" cy="1938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171713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976243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  <a:gridCol w="976243">
                  <a:extLst>
                    <a:ext uri="{9D8B030D-6E8A-4147-A177-3AD203B41FA5}">
                      <a16:colId xmlns:a16="http://schemas.microsoft.com/office/drawing/2014/main" val="1723123448"/>
                    </a:ext>
                  </a:extLst>
                </a:gridCol>
              </a:tblGrid>
              <a:tr h="5780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SHOP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SALES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六本木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A001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青山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A002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六本木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渋谷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9CEE4A0-71C2-CE11-90BF-18B8B62B444C}"/>
              </a:ext>
            </a:extLst>
          </p:cNvPr>
          <p:cNvSpPr txBox="1"/>
          <p:nvPr/>
        </p:nvSpPr>
        <p:spPr>
          <a:xfrm>
            <a:off x="667611" y="4391101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</a:t>
            </a:r>
            <a:r>
              <a:rPr kumimoji="1" lang="en-US" altLang="ja-JP" sz="1400" dirty="0"/>
              <a:t>ORDER</a:t>
            </a:r>
            <a:r>
              <a:rPr kumimoji="1" lang="ja-JP" altLang="en-US" sz="1400" dirty="0"/>
              <a:t>テーブル</a:t>
            </a:r>
          </a:p>
        </p:txBody>
      </p: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F4CAD4F9-2EFE-9BC0-5AA0-811B51B3D425}"/>
              </a:ext>
            </a:extLst>
          </p:cNvPr>
          <p:cNvGrpSpPr/>
          <p:nvPr/>
        </p:nvGrpSpPr>
        <p:grpSpPr>
          <a:xfrm>
            <a:off x="6551612" y="1508880"/>
            <a:ext cx="4114800" cy="3539430"/>
            <a:chOff x="5561012" y="2438400"/>
            <a:chExt cx="4114800" cy="3539430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E8102EFD-3105-F720-6107-1C36A46E54F2}"/>
                </a:ext>
              </a:extLst>
            </p:cNvPr>
            <p:cNvSpPr txBox="1"/>
            <p:nvPr/>
          </p:nvSpPr>
          <p:spPr>
            <a:xfrm>
              <a:off x="5561012" y="2438400"/>
              <a:ext cx="4114800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SELECT </a:t>
              </a: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    CODE, SHOP, SALES</a:t>
              </a: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FROM</a:t>
              </a: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     ORDER</a:t>
              </a: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WHERE (</a:t>
              </a:r>
            </a:p>
            <a:p>
              <a:endParaRPr kumimoji="1" lang="en-US" altLang="ja-JP" sz="1600" dirty="0">
                <a:solidFill>
                  <a:srgbClr val="0070C0"/>
                </a:solidFill>
              </a:endParaRP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    SELECT </a:t>
              </a:r>
              <a:r>
                <a:rPr kumimoji="1" lang="ja-JP" altLang="en-US" sz="1600" dirty="0">
                  <a:solidFill>
                    <a:srgbClr val="0070C0"/>
                  </a:solidFill>
                </a:rPr>
                <a:t> </a:t>
              </a:r>
              <a:endParaRPr kumimoji="1" lang="en-US" altLang="ja-JP" sz="1600" dirty="0">
                <a:solidFill>
                  <a:srgbClr val="0070C0"/>
                </a:solidFill>
              </a:endParaRP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        NAME</a:t>
              </a: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    FROM</a:t>
              </a: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        FRUIT</a:t>
              </a: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    WHERE</a:t>
              </a: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        ORDER.CODE = FRUIT.CODE</a:t>
              </a:r>
            </a:p>
            <a:p>
              <a:endParaRPr kumimoji="1" lang="en-US" altLang="ja-JP" sz="1600" dirty="0">
                <a:solidFill>
                  <a:srgbClr val="0070C0"/>
                </a:solidFill>
              </a:endParaRPr>
            </a:p>
            <a:p>
              <a:r>
                <a:rPr kumimoji="1" lang="en-US" altLang="ja-JP" sz="1600" dirty="0">
                  <a:solidFill>
                    <a:srgbClr val="0070C0"/>
                  </a:solidFill>
                </a:rPr>
                <a:t>) = ‘</a:t>
              </a:r>
              <a:r>
                <a:rPr kumimoji="1" lang="ja-JP" altLang="en-US" sz="1600" dirty="0">
                  <a:solidFill>
                    <a:srgbClr val="0070C0"/>
                  </a:solidFill>
                </a:rPr>
                <a:t>メロン</a:t>
              </a:r>
              <a:r>
                <a:rPr kumimoji="1" lang="en-US" altLang="ja-JP" sz="1600" dirty="0">
                  <a:solidFill>
                    <a:srgbClr val="0070C0"/>
                  </a:solidFill>
                </a:rPr>
                <a:t>’;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7" name="インク 26">
                  <a:extLst>
                    <a:ext uri="{FF2B5EF4-FFF2-40B4-BE49-F238E27FC236}">
                      <a16:creationId xmlns:a16="http://schemas.microsoft.com/office/drawing/2014/main" id="{9167657B-F145-4D55-CF88-0C97303CC34D}"/>
                    </a:ext>
                  </a:extLst>
                </p14:cNvPr>
                <p14:cNvContentPartPr/>
                <p14:nvPr/>
              </p14:nvContentPartPr>
              <p14:xfrm>
                <a:off x="6070412" y="5162800"/>
                <a:ext cx="633600" cy="327"/>
              </p14:xfrm>
            </p:contentPart>
          </mc:Choice>
          <mc:Fallback xmlns="">
            <p:pic>
              <p:nvPicPr>
                <p:cNvPr id="27" name="インク 26">
                  <a:extLst>
                    <a:ext uri="{FF2B5EF4-FFF2-40B4-BE49-F238E27FC236}">
                      <a16:creationId xmlns:a16="http://schemas.microsoft.com/office/drawing/2014/main" id="{9167657B-F145-4D55-CF88-0C97303CC34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052412" y="5130100"/>
                  <a:ext cx="669240" cy="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9" name="インク 28">
                  <a:extLst>
                    <a:ext uri="{FF2B5EF4-FFF2-40B4-BE49-F238E27FC236}">
                      <a16:creationId xmlns:a16="http://schemas.microsoft.com/office/drawing/2014/main" id="{DC4AEBF8-EB4E-35C7-E0C8-4455267BCC66}"/>
                    </a:ext>
                  </a:extLst>
                </p14:cNvPr>
                <p14:cNvContentPartPr/>
                <p14:nvPr/>
              </p14:nvContentPartPr>
              <p14:xfrm>
                <a:off x="5907419" y="3465525"/>
                <a:ext cx="651600" cy="360"/>
              </p14:xfrm>
            </p:contentPart>
          </mc:Choice>
          <mc:Fallback xmlns="">
            <p:pic>
              <p:nvPicPr>
                <p:cNvPr id="29" name="インク 28">
                  <a:extLst>
                    <a:ext uri="{FF2B5EF4-FFF2-40B4-BE49-F238E27FC236}">
                      <a16:creationId xmlns:a16="http://schemas.microsoft.com/office/drawing/2014/main" id="{DC4AEBF8-EB4E-35C7-E0C8-4455267BCC6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89779" y="3429525"/>
                  <a:ext cx="687240" cy="7200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31" name="表 30">
            <a:extLst>
              <a:ext uri="{FF2B5EF4-FFF2-40B4-BE49-F238E27FC236}">
                <a16:creationId xmlns:a16="http://schemas.microsoft.com/office/drawing/2014/main" id="{9980A39D-D9FC-4BA1-7FD6-5BA495AB8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723151"/>
              </p:ext>
            </p:extLst>
          </p:nvPr>
        </p:nvGraphicFramePr>
        <p:xfrm>
          <a:off x="6399212" y="5496459"/>
          <a:ext cx="3124199" cy="1258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1713">
                  <a:extLst>
                    <a:ext uri="{9D8B030D-6E8A-4147-A177-3AD203B41FA5}">
                      <a16:colId xmlns:a16="http://schemas.microsoft.com/office/drawing/2014/main" val="2280419003"/>
                    </a:ext>
                  </a:extLst>
                </a:gridCol>
                <a:gridCol w="976243">
                  <a:extLst>
                    <a:ext uri="{9D8B030D-6E8A-4147-A177-3AD203B41FA5}">
                      <a16:colId xmlns:a16="http://schemas.microsoft.com/office/drawing/2014/main" val="937383048"/>
                    </a:ext>
                  </a:extLst>
                </a:gridCol>
                <a:gridCol w="976243">
                  <a:extLst>
                    <a:ext uri="{9D8B030D-6E8A-4147-A177-3AD203B41FA5}">
                      <a16:colId xmlns:a16="http://schemas.microsoft.com/office/drawing/2014/main" val="1139388059"/>
                    </a:ext>
                  </a:extLst>
                </a:gridCol>
              </a:tblGrid>
              <a:tr h="57807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SHOP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SALES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077297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六本木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734999"/>
                  </a:ext>
                </a:extLst>
              </a:tr>
              <a:tr h="340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A001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青山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442153"/>
                  </a:ext>
                </a:extLst>
              </a:tr>
            </a:tbl>
          </a:graphicData>
        </a:graphic>
      </p:graphicFrame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63594135-F6F3-DC0D-7A8C-BBFF4A9DD727}"/>
              </a:ext>
            </a:extLst>
          </p:cNvPr>
          <p:cNvSpPr txBox="1"/>
          <p:nvPr/>
        </p:nvSpPr>
        <p:spPr>
          <a:xfrm>
            <a:off x="5561012" y="5027054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■取得結果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13169D54-78EC-4294-FBB1-6B5587879206}"/>
              </a:ext>
            </a:extLst>
          </p:cNvPr>
          <p:cNvSpPr txBox="1"/>
          <p:nvPr/>
        </p:nvSpPr>
        <p:spPr>
          <a:xfrm>
            <a:off x="608012" y="1424995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サブクエリの中で、外部のテーブルを参照している</a:t>
            </a:r>
          </a:p>
        </p:txBody>
      </p:sp>
      <p:sp>
        <p:nvSpPr>
          <p:cNvPr id="4" name="右中かっこ 3">
            <a:extLst>
              <a:ext uri="{FF2B5EF4-FFF2-40B4-BE49-F238E27FC236}">
                <a16:creationId xmlns:a16="http://schemas.microsoft.com/office/drawing/2014/main" id="{22F5561D-98A7-2816-0882-EB64C58F388D}"/>
              </a:ext>
            </a:extLst>
          </p:cNvPr>
          <p:cNvSpPr/>
          <p:nvPr/>
        </p:nvSpPr>
        <p:spPr>
          <a:xfrm>
            <a:off x="9523411" y="2971800"/>
            <a:ext cx="457200" cy="1600200"/>
          </a:xfrm>
          <a:prstGeom prst="rightBrac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7B61BCA-6179-7C4A-7395-EBB904035FC7}"/>
              </a:ext>
            </a:extLst>
          </p:cNvPr>
          <p:cNvSpPr txBox="1"/>
          <p:nvPr/>
        </p:nvSpPr>
        <p:spPr>
          <a:xfrm>
            <a:off x="9985949" y="3587234"/>
            <a:ext cx="1939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相関サブクエリ</a:t>
            </a:r>
            <a:endParaRPr kumimoji="1"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71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C9CE51-99C9-46CA-A9A7-3375F8677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72535"/>
            <a:ext cx="2209800" cy="457200"/>
          </a:xfrm>
        </p:spPr>
        <p:txBody>
          <a:bodyPr>
            <a:normAutofit/>
          </a:bodyPr>
          <a:lstStyle/>
          <a:p>
            <a:r>
              <a:rPr lang="en-US" altLang="ja-JP" sz="2800" dirty="0">
                <a:solidFill>
                  <a:schemeClr val="tx1"/>
                </a:solidFill>
              </a:rPr>
              <a:t>SELECT</a:t>
            </a:r>
            <a:r>
              <a:rPr lang="ja-JP" altLang="en-US" sz="2800" dirty="0">
                <a:solidFill>
                  <a:schemeClr val="tx1"/>
                </a:solidFill>
              </a:rPr>
              <a:t>句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3F2945C-A8B6-4AA9-9D99-FEFF6500F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374442"/>
              </p:ext>
            </p:extLst>
          </p:nvPr>
        </p:nvGraphicFramePr>
        <p:xfrm>
          <a:off x="227012" y="1109760"/>
          <a:ext cx="5251768" cy="2368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  <a:gridCol w="1289368">
                  <a:extLst>
                    <a:ext uri="{9D8B030D-6E8A-4147-A177-3AD203B41FA5}">
                      <a16:colId xmlns:a16="http://schemas.microsoft.com/office/drawing/2014/main" val="2012771387"/>
                    </a:ext>
                  </a:extLst>
                </a:gridCol>
              </a:tblGrid>
              <a:tr h="52289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SALARY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田中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鈴木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280000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斎藤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高橋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渡邊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伊藤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578424"/>
                  </a:ext>
                </a:extLst>
              </a:tr>
            </a:tbl>
          </a:graphicData>
        </a:graphic>
      </p:graphicFrame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FAA3476-5829-4AA9-B365-0090446BDBC2}"/>
              </a:ext>
            </a:extLst>
          </p:cNvPr>
          <p:cNvSpPr txBox="1"/>
          <p:nvPr/>
        </p:nvSpPr>
        <p:spPr>
          <a:xfrm>
            <a:off x="145760" y="743676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■社員テーブル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3E26601-29C5-41A9-8F20-FEEFDB39D87B}"/>
              </a:ext>
            </a:extLst>
          </p:cNvPr>
          <p:cNvSpPr txBox="1"/>
          <p:nvPr/>
        </p:nvSpPr>
        <p:spPr>
          <a:xfrm>
            <a:off x="7008812" y="520417"/>
            <a:ext cx="3276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rgbClr val="0070C0"/>
                </a:solidFill>
              </a:rPr>
              <a:t>SELECT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NAME,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DEPARTMENT,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SALARY,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(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SELECT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    AVG(SALARY)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FROM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    EMPLOYEES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) AS AVG_SALARY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FROM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EMPLOYEES;</a:t>
            </a:r>
            <a:endParaRPr kumimoji="1" lang="ja-JP" altLang="en-US" sz="1600" dirty="0">
              <a:solidFill>
                <a:srgbClr val="0070C0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E1C58F-75CC-7CBA-5EA9-C11A132D19B9}"/>
              </a:ext>
            </a:extLst>
          </p:cNvPr>
          <p:cNvSpPr txBox="1"/>
          <p:nvPr/>
        </p:nvSpPr>
        <p:spPr>
          <a:xfrm>
            <a:off x="145760" y="3703637"/>
            <a:ext cx="464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</a:t>
            </a:r>
            <a:r>
              <a:rPr lang="ja-JP" altLang="en-US" sz="1400" dirty="0"/>
              <a:t>各社員の給与と全体の平均給与を並べて表示</a:t>
            </a:r>
            <a:endParaRPr kumimoji="1" lang="ja-JP" altLang="en-US" sz="1400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26711CA8-FBB3-9718-9D3E-CD0A79139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181591"/>
              </p:ext>
            </p:extLst>
          </p:nvPr>
        </p:nvGraphicFramePr>
        <p:xfrm>
          <a:off x="227012" y="4233424"/>
          <a:ext cx="5334000" cy="2368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1277138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919332576"/>
                    </a:ext>
                  </a:extLst>
                </a:gridCol>
              </a:tblGrid>
              <a:tr h="522893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SALARY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AVG_SALARY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田中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336666.67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鈴木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280000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336666.67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斎藤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336666.67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高橋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336666.67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渡邊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336666.67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伊藤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336666.67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578424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5C12343-45D7-840B-A0CC-0E86E4D4B63D}"/>
              </a:ext>
            </a:extLst>
          </p:cNvPr>
          <p:cNvSpPr txBox="1"/>
          <p:nvPr/>
        </p:nvSpPr>
        <p:spPr>
          <a:xfrm>
            <a:off x="6704012" y="4991392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※SELECT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句でサブクエリを使う注意点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3C65763-E723-C000-1021-8F3F4D7D5AD3}"/>
              </a:ext>
            </a:extLst>
          </p:cNvPr>
          <p:cNvSpPr txBox="1"/>
          <p:nvPr/>
        </p:nvSpPr>
        <p:spPr>
          <a:xfrm>
            <a:off x="7123256" y="5391296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別名をつける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8F24260-AFA3-A826-71D3-F67B40C8A3C5}"/>
              </a:ext>
            </a:extLst>
          </p:cNvPr>
          <p:cNvSpPr txBox="1"/>
          <p:nvPr/>
        </p:nvSpPr>
        <p:spPr>
          <a:xfrm>
            <a:off x="7123256" y="5791200"/>
            <a:ext cx="3390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行に対して</a:t>
            </a:r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回サブクエリを発行</a:t>
            </a:r>
            <a:endParaRPr kumimoji="1" lang="en-US" altLang="ja-JP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処理に高付加がかかることがある</a:t>
            </a:r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CCB536D-94A5-E800-4B29-9948A247858D}"/>
              </a:ext>
            </a:extLst>
          </p:cNvPr>
          <p:cNvSpPr txBox="1"/>
          <p:nvPr/>
        </p:nvSpPr>
        <p:spPr>
          <a:xfrm>
            <a:off x="6704012" y="3830314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※SELECT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句でのサブクエリの使いどころ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F3A6179-0E12-8614-A41C-2D1219021A8F}"/>
              </a:ext>
            </a:extLst>
          </p:cNvPr>
          <p:cNvSpPr txBox="1"/>
          <p:nvPr/>
        </p:nvSpPr>
        <p:spPr>
          <a:xfrm>
            <a:off x="7123256" y="4343400"/>
            <a:ext cx="3771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最終的に表示する値を抽出したい場合</a:t>
            </a:r>
          </a:p>
        </p:txBody>
      </p:sp>
    </p:spTree>
    <p:extLst>
      <p:ext uri="{BB962C8B-B14F-4D97-AF65-F5344CB8AC3E}">
        <p14:creationId xmlns:p14="http://schemas.microsoft.com/office/powerpoint/2010/main" val="290713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C9CE51-99C9-46CA-A9A7-3375F8677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72535"/>
            <a:ext cx="2209800" cy="457200"/>
          </a:xfrm>
        </p:spPr>
        <p:txBody>
          <a:bodyPr>
            <a:normAutofit/>
          </a:bodyPr>
          <a:lstStyle/>
          <a:p>
            <a:r>
              <a:rPr lang="en-US" altLang="ja-JP" sz="2800" dirty="0">
                <a:solidFill>
                  <a:schemeClr val="tx1"/>
                </a:solidFill>
              </a:rPr>
              <a:t>FROM</a:t>
            </a:r>
            <a:r>
              <a:rPr lang="ja-JP" altLang="en-US" sz="2800" dirty="0">
                <a:solidFill>
                  <a:schemeClr val="tx1"/>
                </a:solidFill>
              </a:rPr>
              <a:t>句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3F2945C-A8B6-4AA9-9D99-FEFF6500FE78}"/>
              </a:ext>
            </a:extLst>
          </p:cNvPr>
          <p:cNvGraphicFramePr>
            <a:graphicFrameLocks noGrp="1"/>
          </p:cNvGraphicFramePr>
          <p:nvPr/>
        </p:nvGraphicFramePr>
        <p:xfrm>
          <a:off x="227012" y="1109760"/>
          <a:ext cx="5251768" cy="2368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  <a:gridCol w="1289368">
                  <a:extLst>
                    <a:ext uri="{9D8B030D-6E8A-4147-A177-3AD203B41FA5}">
                      <a16:colId xmlns:a16="http://schemas.microsoft.com/office/drawing/2014/main" val="2012771387"/>
                    </a:ext>
                  </a:extLst>
                </a:gridCol>
              </a:tblGrid>
              <a:tr h="52289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SALARY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田中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鈴木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280000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斎藤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高橋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渡邊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伊藤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578424"/>
                  </a:ext>
                </a:extLst>
              </a:tr>
            </a:tbl>
          </a:graphicData>
        </a:graphic>
      </p:graphicFrame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FAA3476-5829-4AA9-B365-0090446BDBC2}"/>
              </a:ext>
            </a:extLst>
          </p:cNvPr>
          <p:cNvSpPr txBox="1"/>
          <p:nvPr/>
        </p:nvSpPr>
        <p:spPr>
          <a:xfrm>
            <a:off x="145760" y="743676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■社員テーブル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E1C58F-75CC-7CBA-5EA9-C11A132D19B9}"/>
              </a:ext>
            </a:extLst>
          </p:cNvPr>
          <p:cNvSpPr txBox="1"/>
          <p:nvPr/>
        </p:nvSpPr>
        <p:spPr>
          <a:xfrm>
            <a:off x="145760" y="3886200"/>
            <a:ext cx="5491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■社員の情報をもとに、給与の平均が</a:t>
            </a:r>
            <a:r>
              <a:rPr kumimoji="1" lang="en-US" altLang="ja-JP" sz="1400" dirty="0"/>
              <a:t>30</a:t>
            </a:r>
            <a:r>
              <a:rPr kumimoji="1" lang="ja-JP" altLang="en-US" sz="1400" dirty="0"/>
              <a:t>万円を超えている部署とその金額を知りたい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26711CA8-FBB3-9718-9D3E-CD0A79139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399080"/>
              </p:ext>
            </p:extLst>
          </p:nvPr>
        </p:nvGraphicFramePr>
        <p:xfrm>
          <a:off x="227012" y="4648200"/>
          <a:ext cx="3657600" cy="1138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123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969477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</a:tblGrid>
              <a:tr h="5228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AVG_SALARY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310000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410000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9CB03C1-79C7-BF12-3E81-E1373A31B656}"/>
              </a:ext>
            </a:extLst>
          </p:cNvPr>
          <p:cNvSpPr txBox="1"/>
          <p:nvPr/>
        </p:nvSpPr>
        <p:spPr>
          <a:xfrm>
            <a:off x="7008812" y="401135"/>
            <a:ext cx="4114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rgbClr val="0070C0"/>
                </a:solidFill>
              </a:rPr>
              <a:t>SELECT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DEPT.DEPARTMENT,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DEPT.AVG_SALARY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FROM (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SELECT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DEPARTMENT,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AVG(SALARY) AS AVG_SALARY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FROM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EMPLOYEES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GROUP BY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DEPARTMENT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) AS DEPT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WHERE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DEPT.AVG_SALARY &gt;= 300000;</a:t>
            </a:r>
            <a:endParaRPr kumimoji="1" lang="ja-JP" altLang="en-US" sz="1600" dirty="0">
              <a:solidFill>
                <a:srgbClr val="0070C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17A4CD4-5774-D7CC-9D69-4975AE17B764}"/>
              </a:ext>
            </a:extLst>
          </p:cNvPr>
          <p:cNvSpPr txBox="1"/>
          <p:nvPr/>
        </p:nvSpPr>
        <p:spPr>
          <a:xfrm>
            <a:off x="6704012" y="4135114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※FROM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句でのサブクエリの使いどころ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EB17511-1645-BD02-B64B-D50910761907}"/>
              </a:ext>
            </a:extLst>
          </p:cNvPr>
          <p:cNvSpPr txBox="1"/>
          <p:nvPr/>
        </p:nvSpPr>
        <p:spPr>
          <a:xfrm>
            <a:off x="7123256" y="4648200"/>
            <a:ext cx="3771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一時的なテーブルを作成して</a:t>
            </a:r>
            <a:endParaRPr kumimoji="1" lang="en-US" altLang="ja-JP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集計・加工した後に処理したい場合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C475B27-EC96-C76F-678C-48B7111149F1}"/>
              </a:ext>
            </a:extLst>
          </p:cNvPr>
          <p:cNvSpPr txBox="1"/>
          <p:nvPr/>
        </p:nvSpPr>
        <p:spPr>
          <a:xfrm>
            <a:off x="6704012" y="5467496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※FROM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句でサブクエリを使う注意点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21BAA74-B4E1-C650-906A-DBA07FF27AD5}"/>
              </a:ext>
            </a:extLst>
          </p:cNvPr>
          <p:cNvSpPr txBox="1"/>
          <p:nvPr/>
        </p:nvSpPr>
        <p:spPr>
          <a:xfrm>
            <a:off x="7123256" y="5867400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別名をつける</a:t>
            </a:r>
          </a:p>
        </p:txBody>
      </p:sp>
    </p:spTree>
    <p:extLst>
      <p:ext uri="{BB962C8B-B14F-4D97-AF65-F5344CB8AC3E}">
        <p14:creationId xmlns:p14="http://schemas.microsoft.com/office/powerpoint/2010/main" val="70409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C9CE51-99C9-46CA-A9A7-3375F8677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72535"/>
            <a:ext cx="3048000" cy="457200"/>
          </a:xfrm>
        </p:spPr>
        <p:txBody>
          <a:bodyPr>
            <a:normAutofit/>
          </a:bodyPr>
          <a:lstStyle/>
          <a:p>
            <a:r>
              <a:rPr lang="en-US" altLang="ja-JP" sz="2800" dirty="0">
                <a:solidFill>
                  <a:schemeClr val="tx1"/>
                </a:solidFill>
              </a:rPr>
              <a:t>WHERE</a:t>
            </a:r>
            <a:r>
              <a:rPr lang="ja-JP" altLang="en-US" sz="2800" dirty="0">
                <a:solidFill>
                  <a:schemeClr val="tx1"/>
                </a:solidFill>
              </a:rPr>
              <a:t>句 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3F2945C-A8B6-4AA9-9D99-FEFF6500FE78}"/>
              </a:ext>
            </a:extLst>
          </p:cNvPr>
          <p:cNvGraphicFramePr>
            <a:graphicFrameLocks noGrp="1"/>
          </p:cNvGraphicFramePr>
          <p:nvPr/>
        </p:nvGraphicFramePr>
        <p:xfrm>
          <a:off x="227012" y="1109760"/>
          <a:ext cx="5251768" cy="2368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  <a:gridCol w="1289368">
                  <a:extLst>
                    <a:ext uri="{9D8B030D-6E8A-4147-A177-3AD203B41FA5}">
                      <a16:colId xmlns:a16="http://schemas.microsoft.com/office/drawing/2014/main" val="2012771387"/>
                    </a:ext>
                  </a:extLst>
                </a:gridCol>
              </a:tblGrid>
              <a:tr h="52289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SALARY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田中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鈴木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280000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斎藤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高橋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渡邊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伊藤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578424"/>
                  </a:ext>
                </a:extLst>
              </a:tr>
            </a:tbl>
          </a:graphicData>
        </a:graphic>
      </p:graphicFrame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FAA3476-5829-4AA9-B365-0090446BDBC2}"/>
              </a:ext>
            </a:extLst>
          </p:cNvPr>
          <p:cNvSpPr txBox="1"/>
          <p:nvPr/>
        </p:nvSpPr>
        <p:spPr>
          <a:xfrm>
            <a:off x="145760" y="743676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■社員テーブル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E1C58F-75CC-7CBA-5EA9-C11A132D19B9}"/>
              </a:ext>
            </a:extLst>
          </p:cNvPr>
          <p:cNvSpPr txBox="1"/>
          <p:nvPr/>
        </p:nvSpPr>
        <p:spPr>
          <a:xfrm>
            <a:off x="145760" y="3703637"/>
            <a:ext cx="5251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■平均給与が</a:t>
            </a:r>
            <a:r>
              <a:rPr kumimoji="1" lang="en-US" altLang="ja-JP" sz="1400" dirty="0"/>
              <a:t>30</a:t>
            </a:r>
            <a:r>
              <a:rPr kumimoji="1" lang="ja-JP" altLang="en-US" sz="1400" dirty="0"/>
              <a:t>万より高い部署に所属している</a:t>
            </a:r>
            <a:r>
              <a:rPr lang="ja-JP" altLang="en-US" sz="1400" dirty="0"/>
              <a:t>社員を取得</a:t>
            </a:r>
            <a:endParaRPr kumimoji="1" lang="ja-JP" altLang="en-US" sz="1400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26711CA8-FBB3-9718-9D3E-CD0A79139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078431"/>
              </p:ext>
            </p:extLst>
          </p:nvPr>
        </p:nvGraphicFramePr>
        <p:xfrm>
          <a:off x="227012" y="4233424"/>
          <a:ext cx="4572000" cy="1753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727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766455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  <a:gridCol w="1350818">
                  <a:extLst>
                    <a:ext uri="{9D8B030D-6E8A-4147-A177-3AD203B41FA5}">
                      <a16:colId xmlns:a16="http://schemas.microsoft.com/office/drawing/2014/main" val="2012771387"/>
                    </a:ext>
                  </a:extLst>
                </a:gridCol>
              </a:tblGrid>
              <a:tr h="522893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SALARY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田中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斎藤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渡邊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伊藤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578424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7137D2B-2005-A8E3-CD64-8C98B5903520}"/>
              </a:ext>
            </a:extLst>
          </p:cNvPr>
          <p:cNvSpPr txBox="1"/>
          <p:nvPr/>
        </p:nvSpPr>
        <p:spPr>
          <a:xfrm>
            <a:off x="7008812" y="401135"/>
            <a:ext cx="4114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rgbClr val="0070C0"/>
                </a:solidFill>
              </a:rPr>
              <a:t>SELECT </a:t>
            </a:r>
          </a:p>
          <a:p>
            <a:r>
              <a:rPr kumimoji="1" lang="ja-JP" altLang="en-US" sz="1600" dirty="0">
                <a:solidFill>
                  <a:srgbClr val="0070C0"/>
                </a:solidFill>
              </a:rPr>
              <a:t>    </a:t>
            </a:r>
            <a:r>
              <a:rPr kumimoji="1" lang="en-US" altLang="ja-JP" sz="1600" dirty="0">
                <a:solidFill>
                  <a:srgbClr val="0070C0"/>
                </a:solidFill>
              </a:rPr>
              <a:t>NAME,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DEPARTMENT,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SALARY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FROM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EMPLOYEES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WHERE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DEPARTMENT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IN (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SELECT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DEPARTMENT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FROM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EMPLOYEES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GROUP BY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DEPARTMENT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HAVING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AVG(SALARY) &gt; 300000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);</a:t>
            </a:r>
            <a:endParaRPr kumimoji="1" lang="ja-JP" altLang="en-US" sz="1600" dirty="0">
              <a:solidFill>
                <a:srgbClr val="0070C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5578838-CCEA-93F6-88C4-7623FF3C1DB3}"/>
              </a:ext>
            </a:extLst>
          </p:cNvPr>
          <p:cNvSpPr txBox="1"/>
          <p:nvPr/>
        </p:nvSpPr>
        <p:spPr>
          <a:xfrm>
            <a:off x="6246812" y="5049514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※WHERE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句でのサブクエリの使いどころ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71277E3-B014-EF1D-6349-A523C47E9E2E}"/>
              </a:ext>
            </a:extLst>
          </p:cNvPr>
          <p:cNvSpPr txBox="1"/>
          <p:nvPr/>
        </p:nvSpPr>
        <p:spPr>
          <a:xfrm>
            <a:off x="6551612" y="5562600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ある条件を満たす行のみを抽出したい場合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1A054C4-D94B-B44D-C1F0-900CDA2A0AC0}"/>
              </a:ext>
            </a:extLst>
          </p:cNvPr>
          <p:cNvSpPr txBox="1"/>
          <p:nvPr/>
        </p:nvSpPr>
        <p:spPr>
          <a:xfrm>
            <a:off x="6551612" y="5927981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比較演算子などでも使用が可能</a:t>
            </a:r>
            <a:endParaRPr kumimoji="1" lang="en-US" altLang="ja-JP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その場合はスカラ・サブクエリに限定</a:t>
            </a:r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734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C9CE51-99C9-46CA-A9A7-3375F8677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72535"/>
            <a:ext cx="3810000" cy="457200"/>
          </a:xfrm>
        </p:spPr>
        <p:txBody>
          <a:bodyPr>
            <a:normAutofit/>
          </a:bodyPr>
          <a:lstStyle/>
          <a:p>
            <a:r>
              <a:rPr lang="en-US" altLang="ja-JP" sz="2800" dirty="0">
                <a:solidFill>
                  <a:schemeClr val="tx1"/>
                </a:solidFill>
              </a:rPr>
              <a:t>WHERE</a:t>
            </a:r>
            <a:r>
              <a:rPr lang="ja-JP" altLang="en-US" sz="2800" dirty="0">
                <a:solidFill>
                  <a:schemeClr val="tx1"/>
                </a:solidFill>
              </a:rPr>
              <a:t>句 </a:t>
            </a:r>
            <a:r>
              <a:rPr lang="en-US" altLang="ja-JP" sz="2800" dirty="0">
                <a:solidFill>
                  <a:schemeClr val="tx1"/>
                </a:solidFill>
              </a:rPr>
              <a:t>(EXISTS)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3F2945C-A8B6-4AA9-9D99-FEFF6500F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26216"/>
              </p:ext>
            </p:extLst>
          </p:nvPr>
        </p:nvGraphicFramePr>
        <p:xfrm>
          <a:off x="227012" y="1109760"/>
          <a:ext cx="5251768" cy="2060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  <a:gridCol w="1289368">
                  <a:extLst>
                    <a:ext uri="{9D8B030D-6E8A-4147-A177-3AD203B41FA5}">
                      <a16:colId xmlns:a16="http://schemas.microsoft.com/office/drawing/2014/main" val="2012771387"/>
                    </a:ext>
                  </a:extLst>
                </a:gridCol>
              </a:tblGrid>
              <a:tr h="52289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SALARY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田中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鈴木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280000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斎藤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高橋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渡邊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420000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</a:tbl>
          </a:graphicData>
        </a:graphic>
      </p:graphicFrame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FAA3476-5829-4AA9-B365-0090446BDBC2}"/>
              </a:ext>
            </a:extLst>
          </p:cNvPr>
          <p:cNvSpPr txBox="1"/>
          <p:nvPr/>
        </p:nvSpPr>
        <p:spPr>
          <a:xfrm>
            <a:off x="145760" y="743676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■社員テーブル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E1C58F-75CC-7CBA-5EA9-C11A132D19B9}"/>
              </a:ext>
            </a:extLst>
          </p:cNvPr>
          <p:cNvSpPr txBox="1"/>
          <p:nvPr/>
        </p:nvSpPr>
        <p:spPr>
          <a:xfrm>
            <a:off x="145760" y="3703637"/>
            <a:ext cx="464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</a:t>
            </a:r>
            <a:r>
              <a:rPr lang="ja-JP" altLang="en-US" sz="1400" dirty="0"/>
              <a:t>同じ部署に自分以外の社員が存在する社員を取得する</a:t>
            </a:r>
            <a:endParaRPr kumimoji="1" lang="ja-JP" altLang="en-US" sz="1400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26711CA8-FBB3-9718-9D3E-CD0A79139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950562"/>
              </p:ext>
            </p:extLst>
          </p:nvPr>
        </p:nvGraphicFramePr>
        <p:xfrm>
          <a:off x="227012" y="4233424"/>
          <a:ext cx="4191000" cy="1753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71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229829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522893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鈴木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斎藤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高橋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3075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渡邊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536A258-B114-50BF-1D89-40DC938B38CA}"/>
              </a:ext>
            </a:extLst>
          </p:cNvPr>
          <p:cNvSpPr txBox="1"/>
          <p:nvPr/>
        </p:nvSpPr>
        <p:spPr>
          <a:xfrm>
            <a:off x="7008812" y="401135"/>
            <a:ext cx="46482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rgbClr val="0070C0"/>
                </a:solidFill>
              </a:rPr>
              <a:t>SELECT </a:t>
            </a:r>
          </a:p>
          <a:p>
            <a:r>
              <a:rPr kumimoji="1" lang="ja-JP" altLang="en-US" sz="1600" dirty="0">
                <a:solidFill>
                  <a:srgbClr val="0070C0"/>
                </a:solidFill>
              </a:rPr>
              <a:t>    </a:t>
            </a:r>
            <a:r>
              <a:rPr kumimoji="1" lang="en-US" altLang="ja-JP" sz="1600" dirty="0">
                <a:solidFill>
                  <a:srgbClr val="0070C0"/>
                </a:solidFill>
              </a:rPr>
              <a:t>NAME,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DEPARTMENT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FROM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EMPLOYEES E1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WHERE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EXISTS (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SELECT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    1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</a:t>
            </a:r>
            <a:r>
              <a:rPr kumimoji="1" lang="ja-JP" altLang="en-US" sz="1600" dirty="0">
                <a:solidFill>
                  <a:srgbClr val="0070C0"/>
                </a:solidFill>
              </a:rPr>
              <a:t>　</a:t>
            </a:r>
            <a:r>
              <a:rPr kumimoji="1" lang="en-US" altLang="ja-JP" sz="1600" dirty="0">
                <a:solidFill>
                  <a:srgbClr val="0070C0"/>
                </a:solidFill>
              </a:rPr>
              <a:t>FROM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    EMPLOYEES E2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</a:t>
            </a:r>
            <a:r>
              <a:rPr kumimoji="1" lang="ja-JP" altLang="en-US" sz="1600" dirty="0">
                <a:solidFill>
                  <a:srgbClr val="0070C0"/>
                </a:solidFill>
              </a:rPr>
              <a:t>　</a:t>
            </a:r>
            <a:r>
              <a:rPr kumimoji="1" lang="en-US" altLang="ja-JP" sz="1600" dirty="0">
                <a:solidFill>
                  <a:srgbClr val="0070C0"/>
                </a:solidFill>
              </a:rPr>
              <a:t>WHERE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    E1. DEPARTMENT = E2. DEPARTMENT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</a:t>
            </a:r>
            <a:r>
              <a:rPr kumimoji="1" lang="ja-JP" altLang="en-US" sz="1600" dirty="0">
                <a:solidFill>
                  <a:srgbClr val="0070C0"/>
                </a:solidFill>
              </a:rPr>
              <a:t>  </a:t>
            </a:r>
            <a:r>
              <a:rPr kumimoji="1" lang="en-US" altLang="ja-JP" sz="1600" dirty="0">
                <a:solidFill>
                  <a:srgbClr val="0070C0"/>
                </a:solidFill>
              </a:rPr>
              <a:t> AND 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            E1.ID &lt;&gt; E2.ID</a:t>
            </a:r>
          </a:p>
          <a:p>
            <a:r>
              <a:rPr kumimoji="1" lang="en-US" altLang="ja-JP" sz="1600" dirty="0">
                <a:solidFill>
                  <a:srgbClr val="0070C0"/>
                </a:solidFill>
              </a:rPr>
              <a:t>);</a:t>
            </a:r>
            <a:endParaRPr kumimoji="1" lang="ja-JP" altLang="en-US" sz="1600" dirty="0">
              <a:solidFill>
                <a:srgbClr val="0070C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1F3F9D-99B2-F584-3AE9-EBCBC1C8C510}"/>
              </a:ext>
            </a:extLst>
          </p:cNvPr>
          <p:cNvSpPr txBox="1"/>
          <p:nvPr/>
        </p:nvSpPr>
        <p:spPr>
          <a:xfrm>
            <a:off x="6018212" y="4648200"/>
            <a:ext cx="5257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EXISTS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句は </a:t>
            </a:r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WHERE EXISTS (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サブクエリ</a:t>
            </a:r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という構文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AB3C94B-D61C-347F-C229-72A7AE3AAE63}"/>
              </a:ext>
            </a:extLst>
          </p:cNvPr>
          <p:cNvSpPr txBox="1"/>
          <p:nvPr/>
        </p:nvSpPr>
        <p:spPr>
          <a:xfrm>
            <a:off x="6018212" y="4986754"/>
            <a:ext cx="525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サブクエリの結果が</a:t>
            </a:r>
            <a:endParaRPr kumimoji="1" lang="en-US" altLang="ja-JP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件以上の行を返す場合に、「真</a:t>
            </a:r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(TRUE)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」、</a:t>
            </a:r>
            <a:endParaRPr kumimoji="1" lang="en-US" altLang="ja-JP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それ以外は「偽</a:t>
            </a:r>
            <a:r>
              <a:rPr kumimoji="1"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(FALSE)</a:t>
            </a:r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」となる。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539617-5866-87E9-9687-7024F62EB95C}"/>
              </a:ext>
            </a:extLst>
          </p:cNvPr>
          <p:cNvSpPr txBox="1"/>
          <p:nvPr/>
        </p:nvSpPr>
        <p:spPr>
          <a:xfrm>
            <a:off x="6018212" y="5867400"/>
            <a:ext cx="5257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結果が真となった場合にのみ、</a:t>
            </a:r>
            <a:endParaRPr kumimoji="1" lang="en-US" altLang="ja-JP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ja-JP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メインのクエリが実行される。</a:t>
            </a:r>
          </a:p>
        </p:txBody>
      </p:sp>
    </p:spTree>
    <p:extLst>
      <p:ext uri="{BB962C8B-B14F-4D97-AF65-F5344CB8AC3E}">
        <p14:creationId xmlns:p14="http://schemas.microsoft.com/office/powerpoint/2010/main" val="1316177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コントラストにより注目を集めるビジネス用プレゼンテーション (16x9)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この値は保存または変更の回数を示します。変更後は必ずアプリケーションによってこの値が更新されます。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B73376-B181-4668-84FF-A62668D48FE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9150CD3-A6AC-414D-9560-715EC9E31B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963E73-FDB1-44AE-BA76-746BBD659F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1660</TotalTime>
  <Words>944</Words>
  <Application>Microsoft Office PowerPoint</Application>
  <PresentationFormat>ユーザー設定</PresentationFormat>
  <Paragraphs>384</Paragraphs>
  <Slides>7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Meiryo UI</vt:lpstr>
      <vt:lpstr>YakuHanJPs</vt:lpstr>
      <vt:lpstr>メイリオ</vt:lpstr>
      <vt:lpstr>Arial</vt:lpstr>
      <vt:lpstr>Franklin Gothic Medium</vt:lpstr>
      <vt:lpstr>コントラストにより注目を集めるビジネス用プレゼンテーション (16x9)</vt:lpstr>
      <vt:lpstr>PowerPoint プレゼンテーション</vt:lpstr>
      <vt:lpstr>PowerPoint プレゼンテーション</vt:lpstr>
      <vt:lpstr>PowerPoint プレゼンテーション</vt:lpstr>
      <vt:lpstr>SELECT句</vt:lpstr>
      <vt:lpstr>FROM句</vt:lpstr>
      <vt:lpstr>WHERE句 </vt:lpstr>
      <vt:lpstr>WHERE句 (EXISTS)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 レイアウト</dc:title>
  <dc:creator>Summer</dc:creator>
  <cp:lastModifiedBy>アビック 太郎</cp:lastModifiedBy>
  <cp:revision>97</cp:revision>
  <dcterms:created xsi:type="dcterms:W3CDTF">2013-04-05T19:55:11Z</dcterms:created>
  <dcterms:modified xsi:type="dcterms:W3CDTF">2025-09-02T06:03:01Z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sMyDocuments">
    <vt:bool>true</vt:bool>
  </property>
</Properties>
</file>