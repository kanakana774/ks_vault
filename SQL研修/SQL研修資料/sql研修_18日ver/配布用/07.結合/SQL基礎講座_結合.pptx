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98" r:id="rId5"/>
    <p:sldId id="271" r:id="rId6"/>
    <p:sldId id="307" r:id="rId7"/>
    <p:sldId id="308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8/19/2025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2025/8/19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264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99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2" y="1225550"/>
            <a:ext cx="10515600" cy="5251450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結合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複数のテーブルを結合して、１つの</a:t>
            </a:r>
            <a:r>
              <a:rPr kumimoji="1" lang="en-US" altLang="ja-JP" dirty="0">
                <a:latin typeface="Meiryo UI"/>
                <a:ea typeface="Meiryo UI"/>
              </a:rPr>
              <a:t>SQL</a:t>
            </a:r>
            <a:r>
              <a:rPr kumimoji="1" lang="ja-JP" altLang="en-US" dirty="0">
                <a:latin typeface="Meiryo UI"/>
                <a:ea typeface="Meiryo UI"/>
              </a:rPr>
              <a:t>で</a:t>
            </a:r>
            <a:r>
              <a:rPr kumimoji="1" lang="en-US" altLang="ja-JP" dirty="0">
                <a:latin typeface="Meiryo UI"/>
                <a:ea typeface="Meiryo UI"/>
              </a:rPr>
              <a:t>1</a:t>
            </a:r>
            <a:r>
              <a:rPr kumimoji="1" lang="ja-JP" altLang="en-US" dirty="0">
                <a:latin typeface="Meiryo UI"/>
                <a:ea typeface="Meiryo UI"/>
              </a:rPr>
              <a:t>度にデータを取得することができる。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結合には、基本として以下の種類がある。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ja-JP" altLang="en-US" b="1" u="sng" dirty="0">
                <a:latin typeface="Meiryo UI"/>
                <a:ea typeface="Meiryo UI"/>
              </a:rPr>
              <a:t>内部結合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   複数のテーブルに対し指定した列の値が一致するデータのみを取り出す。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   　</a:t>
            </a:r>
            <a:r>
              <a:rPr kumimoji="1" lang="en-US" altLang="ja-JP" dirty="0">
                <a:latin typeface="Meiryo UI"/>
                <a:ea typeface="Meiryo UI"/>
              </a:rPr>
              <a:t>【INNER JOIN</a:t>
            </a:r>
            <a:r>
              <a:rPr kumimoji="1" lang="ja-JP" altLang="en-US" dirty="0">
                <a:latin typeface="Meiryo UI"/>
                <a:ea typeface="Meiryo UI"/>
              </a:rPr>
              <a:t>句～</a:t>
            </a:r>
            <a:r>
              <a:rPr kumimoji="1" lang="en-US" altLang="ja-JP" dirty="0">
                <a:latin typeface="Meiryo UI"/>
                <a:ea typeface="Meiryo UI"/>
              </a:rPr>
              <a:t>ON</a:t>
            </a:r>
            <a:r>
              <a:rPr kumimoji="1" lang="ja-JP" altLang="en-US" dirty="0">
                <a:latin typeface="Meiryo UI"/>
                <a:ea typeface="Meiryo UI"/>
              </a:rPr>
              <a:t>句</a:t>
            </a:r>
            <a:r>
              <a:rPr kumimoji="1" lang="en-US" altLang="ja-JP" dirty="0">
                <a:latin typeface="Meiryo UI"/>
                <a:ea typeface="Meiryo UI"/>
              </a:rPr>
              <a:t>】</a:t>
            </a:r>
            <a:r>
              <a:rPr kumimoji="1" lang="ja-JP" altLang="en-US" dirty="0">
                <a:latin typeface="Meiryo UI"/>
                <a:ea typeface="Meiryo UI"/>
              </a:rPr>
              <a:t>を使用する。</a:t>
            </a:r>
            <a:endParaRPr kumimoji="1" lang="en-US" altLang="ja-JP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ja-JP" altLang="en-US" b="1" u="sng" dirty="0">
                <a:latin typeface="Meiryo UI"/>
                <a:ea typeface="Meiryo UI"/>
              </a:rPr>
              <a:t>外部結合</a:t>
            </a:r>
            <a:endParaRPr kumimoji="1" lang="en-US" altLang="ja-JP" b="1" u="sng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　   </a:t>
            </a:r>
            <a:r>
              <a:rPr kumimoji="1" lang="ja-JP" altLang="en-US" dirty="0">
                <a:latin typeface="Meiryo UI"/>
                <a:ea typeface="Meiryo UI"/>
              </a:rPr>
              <a:t>内部結合した結果に加えて、一致する値がなかったデータを含めて取り出す。</a:t>
            </a:r>
            <a:endParaRPr kumimoji="1" lang="ja-JP" altLang="en-US" b="1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   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【LEFT(RIHGT) OUTER JOIN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句～</a:t>
            </a:r>
            <a:r>
              <a:rPr kumimoji="1" lang="en-US" altLang="ja-JP" dirty="0">
                <a:latin typeface="Meiryo UI" charset="0"/>
                <a:ea typeface="Meiryo UI" charset="0"/>
              </a:rPr>
              <a:t>ON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  <a:r>
              <a:rPr kumimoji="1" lang="en-US" altLang="ja-JP" dirty="0">
                <a:latin typeface="Meiryo UI" charset="0"/>
                <a:ea typeface="Meiryo UI" charset="0"/>
              </a:rPr>
              <a:t>】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を使用する。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800" dirty="0">
                <a:latin typeface="Meiryo UI" charset="0"/>
                <a:ea typeface="Meiryo UI" charset="0"/>
              </a:rPr>
              <a:t>状況に応じて使い分ける必要がある。</a:t>
            </a:r>
            <a:endParaRPr lang="en-US" altLang="ja-JP" sz="18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800" dirty="0">
                <a:latin typeface="Meiryo UI" charset="0"/>
                <a:ea typeface="Meiryo UI" charset="0"/>
              </a:rPr>
              <a:t>また、結合条件が正しいかどうかは、取得されたデータを目視確認し、データに整合性があるかどうかを判断する事で確認する必要がある。</a:t>
            </a:r>
            <a:endParaRPr lang="en-US" altLang="ja-JP" sz="1800" dirty="0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ja-JP" altLang="en-US" sz="2800" dirty="0">
                <a:solidFill>
                  <a:srgbClr val="00AEEF"/>
                </a:solidFill>
                <a:latin typeface="Meiryo UI" charset="0"/>
                <a:ea typeface="Meiryo UI" charset="0"/>
              </a:rPr>
              <a:t>複雑なデータ操作</a:t>
            </a:r>
            <a:endParaRPr kumimoji="1" lang="ja-JP" sz="2800" dirty="0">
              <a:solidFill>
                <a:srgbClr val="00AE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80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495094"/>
            <a:ext cx="9304337" cy="447060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表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 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の関連イメージ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  <p:pic>
        <p:nvPicPr>
          <p:cNvPr id="5" name="図 4" descr="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66" y="805146"/>
            <a:ext cx="9320975" cy="560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7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ja-JP" altLang="en-US" sz="2800" dirty="0">
                <a:solidFill>
                  <a:schemeClr val="tx1"/>
                </a:solidFill>
              </a:rPr>
              <a:t>内部結合のイメージ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64779"/>
              </p:ext>
            </p:extLst>
          </p:nvPr>
        </p:nvGraphicFramePr>
        <p:xfrm>
          <a:off x="385444" y="1420137"/>
          <a:ext cx="441357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95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29434634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1149414830"/>
                    </a:ext>
                  </a:extLst>
                </a:gridCol>
              </a:tblGrid>
              <a:tr h="31113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社員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番号</a:t>
                      </a:r>
                      <a:endParaRPr kumimoji="1" lang="en-US" altLang="ja-JP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性別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部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課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住所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鈴木一郎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愛知県春日井市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松井秀喜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石川県能美郡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斎藤佑樹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群馬県太田市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長嶋茂雄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千葉県佐倉市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野茂英雄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大阪府大阪市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東京都墨田区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1BEF25B-D791-4D5B-BD5B-987F485CF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867847"/>
              </p:ext>
            </p:extLst>
          </p:nvPr>
        </p:nvGraphicFramePr>
        <p:xfrm>
          <a:off x="385444" y="4343400"/>
          <a:ext cx="3956368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793">
                  <a:extLst>
                    <a:ext uri="{9D8B030D-6E8A-4147-A177-3AD203B41FA5}">
                      <a16:colId xmlns:a16="http://schemas.microsoft.com/office/drawing/2014/main" val="3766254302"/>
                    </a:ext>
                  </a:extLst>
                </a:gridCol>
                <a:gridCol w="847793">
                  <a:extLst>
                    <a:ext uri="{9D8B030D-6E8A-4147-A177-3AD203B41FA5}">
                      <a16:colId xmlns:a16="http://schemas.microsoft.com/office/drawing/2014/main" val="202149490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358324306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232173442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223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7056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1007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>
                          <a:effectLst/>
                        </a:rPr>
                        <a:t>01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6966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保険開発課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194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金融開発課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00689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B92BE9-8CC8-4610-9562-18CB8A64221F}"/>
              </a:ext>
            </a:extLst>
          </p:cNvPr>
          <p:cNvSpPr txBox="1"/>
          <p:nvPr/>
        </p:nvSpPr>
        <p:spPr>
          <a:xfrm>
            <a:off x="336793" y="4028589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■部課マスタテーブル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385444" y="109768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EF35EA-B81A-4D24-A35C-78A9E5DDE440}"/>
              </a:ext>
            </a:extLst>
          </p:cNvPr>
          <p:cNvSpPr txBox="1"/>
          <p:nvPr/>
        </p:nvSpPr>
        <p:spPr>
          <a:xfrm>
            <a:off x="5561012" y="928406"/>
            <a:ext cx="624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この</a:t>
            </a:r>
            <a:r>
              <a:rPr kumimoji="1" lang="en-US" altLang="ja-JP" sz="1200" dirty="0"/>
              <a:t>2</a:t>
            </a:r>
            <a:r>
              <a:rPr kumimoji="1" lang="ja-JP" altLang="en-US" sz="1200" dirty="0" err="1"/>
              <a:t>つの</a:t>
            </a:r>
            <a:r>
              <a:rPr kumimoji="1" lang="ja-JP" altLang="en-US" sz="1200" dirty="0"/>
              <a:t>テーブルから、社員テーブルの「氏名」と、そのデータに関連する部下マスタテーブルの「部名」と「課名」を取得する状況を考える。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■取得結果のイメージ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EC0F3265-666A-44EE-ACA0-FBC1F9577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97690"/>
              </p:ext>
            </p:extLst>
          </p:nvPr>
        </p:nvGraphicFramePr>
        <p:xfrm>
          <a:off x="5561012" y="1799965"/>
          <a:ext cx="5029200" cy="164143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6467063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17576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0799952"/>
                    </a:ext>
                  </a:extLst>
                </a:gridCol>
              </a:tblGrid>
              <a:tr h="2735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名前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1950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鈴木一郎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74262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松井秀喜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営業第１課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95485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斎藤佑樹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開発部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保険開発課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08348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長嶋茂雄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023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野茂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英</a:t>
                      </a:r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雄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営業部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76382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5561012" y="3788539"/>
            <a:ext cx="62423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内部結合でデータを取得する場合、以下のように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を書かなくてはならない。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    </a:t>
            </a:r>
            <a:r>
              <a:rPr kumimoji="1" lang="en-US" altLang="ja-JP" sz="1400" dirty="0">
                <a:solidFill>
                  <a:srgbClr val="0070C0"/>
                </a:solidFill>
              </a:rPr>
              <a:t>EM.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社員テーブル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EM</a:t>
            </a: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INNER JOIN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部課マスタテーブル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BK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ON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EM.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AND EM.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460800-1250-492B-AE99-7986CB6A039A}"/>
              </a:ext>
            </a:extLst>
          </p:cNvPr>
          <p:cNvSpPr/>
          <p:nvPr/>
        </p:nvSpPr>
        <p:spPr>
          <a:xfrm>
            <a:off x="2475175" y="1251572"/>
            <a:ext cx="1638037" cy="2710828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844928D-3E65-49FA-92D7-FC2F88A43135}"/>
              </a:ext>
            </a:extLst>
          </p:cNvPr>
          <p:cNvSpPr/>
          <p:nvPr/>
        </p:nvSpPr>
        <p:spPr>
          <a:xfrm>
            <a:off x="227275" y="4248666"/>
            <a:ext cx="1980937" cy="2032863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15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ja-JP" altLang="en-US" sz="2800" dirty="0">
                <a:solidFill>
                  <a:schemeClr val="tx1"/>
                </a:solidFill>
              </a:rPr>
              <a:t>外部結合のイメージ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04379"/>
              </p:ext>
            </p:extLst>
          </p:nvPr>
        </p:nvGraphicFramePr>
        <p:xfrm>
          <a:off x="385444" y="1420137"/>
          <a:ext cx="441357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95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29434634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1149414830"/>
                    </a:ext>
                  </a:extLst>
                </a:gridCol>
              </a:tblGrid>
              <a:tr h="31113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社員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番号</a:t>
                      </a:r>
                      <a:endParaRPr kumimoji="1" lang="en-US" altLang="ja-JP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性別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部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課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住所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鈴木一郎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愛知県春日井市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松井秀喜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石川県能美郡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斎藤佑樹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群馬県太田市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長嶋茂雄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千葉県佐倉市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野茂英雄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大阪府大阪市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東京都墨田区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1BEF25B-D791-4D5B-BD5B-987F485CFEB2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4343400"/>
          <a:ext cx="3956368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793">
                  <a:extLst>
                    <a:ext uri="{9D8B030D-6E8A-4147-A177-3AD203B41FA5}">
                      <a16:colId xmlns:a16="http://schemas.microsoft.com/office/drawing/2014/main" val="3766254302"/>
                    </a:ext>
                  </a:extLst>
                </a:gridCol>
                <a:gridCol w="847793">
                  <a:extLst>
                    <a:ext uri="{9D8B030D-6E8A-4147-A177-3AD203B41FA5}">
                      <a16:colId xmlns:a16="http://schemas.microsoft.com/office/drawing/2014/main" val="202149490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358324306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232173442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223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7056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1007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>
                          <a:effectLst/>
                        </a:rPr>
                        <a:t>01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6966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保険開発課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194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金融開発課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00689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B92BE9-8CC8-4610-9562-18CB8A64221F}"/>
              </a:ext>
            </a:extLst>
          </p:cNvPr>
          <p:cNvSpPr txBox="1"/>
          <p:nvPr/>
        </p:nvSpPr>
        <p:spPr>
          <a:xfrm>
            <a:off x="336793" y="4028589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■部課マスタテーブル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385444" y="109768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EF35EA-B81A-4D24-A35C-78A9E5DDE440}"/>
              </a:ext>
            </a:extLst>
          </p:cNvPr>
          <p:cNvSpPr txBox="1"/>
          <p:nvPr/>
        </p:nvSpPr>
        <p:spPr>
          <a:xfrm>
            <a:off x="5561012" y="928406"/>
            <a:ext cx="624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この</a:t>
            </a:r>
            <a:r>
              <a:rPr kumimoji="1" lang="en-US" altLang="ja-JP" sz="1200" dirty="0"/>
              <a:t>2</a:t>
            </a:r>
            <a:r>
              <a:rPr kumimoji="1" lang="ja-JP" altLang="en-US" sz="1200" dirty="0" err="1"/>
              <a:t>つの</a:t>
            </a:r>
            <a:r>
              <a:rPr kumimoji="1" lang="ja-JP" altLang="en-US" sz="1200" dirty="0"/>
              <a:t>テーブルから、社員テーブルの「氏名」と、そのデータに関連する部下マスタテーブルの「部名」と「課名」を取得する状況を考える。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■取得結果のイメージ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EC0F3265-666A-44EE-ACA0-FBC1F9577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703145"/>
              </p:ext>
            </p:extLst>
          </p:nvPr>
        </p:nvGraphicFramePr>
        <p:xfrm>
          <a:off x="5561012" y="1799965"/>
          <a:ext cx="5029200" cy="1915011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6467063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17576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0799952"/>
                    </a:ext>
                  </a:extLst>
                </a:gridCol>
              </a:tblGrid>
              <a:tr h="2735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名前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1950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鈴木一郎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74262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松井秀喜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営業第１課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95485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斎藤佑樹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開発部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保険開発課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08348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長嶋茂雄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023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野茂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英</a:t>
                      </a:r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雄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営業部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7638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null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null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78124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5561012" y="3788539"/>
            <a:ext cx="62423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外部結合でデータを取得する場合、以下のように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を書かなくてはならない。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    </a:t>
            </a:r>
            <a:r>
              <a:rPr kumimoji="1" lang="en-US" altLang="ja-JP" sz="1400" dirty="0">
                <a:solidFill>
                  <a:srgbClr val="0070C0"/>
                </a:solidFill>
              </a:rPr>
              <a:t>EM.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社員テーブル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EM</a:t>
            </a: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LEFT OUTER JOIN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部課マスタテーブル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BK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ON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EM.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AND EM.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460800-1250-492B-AE99-7986CB6A039A}"/>
              </a:ext>
            </a:extLst>
          </p:cNvPr>
          <p:cNvSpPr/>
          <p:nvPr/>
        </p:nvSpPr>
        <p:spPr>
          <a:xfrm>
            <a:off x="2475175" y="1251572"/>
            <a:ext cx="1638037" cy="2710828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844928D-3E65-49FA-92D7-FC2F88A43135}"/>
              </a:ext>
            </a:extLst>
          </p:cNvPr>
          <p:cNvSpPr/>
          <p:nvPr/>
        </p:nvSpPr>
        <p:spPr>
          <a:xfrm>
            <a:off x="227275" y="4248666"/>
            <a:ext cx="1980937" cy="2032863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33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665</Words>
  <Application>Microsoft Office PowerPoint</Application>
  <PresentationFormat>ユーザー設定</PresentationFormat>
  <Paragraphs>232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Meiryo UI</vt:lpstr>
      <vt:lpstr>メイリオ</vt:lpstr>
      <vt:lpstr>Arial</vt:lpstr>
      <vt:lpstr>Franklin Gothic Medium</vt:lpstr>
      <vt:lpstr>コントラストにより注目を集めるビジネス用プレゼンテーション (16x9)</vt:lpstr>
      <vt:lpstr>複雑なデータ操作</vt:lpstr>
      <vt:lpstr>PowerPoint プレゼンテーション</vt:lpstr>
      <vt:lpstr>内部結合のイメージ</vt:lpstr>
      <vt:lpstr>外部結合のイメージ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太郎 アビック</cp:lastModifiedBy>
  <cp:revision>85</cp:revision>
  <dcterms:created xsi:type="dcterms:W3CDTF">2013-04-05T19:55:11Z</dcterms:created>
  <dcterms:modified xsi:type="dcterms:W3CDTF">2025-08-19T07:45:33Z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